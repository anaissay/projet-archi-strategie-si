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sommes le trio Anaïs, Anthony et Florian. Nous présentons le dossier d'analyse et la stratégie de transformation du SI de M. Traiteur. Préciser que la présentation suit l'avancement réel du projet : ce qui est livré et ce qui reste à produire.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 de la soutenance. Ce support est un document vivant : les blocs cochés sont déjà produits (Jour 1), les autres seront complétés au fil des jours. Nous en sommes au matin du Jour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partie : le cadre. Qui est M. Traiteur, quel est son SI actuel, ses acteurs et son diagnostic.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Traiteur : réseau de franchise de traiteur haut de gamme. 3 magasins en propre et 25 franchisés, 230 employés. CA siège 1 M€. Gouvernance familiale, succession dans 5 ans. L'ambition : doubler le CA et s'étendre à d'autres régions.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SI actuel est homogène sur tout le réseau : un ERP infogéré, des caisses standardisées, un TPE imposé, un site web et une application mutualisés, et une logistique externalisée chez Je livre. Souligner le poids de la logistique (150 K€) et l'ERP vieillissant.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des composants, le mode de fonctionnement bride la croissance : remontée des ventes en batch le soir, click &amp; collect contraint à 3h, livraison réservée aux grosses commandes le week-end, et aucun pilotage temps réel. Ce sont ces limites qui justifient la transformation.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cercles d'acteurs : le siège (pilotage, compta, achats), le réseau de franchisés (exploitation locale) et les acteurs externes (clients, logisticien, éditeur, banque). Chacun porte des besoins SI non couverts aujourd'hui.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matrice SWOT synthétise le diagnostic. Forces : un SI homogène et déjà numérisé. Faiblesses : ERP vieillissant, batch, dépendances. Opportunités : ERP moderne, livraison, temps réel, expansion. Menaces : échec de migration, cyber, coûts, scalabilité.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synthèse, cinq tensions structurent toute la suite du travail. Elles font le pont entre le diagnostic et la cible : c'est à ces cinq points que devront répondre nos recommandations.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L'ambition à 5 ans se décline en sept objectifs concrets, du doublement du CA à la refonte logistique. Ce sont eux qui cadrent le schéma directeur que nous construirons dans les jours suivants.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partie : les travaux à venir. Nous présentons ici la feuille de route et la structure des livrables que nous compléterons jusqu'à la soutenance finale.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notre plan de production sur 5 jours. Le Jour 1 est livré. Aujourd'hui, matin du Jour 2, nous attaquons la formalisation de la cartographie et des processus. Le séquencement par jour est indicatif.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La cartographie cible sera structurée par les 4 couches d'urbanisation : métier, fonctionnelle, applicative, technique. Les orientations directrices sont déjà posées (API-first, temps réel, cloud hybride).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partiellement pré-rempli à partir du cadrage. Deux familles : les processus à améliorer (remontée temps réel, approvisionnement) et les manquants (livraison domicile, BI, onboarding franchisés). À finaliser au Jour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La matrice probabilité × impact sera complétée au Jour 3. Les domaines de risque sont déjà identifiés : applicatif, logistique, sécurité, scalabilité, conduite du changement.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Les principes architecturaux cible sont posés ; ils seront argumentés et illustrés au Jour 4 (choix entre n-tiers, SOA légère, etc., justifié pour une PME en réseau).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Le chiffrage opposera coûts SI actuels et gains attendus (ventes déjeuner, livraison, réduction ERP). Les coûts de référence sont connus ; les gains et le ROI seront calculés au Jour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 le diagnostic est posé et partagé, la trajectoire est cadrée. Les prochains jours transformeront ces structures en livrables chiffrés et argumentés. Merci, place aux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2A"/>
        </a:solidFill>
      </p:bgPr>
    </p:bg>
    <p:spTree>
      <p:nvGrpSpPr>
        <p:cNvPr id="1" name=""/>
        <p:cNvGrpSpPr/>
        <p:nvPr/>
      </p:nvGrpSpPr>
      <p:grpSpPr>
        <a:xfrm>
          <a:off x="0" y="0"/>
          <a:ext cx="0" cy="0"/>
          <a:chOff x="0" y="0"/>
          <a:chExt cx="0" cy="0"/>
        </a:xfrm>
      </p:grpSpPr>
      <p:sp>
        <p:nvSpPr>
          <p:cNvPr id="2" name="Text 0"/>
          <p:cNvSpPr/>
          <p:nvPr/>
        </p:nvSpPr>
        <p:spPr>
          <a:xfrm>
            <a:off x="914400" y="800100"/>
            <a:ext cx="4626864"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9AA1B8"/>
                </a:solidFill>
                <a:latin typeface="Courier New" pitchFamily="34" charset="0"/>
                <a:ea typeface="Courier New" pitchFamily="34" charset="-122"/>
                <a:cs typeface="Courier New" pitchFamily="34" charset="-120"/>
              </a:rPr>
              <a:t>DOSSIER D'ANALYSE DU SI</a:t>
            </a:r>
            <a:endParaRPr lang="en-US" sz="1800" dirty="0"/>
          </a:p>
        </p:txBody>
      </p:sp>
      <p:sp>
        <p:nvSpPr>
          <p:cNvPr id="3" name="Text 1"/>
          <p:cNvSpPr/>
          <p:nvPr/>
        </p:nvSpPr>
        <p:spPr>
          <a:xfrm>
            <a:off x="14081760" y="800100"/>
            <a:ext cx="3621024"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9AA1B8"/>
                </a:solidFill>
                <a:latin typeface="Courier New" pitchFamily="34" charset="0"/>
                <a:ea typeface="Courier New" pitchFamily="34" charset="-122"/>
                <a:cs typeface="Courier New" pitchFamily="34" charset="-120"/>
              </a:rPr>
              <a:t>PROMOTION 2025-D12</a:t>
            </a:r>
            <a:endParaRPr lang="en-US" sz="1800" dirty="0"/>
          </a:p>
        </p:txBody>
      </p:sp>
      <p:sp>
        <p:nvSpPr>
          <p:cNvPr id="4" name="Text 2"/>
          <p:cNvSpPr/>
          <p:nvPr/>
        </p:nvSpPr>
        <p:spPr>
          <a:xfrm>
            <a:off x="914400" y="2641918"/>
            <a:ext cx="862330" cy="514350"/>
          </a:xfrm>
          <a:prstGeom prst="rect">
            <a:avLst/>
          </a:prstGeom>
          <a:noFill/>
          <a:ln/>
        </p:spPr>
        <p:txBody>
          <a:bodyPr wrap="square" lIns="25400" tIns="25400" rIns="25400" bIns="25400" rtlCol="0" anchor="t">
            <a:normAutofit/>
          </a:bodyPr>
          <a:lstStyle/>
          <a:p>
            <a:pPr algn="l" indent="0" marL="0">
              <a:buNone/>
            </a:pPr>
            <a:r>
              <a:rPr lang="en-US" sz="3300" b="1" spc="66" kern="0" dirty="0">
                <a:solidFill>
                  <a:srgbClr val="B08E4F"/>
                </a:solidFill>
                <a:latin typeface="Georgia" pitchFamily="34" charset="0"/>
                <a:ea typeface="Georgia" pitchFamily="34" charset="-122"/>
                <a:cs typeface="Georgia" pitchFamily="34" charset="-120"/>
              </a:rPr>
              <a:t>M.T</a:t>
            </a:r>
            <a:endParaRPr lang="en-US" sz="3300" dirty="0"/>
          </a:p>
        </p:txBody>
      </p:sp>
      <p:sp>
        <p:nvSpPr>
          <p:cNvPr id="5" name="Shape 3"/>
          <p:cNvSpPr/>
          <p:nvPr/>
        </p:nvSpPr>
        <p:spPr>
          <a:xfrm>
            <a:off x="1910080" y="2875280"/>
            <a:ext cx="1143000" cy="9525"/>
          </a:xfrm>
          <a:prstGeom prst="rect">
            <a:avLst/>
          </a:prstGeom>
          <a:solidFill>
            <a:srgbClr val="B08E4F"/>
          </a:solidFill>
          <a:ln/>
        </p:spPr>
      </p:sp>
      <p:sp>
        <p:nvSpPr>
          <p:cNvPr id="6" name="Text 4"/>
          <p:cNvSpPr/>
          <p:nvPr/>
        </p:nvSpPr>
        <p:spPr>
          <a:xfrm>
            <a:off x="3262630" y="2784793"/>
            <a:ext cx="4978908" cy="228600"/>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9AA1B8"/>
                </a:solidFill>
                <a:latin typeface="Courier New" pitchFamily="34" charset="0"/>
                <a:ea typeface="Courier New" pitchFamily="34" charset="-122"/>
                <a:cs typeface="Courier New" pitchFamily="34" charset="-120"/>
              </a:rPr>
              <a:t>M. TRAITEUR · RÉSEAU DE FRANCHISE</a:t>
            </a:r>
            <a:endParaRPr lang="en-US" sz="1350" dirty="0"/>
          </a:p>
        </p:txBody>
      </p:sp>
      <p:sp>
        <p:nvSpPr>
          <p:cNvPr id="7" name="Text 5"/>
          <p:cNvSpPr/>
          <p:nvPr/>
        </p:nvSpPr>
        <p:spPr>
          <a:xfrm>
            <a:off x="914400" y="3499168"/>
            <a:ext cx="14716125" cy="2240915"/>
          </a:xfrm>
          <a:prstGeom prst="rect">
            <a:avLst/>
          </a:prstGeom>
          <a:noFill/>
          <a:ln/>
        </p:spPr>
        <p:txBody>
          <a:bodyPr wrap="square" lIns="25400" tIns="25400" rIns="25400" bIns="25400" rtlCol="0" anchor="t">
            <a:normAutofit/>
          </a:bodyPr>
          <a:lstStyle/>
          <a:p>
            <a:pPr algn="l" indent="0" marL="0">
              <a:lnSpc>
                <a:spcPct val="97994"/>
              </a:lnSpc>
              <a:buNone/>
            </a:pPr>
            <a:r>
              <a:rPr lang="en-US" sz="8850" b="1" spc="-88" kern="0" dirty="0">
                <a:solidFill>
                  <a:srgbClr val="F5F2EA"/>
                </a:solidFill>
                <a:latin typeface="Georgia" pitchFamily="34" charset="0"/>
                <a:ea typeface="Georgia" pitchFamily="34" charset="-122"/>
                <a:cs typeface="Georgia" pitchFamily="34" charset="-120"/>
              </a:rPr>
              <a:t>Transformation du Système d'Information</a:t>
            </a:r>
            <a:endParaRPr lang="en-US" sz="8850" dirty="0"/>
          </a:p>
        </p:txBody>
      </p:sp>
      <p:sp>
        <p:nvSpPr>
          <p:cNvPr id="8" name="Text 6"/>
          <p:cNvSpPr/>
          <p:nvPr/>
        </p:nvSpPr>
        <p:spPr>
          <a:xfrm>
            <a:off x="914400" y="6006782"/>
            <a:ext cx="11772900" cy="1028700"/>
          </a:xfrm>
          <a:prstGeom prst="rect">
            <a:avLst/>
          </a:prstGeom>
          <a:noFill/>
          <a:ln/>
        </p:spPr>
        <p:txBody>
          <a:bodyPr wrap="square" lIns="25400" tIns="25400" rIns="25400" bIns="25400" rtlCol="0" anchor="t">
            <a:normAutofit/>
          </a:bodyPr>
          <a:lstStyle/>
          <a:p>
            <a:pPr algn="l" indent="0" marL="0">
              <a:buNone/>
            </a:pPr>
            <a:r>
              <a:rPr lang="en-US" sz="3450" i="1" dirty="0">
                <a:solidFill>
                  <a:srgbClr val="C7CBDB"/>
                </a:solidFill>
                <a:latin typeface="Georgia" pitchFamily="34" charset="0"/>
                <a:ea typeface="Georgia" pitchFamily="34" charset="-122"/>
                <a:cs typeface="Georgia" pitchFamily="34" charset="-120"/>
              </a:rPr>
              <a:t>Diagnostic et stratégie d'extension d'un réseau de traiteur haut de gamme — horizon 5 ans.</a:t>
            </a:r>
            <a:endParaRPr lang="en-US" sz="3450" dirty="0"/>
          </a:p>
        </p:txBody>
      </p:sp>
      <p:sp>
        <p:nvSpPr>
          <p:cNvPr id="9" name="Shape 7"/>
          <p:cNvSpPr/>
          <p:nvPr/>
        </p:nvSpPr>
        <p:spPr>
          <a:xfrm>
            <a:off x="914400" y="8582025"/>
            <a:ext cx="16459200" cy="9525"/>
          </a:xfrm>
          <a:prstGeom prst="rect">
            <a:avLst/>
          </a:prstGeom>
          <a:solidFill>
            <a:srgbClr val="F5F2EA">
              <a:alpha val="16000"/>
            </a:srgbClr>
          </a:solidFill>
          <a:ln/>
        </p:spPr>
      </p:sp>
      <p:sp>
        <p:nvSpPr>
          <p:cNvPr id="10" name="Text 8"/>
          <p:cNvSpPr/>
          <p:nvPr/>
        </p:nvSpPr>
        <p:spPr>
          <a:xfrm>
            <a:off x="914400" y="8896350"/>
            <a:ext cx="1859756" cy="400050"/>
          </a:xfrm>
          <a:prstGeom prst="rect">
            <a:avLst/>
          </a:prstGeom>
          <a:noFill/>
          <a:ln/>
        </p:spPr>
        <p:txBody>
          <a:bodyPr wrap="square" lIns="25400" tIns="25400" rIns="25400" bIns="25400" rtlCol="0" anchor="t">
            <a:normAutofit/>
          </a:bodyPr>
          <a:lstStyle/>
          <a:p>
            <a:pPr algn="l" indent="0" marL="0">
              <a:buNone/>
            </a:pPr>
            <a:r>
              <a:rPr lang="en-US" sz="2550" b="1" dirty="0">
                <a:solidFill>
                  <a:srgbClr val="F5F2EA"/>
                </a:solidFill>
                <a:latin typeface="Georgia" pitchFamily="34" charset="0"/>
                <a:ea typeface="Georgia" pitchFamily="34" charset="-122"/>
                <a:cs typeface="Georgia" pitchFamily="34" charset="-120"/>
              </a:rPr>
              <a:t>Anaïs Saï</a:t>
            </a:r>
            <a:endParaRPr lang="en-US" sz="2550" dirty="0"/>
          </a:p>
        </p:txBody>
      </p:sp>
      <p:sp>
        <p:nvSpPr>
          <p:cNvPr id="11" name="Text 9"/>
          <p:cNvSpPr/>
          <p:nvPr/>
        </p:nvSpPr>
        <p:spPr>
          <a:xfrm>
            <a:off x="914400" y="9315450"/>
            <a:ext cx="1859756"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9AA1B8"/>
                </a:solidFill>
                <a:latin typeface="Courier New" pitchFamily="34" charset="0"/>
                <a:ea typeface="Courier New" pitchFamily="34" charset="-122"/>
                <a:cs typeface="Courier New" pitchFamily="34" charset="-120"/>
              </a:rPr>
              <a:t>ARCHITECTURE SI</a:t>
            </a:r>
            <a:endParaRPr lang="en-US" sz="1200" dirty="0"/>
          </a:p>
        </p:txBody>
      </p:sp>
      <p:sp>
        <p:nvSpPr>
          <p:cNvPr id="12" name="Text 10"/>
          <p:cNvSpPr/>
          <p:nvPr/>
        </p:nvSpPr>
        <p:spPr>
          <a:xfrm>
            <a:off x="3138488" y="8896350"/>
            <a:ext cx="2290556" cy="400050"/>
          </a:xfrm>
          <a:prstGeom prst="rect">
            <a:avLst/>
          </a:prstGeom>
          <a:noFill/>
          <a:ln/>
        </p:spPr>
        <p:txBody>
          <a:bodyPr wrap="square" lIns="25400" tIns="25400" rIns="25400" bIns="25400" rtlCol="0" anchor="t">
            <a:normAutofit/>
          </a:bodyPr>
          <a:lstStyle/>
          <a:p>
            <a:pPr algn="l" indent="0" marL="0">
              <a:buNone/>
            </a:pPr>
            <a:r>
              <a:rPr lang="en-US" sz="2550" b="1" dirty="0">
                <a:solidFill>
                  <a:srgbClr val="F5F2EA"/>
                </a:solidFill>
                <a:latin typeface="Georgia" pitchFamily="34" charset="0"/>
                <a:ea typeface="Georgia" pitchFamily="34" charset="-122"/>
                <a:cs typeface="Georgia" pitchFamily="34" charset="-120"/>
              </a:rPr>
              <a:t>Anthony Pinot</a:t>
            </a:r>
            <a:endParaRPr lang="en-US" sz="2550" dirty="0"/>
          </a:p>
        </p:txBody>
      </p:sp>
      <p:sp>
        <p:nvSpPr>
          <p:cNvPr id="13" name="Text 11"/>
          <p:cNvSpPr/>
          <p:nvPr/>
        </p:nvSpPr>
        <p:spPr>
          <a:xfrm>
            <a:off x="3138488" y="9315450"/>
            <a:ext cx="2290556"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9AA1B8"/>
                </a:solidFill>
                <a:latin typeface="Courier New" pitchFamily="34" charset="0"/>
                <a:ea typeface="Courier New" pitchFamily="34" charset="-122"/>
                <a:cs typeface="Courier New" pitchFamily="34" charset="-120"/>
              </a:rPr>
              <a:t>ARCHITECTURE SI</a:t>
            </a:r>
            <a:endParaRPr lang="en-US" sz="1200" dirty="0"/>
          </a:p>
        </p:txBody>
      </p:sp>
      <p:sp>
        <p:nvSpPr>
          <p:cNvPr id="14" name="Text 12"/>
          <p:cNvSpPr/>
          <p:nvPr/>
        </p:nvSpPr>
        <p:spPr>
          <a:xfrm>
            <a:off x="5754212" y="8896350"/>
            <a:ext cx="2366343" cy="400050"/>
          </a:xfrm>
          <a:prstGeom prst="rect">
            <a:avLst/>
          </a:prstGeom>
          <a:noFill/>
          <a:ln/>
        </p:spPr>
        <p:txBody>
          <a:bodyPr wrap="square" lIns="25400" tIns="25400" rIns="25400" bIns="25400" rtlCol="0" anchor="t">
            <a:normAutofit/>
          </a:bodyPr>
          <a:lstStyle/>
          <a:p>
            <a:pPr algn="l" indent="0" marL="0">
              <a:buNone/>
            </a:pPr>
            <a:r>
              <a:rPr lang="en-US" sz="2550" b="1" dirty="0">
                <a:solidFill>
                  <a:srgbClr val="F5F2EA"/>
                </a:solidFill>
                <a:latin typeface="Georgia" pitchFamily="34" charset="0"/>
                <a:ea typeface="Georgia" pitchFamily="34" charset="-122"/>
                <a:cs typeface="Georgia" pitchFamily="34" charset="-120"/>
              </a:rPr>
              <a:t>Florian Marcot</a:t>
            </a:r>
            <a:endParaRPr lang="en-US" sz="2550" dirty="0"/>
          </a:p>
        </p:txBody>
      </p:sp>
      <p:sp>
        <p:nvSpPr>
          <p:cNvPr id="15" name="Text 13"/>
          <p:cNvSpPr/>
          <p:nvPr/>
        </p:nvSpPr>
        <p:spPr>
          <a:xfrm>
            <a:off x="5754212" y="9315450"/>
            <a:ext cx="2366343"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9AA1B8"/>
                </a:solidFill>
                <a:latin typeface="Courier New" pitchFamily="34" charset="0"/>
                <a:ea typeface="Courier New" pitchFamily="34" charset="-122"/>
                <a:cs typeface="Courier New" pitchFamily="34" charset="-120"/>
              </a:rPr>
              <a:t>ARCHITECTURE SI</a:t>
            </a:r>
            <a:endParaRPr lang="en-US" sz="1200" dirty="0"/>
          </a:p>
        </p:txBody>
      </p:sp>
      <p:sp>
        <p:nvSpPr>
          <p:cNvPr id="16" name="Text 14"/>
          <p:cNvSpPr/>
          <p:nvPr/>
        </p:nvSpPr>
        <p:spPr>
          <a:xfrm>
            <a:off x="13463588" y="9296400"/>
            <a:ext cx="4301014" cy="228600"/>
          </a:xfrm>
          <a:prstGeom prst="rect">
            <a:avLst/>
          </a:prstGeom>
          <a:noFill/>
          <a:ln/>
        </p:spPr>
        <p:txBody>
          <a:bodyPr wrap="square" lIns="25400" tIns="25400" rIns="25400" bIns="25400" rtlCol="0" anchor="t">
            <a:normAutofit/>
          </a:bodyPr>
          <a:lstStyle/>
          <a:p>
            <a:pPr algn="l" indent="0" marL="0">
              <a:buNone/>
            </a:pPr>
            <a:r>
              <a:rPr lang="en-US" sz="1350" spc="216" kern="0" dirty="0">
                <a:solidFill>
                  <a:srgbClr val="9AA1B8"/>
                </a:solidFill>
                <a:latin typeface="Courier New" pitchFamily="34" charset="0"/>
                <a:ea typeface="Courier New" pitchFamily="34" charset="-122"/>
                <a:cs typeface="Courier New" pitchFamily="34" charset="-120"/>
              </a:rPr>
              <a:t>SUPPORT DE SOUTENANCE · JOUR 2</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14400" y="800100"/>
            <a:ext cx="4828032"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5F6678"/>
                </a:solidFill>
                <a:latin typeface="Courier New" pitchFamily="34" charset="0"/>
                <a:ea typeface="Courier New" pitchFamily="34" charset="-122"/>
                <a:cs typeface="Courier New" pitchFamily="34" charset="-120"/>
              </a:rPr>
              <a:t>DÉROULÉ DE LA SOUTENANCE</a:t>
            </a:r>
            <a:endParaRPr lang="en-US" sz="1800" dirty="0"/>
          </a:p>
        </p:txBody>
      </p:sp>
      <p:sp>
        <p:nvSpPr>
          <p:cNvPr id="3" name="Text 1"/>
          <p:cNvSpPr/>
          <p:nvPr/>
        </p:nvSpPr>
        <p:spPr>
          <a:xfrm>
            <a:off x="12188825" y="842963"/>
            <a:ext cx="5703252"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F6678"/>
                </a:solidFill>
                <a:latin typeface="Courier New" pitchFamily="34" charset="0"/>
                <a:ea typeface="Courier New" pitchFamily="34" charset="-122"/>
                <a:cs typeface="Courier New" pitchFamily="34" charset="-120"/>
              </a:rPr>
              <a:t>DOCUMENT VIVANT · MIS À JOUR À CHAQUE LIVRABLE</a:t>
            </a:r>
            <a:endParaRPr lang="en-US" sz="1200" dirty="0"/>
          </a:p>
        </p:txBody>
      </p:sp>
      <p:sp>
        <p:nvSpPr>
          <p:cNvPr id="4" name="Text 2"/>
          <p:cNvSpPr/>
          <p:nvPr/>
        </p:nvSpPr>
        <p:spPr>
          <a:xfrm>
            <a:off x="914400" y="1228725"/>
            <a:ext cx="18105120"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57" kern="0" dirty="0">
                <a:solidFill>
                  <a:srgbClr val="1D2235"/>
                </a:solidFill>
                <a:latin typeface="Georgia" pitchFamily="34" charset="0"/>
                <a:ea typeface="Georgia" pitchFamily="34" charset="-122"/>
                <a:cs typeface="Georgia" pitchFamily="34" charset="-120"/>
              </a:rPr>
              <a:t>De quoi parle-t-on aujourd'hui</a:t>
            </a:r>
            <a:endParaRPr lang="en-US" sz="5700" dirty="0"/>
          </a:p>
        </p:txBody>
      </p:sp>
      <p:sp>
        <p:nvSpPr>
          <p:cNvPr id="5" name="Shape 3"/>
          <p:cNvSpPr/>
          <p:nvPr/>
        </p:nvSpPr>
        <p:spPr>
          <a:xfrm>
            <a:off x="914400" y="3105150"/>
            <a:ext cx="7924800" cy="9525"/>
          </a:xfrm>
          <a:prstGeom prst="rect">
            <a:avLst/>
          </a:prstGeom>
          <a:solidFill>
            <a:srgbClr val="1D2235">
              <a:alpha val="10000"/>
            </a:srgbClr>
          </a:solidFill>
          <a:ln/>
        </p:spPr>
      </p:sp>
      <p:sp>
        <p:nvSpPr>
          <p:cNvPr id="6" name="Shape 4"/>
          <p:cNvSpPr/>
          <p:nvPr/>
        </p:nvSpPr>
        <p:spPr>
          <a:xfrm>
            <a:off x="914400" y="2681288"/>
            <a:ext cx="114300" cy="114300"/>
          </a:xfrm>
          <a:prstGeom prst="ellipse">
            <a:avLst/>
          </a:prstGeom>
          <a:solidFill>
            <a:srgbClr val="3F6FE6"/>
          </a:solidFill>
          <a:ln/>
        </p:spPr>
      </p:sp>
      <p:sp>
        <p:nvSpPr>
          <p:cNvPr id="7" name="Text 5"/>
          <p:cNvSpPr/>
          <p:nvPr/>
        </p:nvSpPr>
        <p:spPr>
          <a:xfrm>
            <a:off x="1219200" y="2543175"/>
            <a:ext cx="704088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D2235"/>
                </a:solidFill>
                <a:latin typeface="Georgia" pitchFamily="34" charset="0"/>
                <a:ea typeface="Georgia" pitchFamily="34" charset="-122"/>
                <a:cs typeface="Georgia" pitchFamily="34" charset="-120"/>
              </a:rPr>
              <a:t>Contexte &amp; enjeux stratégiques</a:t>
            </a:r>
            <a:endParaRPr lang="en-US" sz="2700" dirty="0"/>
          </a:p>
        </p:txBody>
      </p:sp>
      <p:sp>
        <p:nvSpPr>
          <p:cNvPr id="8" name="Text 6"/>
          <p:cNvSpPr/>
          <p:nvPr/>
        </p:nvSpPr>
        <p:spPr>
          <a:xfrm>
            <a:off x="7810500" y="2657475"/>
            <a:ext cx="1104900"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3F6FE6"/>
                </a:solidFill>
                <a:latin typeface="Courier New" pitchFamily="34" charset="0"/>
                <a:ea typeface="Courier New" pitchFamily="34" charset="-122"/>
                <a:cs typeface="Courier New" pitchFamily="34" charset="-120"/>
              </a:rPr>
              <a:t>LIVRÉ · J1</a:t>
            </a:r>
            <a:endParaRPr lang="en-US" sz="1125" dirty="0"/>
          </a:p>
        </p:txBody>
      </p:sp>
      <p:sp>
        <p:nvSpPr>
          <p:cNvPr id="9" name="Shape 7"/>
          <p:cNvSpPr/>
          <p:nvPr/>
        </p:nvSpPr>
        <p:spPr>
          <a:xfrm>
            <a:off x="9448800" y="3105150"/>
            <a:ext cx="7924800" cy="9525"/>
          </a:xfrm>
          <a:prstGeom prst="rect">
            <a:avLst/>
          </a:prstGeom>
          <a:solidFill>
            <a:srgbClr val="1D2235">
              <a:alpha val="10000"/>
            </a:srgbClr>
          </a:solidFill>
          <a:ln/>
        </p:spPr>
      </p:sp>
      <p:sp>
        <p:nvSpPr>
          <p:cNvPr id="10" name="Shape 8"/>
          <p:cNvSpPr/>
          <p:nvPr/>
        </p:nvSpPr>
        <p:spPr>
          <a:xfrm>
            <a:off x="9448800" y="2681288"/>
            <a:ext cx="114300" cy="114300"/>
          </a:xfrm>
          <a:prstGeom prst="ellipse">
            <a:avLst/>
          </a:prstGeom>
          <a:ln w="19050">
            <a:solidFill>
              <a:srgbClr val="B08E4F"/>
            </a:solidFill>
            <a:prstDash val="solid"/>
          </a:ln>
        </p:spPr>
      </p:sp>
      <p:sp>
        <p:nvSpPr>
          <p:cNvPr id="11" name="Text 9"/>
          <p:cNvSpPr/>
          <p:nvPr/>
        </p:nvSpPr>
        <p:spPr>
          <a:xfrm>
            <a:off x="9753600" y="2543175"/>
            <a:ext cx="6814566"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D2235"/>
                </a:solidFill>
                <a:latin typeface="Georgia" pitchFamily="34" charset="0"/>
                <a:ea typeface="Georgia" pitchFamily="34" charset="-122"/>
                <a:cs typeface="Georgia" pitchFamily="34" charset="-120"/>
              </a:rPr>
              <a:t>Cartographie SI cible</a:t>
            </a:r>
            <a:endParaRPr lang="en-US" sz="2700" dirty="0"/>
          </a:p>
        </p:txBody>
      </p:sp>
      <p:sp>
        <p:nvSpPr>
          <p:cNvPr id="12" name="Text 10"/>
          <p:cNvSpPr/>
          <p:nvPr/>
        </p:nvSpPr>
        <p:spPr>
          <a:xfrm>
            <a:off x="16139160" y="2657475"/>
            <a:ext cx="1357884"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9A8A5F"/>
                </a:solidFill>
                <a:latin typeface="Courier New" pitchFamily="34" charset="0"/>
                <a:ea typeface="Courier New" pitchFamily="34" charset="-122"/>
                <a:cs typeface="Courier New" pitchFamily="34" charset="-120"/>
              </a:rPr>
              <a:t>À VENIR · J3</a:t>
            </a:r>
            <a:endParaRPr lang="en-US" sz="1125" dirty="0"/>
          </a:p>
        </p:txBody>
      </p:sp>
      <p:sp>
        <p:nvSpPr>
          <p:cNvPr id="13" name="Shape 11"/>
          <p:cNvSpPr/>
          <p:nvPr/>
        </p:nvSpPr>
        <p:spPr>
          <a:xfrm>
            <a:off x="914400" y="4038600"/>
            <a:ext cx="7924800" cy="9525"/>
          </a:xfrm>
          <a:prstGeom prst="rect">
            <a:avLst/>
          </a:prstGeom>
          <a:solidFill>
            <a:srgbClr val="1D2235">
              <a:alpha val="10000"/>
            </a:srgbClr>
          </a:solidFill>
          <a:ln/>
        </p:spPr>
      </p:sp>
      <p:sp>
        <p:nvSpPr>
          <p:cNvPr id="14" name="Shape 12"/>
          <p:cNvSpPr/>
          <p:nvPr/>
        </p:nvSpPr>
        <p:spPr>
          <a:xfrm>
            <a:off x="914400" y="3614738"/>
            <a:ext cx="114300" cy="114300"/>
          </a:xfrm>
          <a:prstGeom prst="ellipse">
            <a:avLst/>
          </a:prstGeom>
          <a:solidFill>
            <a:srgbClr val="3F6FE6"/>
          </a:solidFill>
          <a:ln/>
        </p:spPr>
      </p:sp>
      <p:sp>
        <p:nvSpPr>
          <p:cNvPr id="15" name="Text 13"/>
          <p:cNvSpPr/>
          <p:nvPr/>
        </p:nvSpPr>
        <p:spPr>
          <a:xfrm>
            <a:off x="1219200" y="3476625"/>
            <a:ext cx="704088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D2235"/>
                </a:solidFill>
                <a:latin typeface="Georgia" pitchFamily="34" charset="0"/>
                <a:ea typeface="Georgia" pitchFamily="34" charset="-122"/>
                <a:cs typeface="Georgia" pitchFamily="34" charset="-120"/>
              </a:rPr>
              <a:t>SI actuel &amp; limites (as-is)</a:t>
            </a:r>
            <a:endParaRPr lang="en-US" sz="2700" dirty="0"/>
          </a:p>
        </p:txBody>
      </p:sp>
      <p:sp>
        <p:nvSpPr>
          <p:cNvPr id="16" name="Text 14"/>
          <p:cNvSpPr/>
          <p:nvPr/>
        </p:nvSpPr>
        <p:spPr>
          <a:xfrm>
            <a:off x="7810500" y="3590925"/>
            <a:ext cx="1104900"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3F6FE6"/>
                </a:solidFill>
                <a:latin typeface="Courier New" pitchFamily="34" charset="0"/>
                <a:ea typeface="Courier New" pitchFamily="34" charset="-122"/>
                <a:cs typeface="Courier New" pitchFamily="34" charset="-120"/>
              </a:rPr>
              <a:t>LIVRÉ · J1</a:t>
            </a:r>
            <a:endParaRPr lang="en-US" sz="1125" dirty="0"/>
          </a:p>
        </p:txBody>
      </p:sp>
      <p:sp>
        <p:nvSpPr>
          <p:cNvPr id="17" name="Shape 15"/>
          <p:cNvSpPr/>
          <p:nvPr/>
        </p:nvSpPr>
        <p:spPr>
          <a:xfrm>
            <a:off x="9448800" y="4038600"/>
            <a:ext cx="7924800" cy="9525"/>
          </a:xfrm>
          <a:prstGeom prst="rect">
            <a:avLst/>
          </a:prstGeom>
          <a:solidFill>
            <a:srgbClr val="1D2235">
              <a:alpha val="10000"/>
            </a:srgbClr>
          </a:solidFill>
          <a:ln/>
        </p:spPr>
      </p:sp>
      <p:sp>
        <p:nvSpPr>
          <p:cNvPr id="18" name="Shape 16"/>
          <p:cNvSpPr/>
          <p:nvPr/>
        </p:nvSpPr>
        <p:spPr>
          <a:xfrm>
            <a:off x="9448800" y="3614738"/>
            <a:ext cx="114300" cy="114300"/>
          </a:xfrm>
          <a:prstGeom prst="ellipse">
            <a:avLst/>
          </a:prstGeom>
          <a:ln w="19050">
            <a:solidFill>
              <a:srgbClr val="B08E4F"/>
            </a:solidFill>
            <a:prstDash val="solid"/>
          </a:ln>
        </p:spPr>
      </p:sp>
      <p:sp>
        <p:nvSpPr>
          <p:cNvPr id="19" name="Text 17"/>
          <p:cNvSpPr/>
          <p:nvPr/>
        </p:nvSpPr>
        <p:spPr>
          <a:xfrm>
            <a:off x="9753600" y="3476625"/>
            <a:ext cx="6814566"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D2235"/>
                </a:solidFill>
                <a:latin typeface="Georgia" pitchFamily="34" charset="0"/>
                <a:ea typeface="Georgia" pitchFamily="34" charset="-122"/>
                <a:cs typeface="Georgia" pitchFamily="34" charset="-120"/>
              </a:rPr>
              <a:t>Recommandations &amp; architecture</a:t>
            </a:r>
            <a:endParaRPr lang="en-US" sz="2700" dirty="0"/>
          </a:p>
        </p:txBody>
      </p:sp>
      <p:sp>
        <p:nvSpPr>
          <p:cNvPr id="20" name="Text 18"/>
          <p:cNvSpPr/>
          <p:nvPr/>
        </p:nvSpPr>
        <p:spPr>
          <a:xfrm>
            <a:off x="16139160" y="3590925"/>
            <a:ext cx="1357884"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9A8A5F"/>
                </a:solidFill>
                <a:latin typeface="Courier New" pitchFamily="34" charset="0"/>
                <a:ea typeface="Courier New" pitchFamily="34" charset="-122"/>
                <a:cs typeface="Courier New" pitchFamily="34" charset="-120"/>
              </a:rPr>
              <a:t>À VENIR · J4</a:t>
            </a:r>
            <a:endParaRPr lang="en-US" sz="1125" dirty="0"/>
          </a:p>
        </p:txBody>
      </p:sp>
      <p:sp>
        <p:nvSpPr>
          <p:cNvPr id="21" name="Shape 19"/>
          <p:cNvSpPr/>
          <p:nvPr/>
        </p:nvSpPr>
        <p:spPr>
          <a:xfrm>
            <a:off x="914400" y="4972050"/>
            <a:ext cx="7924800" cy="9525"/>
          </a:xfrm>
          <a:prstGeom prst="rect">
            <a:avLst/>
          </a:prstGeom>
          <a:solidFill>
            <a:srgbClr val="1D2235">
              <a:alpha val="10000"/>
            </a:srgbClr>
          </a:solidFill>
          <a:ln/>
        </p:spPr>
      </p:sp>
      <p:sp>
        <p:nvSpPr>
          <p:cNvPr id="22" name="Shape 20"/>
          <p:cNvSpPr/>
          <p:nvPr/>
        </p:nvSpPr>
        <p:spPr>
          <a:xfrm>
            <a:off x="914400" y="4548188"/>
            <a:ext cx="114300" cy="114300"/>
          </a:xfrm>
          <a:prstGeom prst="ellipse">
            <a:avLst/>
          </a:prstGeom>
          <a:solidFill>
            <a:srgbClr val="3F6FE6"/>
          </a:solidFill>
          <a:ln/>
        </p:spPr>
      </p:sp>
      <p:sp>
        <p:nvSpPr>
          <p:cNvPr id="23" name="Text 21"/>
          <p:cNvSpPr/>
          <p:nvPr/>
        </p:nvSpPr>
        <p:spPr>
          <a:xfrm>
            <a:off x="1219200" y="4410075"/>
            <a:ext cx="704088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D2235"/>
                </a:solidFill>
                <a:latin typeface="Georgia" pitchFamily="34" charset="0"/>
                <a:ea typeface="Georgia" pitchFamily="34" charset="-122"/>
                <a:cs typeface="Georgia" pitchFamily="34" charset="-120"/>
              </a:rPr>
              <a:t>Parties prenantes &amp; SWOT</a:t>
            </a:r>
            <a:endParaRPr lang="en-US" sz="2700" dirty="0"/>
          </a:p>
        </p:txBody>
      </p:sp>
      <p:sp>
        <p:nvSpPr>
          <p:cNvPr id="24" name="Text 22"/>
          <p:cNvSpPr/>
          <p:nvPr/>
        </p:nvSpPr>
        <p:spPr>
          <a:xfrm>
            <a:off x="7810500" y="4524375"/>
            <a:ext cx="1104900"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3F6FE6"/>
                </a:solidFill>
                <a:latin typeface="Courier New" pitchFamily="34" charset="0"/>
                <a:ea typeface="Courier New" pitchFamily="34" charset="-122"/>
                <a:cs typeface="Courier New" pitchFamily="34" charset="-120"/>
              </a:rPr>
              <a:t>LIVRÉ · J1</a:t>
            </a:r>
            <a:endParaRPr lang="en-US" sz="1125" dirty="0"/>
          </a:p>
        </p:txBody>
      </p:sp>
      <p:sp>
        <p:nvSpPr>
          <p:cNvPr id="25" name="Shape 23"/>
          <p:cNvSpPr/>
          <p:nvPr/>
        </p:nvSpPr>
        <p:spPr>
          <a:xfrm>
            <a:off x="9448800" y="4972050"/>
            <a:ext cx="7924800" cy="9525"/>
          </a:xfrm>
          <a:prstGeom prst="rect">
            <a:avLst/>
          </a:prstGeom>
          <a:solidFill>
            <a:srgbClr val="1D2235">
              <a:alpha val="10000"/>
            </a:srgbClr>
          </a:solidFill>
          <a:ln/>
        </p:spPr>
      </p:sp>
      <p:sp>
        <p:nvSpPr>
          <p:cNvPr id="26" name="Shape 24"/>
          <p:cNvSpPr/>
          <p:nvPr/>
        </p:nvSpPr>
        <p:spPr>
          <a:xfrm>
            <a:off x="9448800" y="4548188"/>
            <a:ext cx="114300" cy="114300"/>
          </a:xfrm>
          <a:prstGeom prst="ellipse">
            <a:avLst/>
          </a:prstGeom>
          <a:ln w="19050">
            <a:solidFill>
              <a:srgbClr val="B08E4F"/>
            </a:solidFill>
            <a:prstDash val="solid"/>
          </a:ln>
        </p:spPr>
      </p:sp>
      <p:sp>
        <p:nvSpPr>
          <p:cNvPr id="27" name="Text 25"/>
          <p:cNvSpPr/>
          <p:nvPr/>
        </p:nvSpPr>
        <p:spPr>
          <a:xfrm>
            <a:off x="9753600" y="4410075"/>
            <a:ext cx="6814566"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D2235"/>
                </a:solidFill>
                <a:latin typeface="Georgia" pitchFamily="34" charset="0"/>
                <a:ea typeface="Georgia" pitchFamily="34" charset="-122"/>
                <a:cs typeface="Georgia" pitchFamily="34" charset="-120"/>
              </a:rPr>
              <a:t>Risques &amp; évaluation chiffrée</a:t>
            </a:r>
            <a:endParaRPr lang="en-US" sz="2700" dirty="0"/>
          </a:p>
        </p:txBody>
      </p:sp>
      <p:sp>
        <p:nvSpPr>
          <p:cNvPr id="28" name="Text 26"/>
          <p:cNvSpPr/>
          <p:nvPr/>
        </p:nvSpPr>
        <p:spPr>
          <a:xfrm>
            <a:off x="16139160" y="4524375"/>
            <a:ext cx="1357884"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9A8A5F"/>
                </a:solidFill>
                <a:latin typeface="Courier New" pitchFamily="34" charset="0"/>
                <a:ea typeface="Courier New" pitchFamily="34" charset="-122"/>
                <a:cs typeface="Courier New" pitchFamily="34" charset="-120"/>
              </a:rPr>
              <a:t>À VENIR · J4</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82A"/>
        </a:solidFill>
      </p:bgPr>
    </p:bg>
    <p:spTree>
      <p:nvGrpSpPr>
        <p:cNvPr id="1" name=""/>
        <p:cNvGrpSpPr/>
        <p:nvPr/>
      </p:nvGrpSpPr>
      <p:grpSpPr>
        <a:xfrm>
          <a:off x="0" y="0"/>
          <a:ext cx="0" cy="0"/>
          <a:chOff x="0" y="0"/>
          <a:chExt cx="0" cy="0"/>
        </a:xfrm>
      </p:grpSpPr>
      <p:sp>
        <p:nvSpPr>
          <p:cNvPr id="2" name="Text 0"/>
          <p:cNvSpPr/>
          <p:nvPr/>
        </p:nvSpPr>
        <p:spPr>
          <a:xfrm>
            <a:off x="914400" y="3305175"/>
            <a:ext cx="762159" cy="1181100"/>
          </a:xfrm>
          <a:prstGeom prst="rect">
            <a:avLst/>
          </a:prstGeom>
          <a:noFill/>
          <a:ln/>
        </p:spPr>
        <p:txBody>
          <a:bodyPr wrap="square" lIns="25400" tIns="25400" rIns="25400" bIns="25400" rtlCol="0" anchor="t">
            <a:normAutofit/>
          </a:bodyPr>
          <a:lstStyle/>
          <a:p>
            <a:pPr algn="l" indent="0" marL="0">
              <a:lnSpc>
                <a:spcPct val="100000"/>
              </a:lnSpc>
              <a:buNone/>
            </a:pPr>
            <a:r>
              <a:rPr lang="en-US" sz="9000" b="1" dirty="0">
                <a:solidFill>
                  <a:srgbClr val="3F6FE6"/>
                </a:solidFill>
                <a:latin typeface="Courier New" pitchFamily="34" charset="0"/>
                <a:ea typeface="Courier New" pitchFamily="34" charset="-122"/>
                <a:cs typeface="Courier New" pitchFamily="34" charset="-120"/>
              </a:rPr>
              <a:t>A</a:t>
            </a:r>
            <a:endParaRPr lang="en-US" sz="9000" dirty="0"/>
          </a:p>
        </p:txBody>
      </p:sp>
      <p:sp>
        <p:nvSpPr>
          <p:cNvPr id="3" name="Shape 1"/>
          <p:cNvSpPr/>
          <p:nvPr/>
        </p:nvSpPr>
        <p:spPr>
          <a:xfrm>
            <a:off x="1828959" y="3871913"/>
            <a:ext cx="857250" cy="9525"/>
          </a:xfrm>
          <a:prstGeom prst="rect">
            <a:avLst/>
          </a:prstGeom>
          <a:solidFill>
            <a:srgbClr val="B08E4F"/>
          </a:solidFill>
          <a:ln/>
        </p:spPr>
      </p:sp>
      <p:sp>
        <p:nvSpPr>
          <p:cNvPr id="4" name="Text 2"/>
          <p:cNvSpPr/>
          <p:nvPr/>
        </p:nvSpPr>
        <p:spPr>
          <a:xfrm>
            <a:off x="2914809" y="3781425"/>
            <a:ext cx="2112264" cy="228600"/>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9AA1B8"/>
                </a:solidFill>
                <a:latin typeface="Courier New" pitchFamily="34" charset="0"/>
                <a:ea typeface="Courier New" pitchFamily="34" charset="-122"/>
                <a:cs typeface="Courier New" pitchFamily="34" charset="-120"/>
              </a:rPr>
              <a:t>LIVRÉ · JOUR 1</a:t>
            </a:r>
            <a:endParaRPr lang="en-US" sz="1350" dirty="0"/>
          </a:p>
        </p:txBody>
      </p:sp>
      <p:sp>
        <p:nvSpPr>
          <p:cNvPr id="5" name="Text 3"/>
          <p:cNvSpPr/>
          <p:nvPr/>
        </p:nvSpPr>
        <p:spPr>
          <a:xfrm>
            <a:off x="914400" y="4791075"/>
            <a:ext cx="18105120" cy="1028700"/>
          </a:xfrm>
          <a:prstGeom prst="rect">
            <a:avLst/>
          </a:prstGeom>
          <a:noFill/>
          <a:ln/>
        </p:spPr>
        <p:txBody>
          <a:bodyPr wrap="square" lIns="25400" tIns="25400" rIns="25400" bIns="25400" rtlCol="0" anchor="t">
            <a:normAutofit/>
          </a:bodyPr>
          <a:lstStyle/>
          <a:p>
            <a:pPr algn="l" indent="0" marL="0">
              <a:lnSpc>
                <a:spcPct val="100000"/>
              </a:lnSpc>
              <a:buNone/>
            </a:pPr>
            <a:r>
              <a:rPr lang="en-US" sz="7800" b="1" spc="-78" kern="0" dirty="0">
                <a:solidFill>
                  <a:srgbClr val="F5F2EA"/>
                </a:solidFill>
                <a:latin typeface="Georgia" pitchFamily="34" charset="0"/>
                <a:ea typeface="Georgia" pitchFamily="34" charset="-122"/>
                <a:cs typeface="Georgia" pitchFamily="34" charset="-120"/>
              </a:rPr>
              <a:t>Le cadre — diagnostic du SI existant</a:t>
            </a:r>
            <a:endParaRPr lang="en-US" sz="7800" dirty="0"/>
          </a:p>
        </p:txBody>
      </p:sp>
      <p:sp>
        <p:nvSpPr>
          <p:cNvPr id="6" name="Text 4"/>
          <p:cNvSpPr/>
          <p:nvPr/>
        </p:nvSpPr>
        <p:spPr>
          <a:xfrm>
            <a:off x="914400" y="6067425"/>
            <a:ext cx="12263438" cy="952500"/>
          </a:xfrm>
          <a:prstGeom prst="rect">
            <a:avLst/>
          </a:prstGeom>
          <a:noFill/>
          <a:ln/>
        </p:spPr>
        <p:txBody>
          <a:bodyPr wrap="square" lIns="25400" tIns="25400" rIns="25400" bIns="25400" rtlCol="0" anchor="t">
            <a:normAutofit/>
          </a:bodyPr>
          <a:lstStyle/>
          <a:p>
            <a:pPr algn="l" indent="0" marL="0">
              <a:buNone/>
            </a:pPr>
            <a:r>
              <a:rPr lang="en-US" sz="3150" i="1" dirty="0">
                <a:solidFill>
                  <a:srgbClr val="C7CBDB"/>
                </a:solidFill>
                <a:latin typeface="Georgia" pitchFamily="34" charset="0"/>
                <a:ea typeface="Georgia" pitchFamily="34" charset="-122"/>
                <a:cs typeface="Georgia" pitchFamily="34" charset="-120"/>
              </a:rPr>
              <a:t>Comprendre l'organisation, son système d'information et ses tensions avant de projeter la cible.</a:t>
            </a:r>
            <a:endParaRPr lang="en-US" sz="3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14400" y="828675"/>
            <a:ext cx="4023360"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5F6678"/>
                </a:solidFill>
                <a:latin typeface="Courier New" pitchFamily="34" charset="0"/>
                <a:ea typeface="Courier New" pitchFamily="34" charset="-122"/>
                <a:cs typeface="Courier New" pitchFamily="34" charset="-120"/>
              </a:rPr>
              <a:t>A.1 — L'ORGANISATION</a:t>
            </a:r>
            <a:endParaRPr lang="en-US" sz="1800" dirty="0"/>
          </a:p>
        </p:txBody>
      </p:sp>
      <p:sp>
        <p:nvSpPr>
          <p:cNvPr id="3" name="Shape 1"/>
          <p:cNvSpPr/>
          <p:nvPr/>
        </p:nvSpPr>
        <p:spPr>
          <a:xfrm>
            <a:off x="16021050" y="800100"/>
            <a:ext cx="1352550" cy="314325"/>
          </a:xfrm>
          <a:prstGeom prst="roundRect">
            <a:avLst>
              <a:gd name="adj" fmla="val 50000"/>
            </a:avLst>
          </a:prstGeom>
          <a:ln w="9525">
            <a:solidFill>
              <a:srgbClr val="3F6FE6">
                <a:alpha val="45000"/>
              </a:srgbClr>
            </a:solidFill>
            <a:prstDash val="solid"/>
          </a:ln>
        </p:spPr>
      </p:sp>
      <p:sp>
        <p:nvSpPr>
          <p:cNvPr id="4" name="Text 2"/>
          <p:cNvSpPr/>
          <p:nvPr/>
        </p:nvSpPr>
        <p:spPr>
          <a:xfrm>
            <a:off x="16182975" y="876300"/>
            <a:ext cx="1104900"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3F6FE6"/>
                </a:solidFill>
                <a:latin typeface="Courier New" pitchFamily="34" charset="0"/>
                <a:ea typeface="Courier New" pitchFamily="34" charset="-122"/>
                <a:cs typeface="Courier New" pitchFamily="34" charset="-120"/>
              </a:rPr>
              <a:t>LIVRÉ · J1</a:t>
            </a:r>
            <a:endParaRPr lang="en-US" sz="1125" dirty="0"/>
          </a:p>
        </p:txBody>
      </p:sp>
      <p:sp>
        <p:nvSpPr>
          <p:cNvPr id="5" name="Text 3"/>
          <p:cNvSpPr/>
          <p:nvPr/>
        </p:nvSpPr>
        <p:spPr>
          <a:xfrm>
            <a:off x="914400" y="1285875"/>
            <a:ext cx="18105120"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57" kern="0" dirty="0">
                <a:solidFill>
                  <a:srgbClr val="1D2235"/>
                </a:solidFill>
                <a:latin typeface="Georgia" pitchFamily="34" charset="0"/>
                <a:ea typeface="Georgia" pitchFamily="34" charset="-122"/>
                <a:cs typeface="Georgia" pitchFamily="34" charset="-120"/>
              </a:rPr>
              <a:t>M. Traiteur en bref</a:t>
            </a:r>
            <a:endParaRPr lang="en-US" sz="5700" dirty="0"/>
          </a:p>
        </p:txBody>
      </p:sp>
      <p:sp>
        <p:nvSpPr>
          <p:cNvPr id="6" name="Text 4"/>
          <p:cNvSpPr/>
          <p:nvPr/>
        </p:nvSpPr>
        <p:spPr>
          <a:xfrm>
            <a:off x="914400" y="2124075"/>
            <a:ext cx="12753975" cy="866775"/>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5F6678"/>
                </a:solidFill>
                <a:latin typeface="Arial" pitchFamily="34" charset="0"/>
                <a:ea typeface="Arial" pitchFamily="34" charset="-122"/>
                <a:cs typeface="Arial" pitchFamily="34" charset="-120"/>
              </a:rPr>
              <a:t>Réseau de franchise de traiteur haut de gamme — savoir-faire artisanal, clientèle fidèle, gouvernance familiale avec succession prévue dans 5 ans.</a:t>
            </a:r>
            <a:endParaRPr lang="en-US" sz="2250" dirty="0"/>
          </a:p>
        </p:txBody>
      </p:sp>
      <p:sp>
        <p:nvSpPr>
          <p:cNvPr id="7" name="Shape 5"/>
          <p:cNvSpPr/>
          <p:nvPr/>
        </p:nvSpPr>
        <p:spPr>
          <a:xfrm>
            <a:off x="914400" y="3409950"/>
            <a:ext cx="3886200" cy="19050"/>
          </a:xfrm>
          <a:prstGeom prst="rect">
            <a:avLst/>
          </a:prstGeom>
          <a:solidFill>
            <a:srgbClr val="14182A"/>
          </a:solidFill>
          <a:ln/>
        </p:spPr>
      </p:sp>
      <p:sp>
        <p:nvSpPr>
          <p:cNvPr id="8" name="Text 6"/>
          <p:cNvSpPr/>
          <p:nvPr/>
        </p:nvSpPr>
        <p:spPr>
          <a:xfrm>
            <a:off x="914400" y="3657600"/>
            <a:ext cx="4274820" cy="861060"/>
          </a:xfrm>
          <a:prstGeom prst="rect">
            <a:avLst/>
          </a:prstGeom>
          <a:noFill/>
          <a:ln/>
        </p:spPr>
        <p:txBody>
          <a:bodyPr wrap="square" lIns="25400" tIns="25400" rIns="25400" bIns="25400" rtlCol="0" anchor="t">
            <a:normAutofit/>
          </a:bodyPr>
          <a:lstStyle/>
          <a:p>
            <a:pPr algn="l" indent="0" marL="0">
              <a:lnSpc>
                <a:spcPct val="90000"/>
              </a:lnSpc>
              <a:buNone/>
            </a:pPr>
            <a:r>
              <a:rPr lang="en-US" sz="7200" b="1" dirty="0">
                <a:solidFill>
                  <a:srgbClr val="1D2235"/>
                </a:solidFill>
                <a:latin typeface="Georgia" pitchFamily="34" charset="0"/>
                <a:ea typeface="Georgia" pitchFamily="34" charset="-122"/>
                <a:cs typeface="Georgia" pitchFamily="34" charset="-120"/>
              </a:rPr>
              <a:t>25</a:t>
            </a:r>
            <a:endParaRPr lang="en-US" sz="7200" dirty="0"/>
          </a:p>
        </p:txBody>
      </p:sp>
      <p:sp>
        <p:nvSpPr>
          <p:cNvPr id="9" name="Text 7"/>
          <p:cNvSpPr/>
          <p:nvPr/>
        </p:nvSpPr>
        <p:spPr>
          <a:xfrm>
            <a:off x="914400" y="4556760"/>
            <a:ext cx="427482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F6678"/>
                </a:solidFill>
                <a:latin typeface="Arial" pitchFamily="34" charset="0"/>
                <a:ea typeface="Arial" pitchFamily="34" charset="-122"/>
                <a:cs typeface="Arial" pitchFamily="34" charset="-120"/>
              </a:rPr>
              <a:t>franchisés + 3 magasins en propre</a:t>
            </a:r>
            <a:endParaRPr lang="en-US" sz="1800" dirty="0"/>
          </a:p>
        </p:txBody>
      </p:sp>
      <p:sp>
        <p:nvSpPr>
          <p:cNvPr id="10" name="Shape 8"/>
          <p:cNvSpPr/>
          <p:nvPr/>
        </p:nvSpPr>
        <p:spPr>
          <a:xfrm>
            <a:off x="5105400" y="3409950"/>
            <a:ext cx="3886200" cy="19050"/>
          </a:xfrm>
          <a:prstGeom prst="rect">
            <a:avLst/>
          </a:prstGeom>
          <a:solidFill>
            <a:srgbClr val="14182A"/>
          </a:solidFill>
          <a:ln/>
        </p:spPr>
      </p:sp>
      <p:sp>
        <p:nvSpPr>
          <p:cNvPr id="11" name="Text 9"/>
          <p:cNvSpPr/>
          <p:nvPr/>
        </p:nvSpPr>
        <p:spPr>
          <a:xfrm>
            <a:off x="5105400" y="3657600"/>
            <a:ext cx="4274820" cy="861060"/>
          </a:xfrm>
          <a:prstGeom prst="rect">
            <a:avLst/>
          </a:prstGeom>
          <a:noFill/>
          <a:ln/>
        </p:spPr>
        <p:txBody>
          <a:bodyPr wrap="square" lIns="25400" tIns="25400" rIns="25400" bIns="25400" rtlCol="0" anchor="t">
            <a:normAutofit/>
          </a:bodyPr>
          <a:lstStyle/>
          <a:p>
            <a:pPr algn="l" indent="0" marL="0">
              <a:lnSpc>
                <a:spcPct val="90000"/>
              </a:lnSpc>
              <a:buNone/>
            </a:pPr>
            <a:r>
              <a:rPr lang="en-US" sz="7200" b="1" dirty="0">
                <a:solidFill>
                  <a:srgbClr val="1D2235"/>
                </a:solidFill>
                <a:latin typeface="Georgia" pitchFamily="34" charset="0"/>
                <a:ea typeface="Georgia" pitchFamily="34" charset="-122"/>
                <a:cs typeface="Georgia" pitchFamily="34" charset="-120"/>
              </a:rPr>
              <a:t>230</a:t>
            </a:r>
            <a:endParaRPr lang="en-US" sz="7200" dirty="0"/>
          </a:p>
        </p:txBody>
      </p:sp>
      <p:sp>
        <p:nvSpPr>
          <p:cNvPr id="12" name="Text 10"/>
          <p:cNvSpPr/>
          <p:nvPr/>
        </p:nvSpPr>
        <p:spPr>
          <a:xfrm>
            <a:off x="5105400" y="4556760"/>
            <a:ext cx="427482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F6678"/>
                </a:solidFill>
                <a:latin typeface="Arial" pitchFamily="34" charset="0"/>
                <a:ea typeface="Arial" pitchFamily="34" charset="-122"/>
                <a:cs typeface="Arial" pitchFamily="34" charset="-120"/>
              </a:rPr>
              <a:t>employés sur 3 départements</a:t>
            </a:r>
            <a:endParaRPr lang="en-US" sz="1800" dirty="0"/>
          </a:p>
        </p:txBody>
      </p:sp>
      <p:sp>
        <p:nvSpPr>
          <p:cNvPr id="13" name="Shape 11"/>
          <p:cNvSpPr/>
          <p:nvPr/>
        </p:nvSpPr>
        <p:spPr>
          <a:xfrm>
            <a:off x="9296400" y="3409950"/>
            <a:ext cx="3886200" cy="19050"/>
          </a:xfrm>
          <a:prstGeom prst="rect">
            <a:avLst/>
          </a:prstGeom>
          <a:solidFill>
            <a:srgbClr val="14182A"/>
          </a:solidFill>
          <a:ln/>
        </p:spPr>
      </p:sp>
      <p:sp>
        <p:nvSpPr>
          <p:cNvPr id="14" name="Text 12"/>
          <p:cNvSpPr/>
          <p:nvPr/>
        </p:nvSpPr>
        <p:spPr>
          <a:xfrm>
            <a:off x="9296400" y="3657600"/>
            <a:ext cx="4274820" cy="861060"/>
          </a:xfrm>
          <a:prstGeom prst="rect">
            <a:avLst/>
          </a:prstGeom>
          <a:noFill/>
          <a:ln/>
        </p:spPr>
        <p:txBody>
          <a:bodyPr wrap="square" lIns="25400" tIns="25400" rIns="25400" bIns="25400" rtlCol="0" anchor="t">
            <a:normAutofit/>
          </a:bodyPr>
          <a:lstStyle/>
          <a:p>
            <a:pPr algn="l" indent="0" marL="0">
              <a:lnSpc>
                <a:spcPct val="90000"/>
              </a:lnSpc>
              <a:buNone/>
            </a:pPr>
            <a:r>
              <a:rPr lang="en-US" sz="7200" b="1" dirty="0">
                <a:solidFill>
                  <a:srgbClr val="1D2235"/>
                </a:solidFill>
                <a:latin typeface="Georgia" pitchFamily="34" charset="0"/>
                <a:ea typeface="Georgia" pitchFamily="34" charset="-122"/>
                <a:cs typeface="Georgia" pitchFamily="34" charset="-120"/>
              </a:rPr>
              <a:t>1 M€</a:t>
            </a:r>
            <a:endParaRPr lang="en-US" sz="7200" dirty="0"/>
          </a:p>
        </p:txBody>
      </p:sp>
      <p:sp>
        <p:nvSpPr>
          <p:cNvPr id="15" name="Text 13"/>
          <p:cNvSpPr/>
          <p:nvPr/>
        </p:nvSpPr>
        <p:spPr>
          <a:xfrm>
            <a:off x="9296400" y="4556760"/>
            <a:ext cx="427482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F6678"/>
                </a:solidFill>
                <a:latin typeface="Arial" pitchFamily="34" charset="0"/>
                <a:ea typeface="Arial" pitchFamily="34" charset="-122"/>
                <a:cs typeface="Arial" pitchFamily="34" charset="-120"/>
              </a:rPr>
              <a:t>de CA au siège / an</a:t>
            </a:r>
            <a:endParaRPr lang="en-US" sz="1800" dirty="0"/>
          </a:p>
        </p:txBody>
      </p:sp>
      <p:sp>
        <p:nvSpPr>
          <p:cNvPr id="16" name="Shape 14"/>
          <p:cNvSpPr/>
          <p:nvPr/>
        </p:nvSpPr>
        <p:spPr>
          <a:xfrm>
            <a:off x="13487400" y="3409950"/>
            <a:ext cx="3886200" cy="19050"/>
          </a:xfrm>
          <a:prstGeom prst="rect">
            <a:avLst/>
          </a:prstGeom>
          <a:solidFill>
            <a:srgbClr val="3F6FE6"/>
          </a:solidFill>
          <a:ln/>
        </p:spPr>
      </p:sp>
      <p:sp>
        <p:nvSpPr>
          <p:cNvPr id="17" name="Text 15"/>
          <p:cNvSpPr/>
          <p:nvPr/>
        </p:nvSpPr>
        <p:spPr>
          <a:xfrm>
            <a:off x="13487400" y="3657600"/>
            <a:ext cx="4274820" cy="861060"/>
          </a:xfrm>
          <a:prstGeom prst="rect">
            <a:avLst/>
          </a:prstGeom>
          <a:noFill/>
          <a:ln/>
        </p:spPr>
        <p:txBody>
          <a:bodyPr wrap="square" lIns="25400" tIns="25400" rIns="25400" bIns="25400" rtlCol="0" anchor="t">
            <a:normAutofit/>
          </a:bodyPr>
          <a:lstStyle/>
          <a:p>
            <a:pPr algn="l" indent="0" marL="0">
              <a:lnSpc>
                <a:spcPct val="90000"/>
              </a:lnSpc>
              <a:buNone/>
            </a:pPr>
            <a:r>
              <a:rPr lang="en-US" sz="7200" b="1" dirty="0">
                <a:solidFill>
                  <a:srgbClr val="3F6FE6"/>
                </a:solidFill>
                <a:latin typeface="Georgia" pitchFamily="34" charset="0"/>
                <a:ea typeface="Georgia" pitchFamily="34" charset="-122"/>
                <a:cs typeface="Georgia" pitchFamily="34" charset="-120"/>
              </a:rPr>
              <a:t>×2</a:t>
            </a:r>
            <a:endParaRPr lang="en-US" sz="7200" dirty="0"/>
          </a:p>
        </p:txBody>
      </p:sp>
      <p:sp>
        <p:nvSpPr>
          <p:cNvPr id="18" name="Text 16"/>
          <p:cNvSpPr/>
          <p:nvPr/>
        </p:nvSpPr>
        <p:spPr>
          <a:xfrm>
            <a:off x="13487400" y="4556760"/>
            <a:ext cx="427482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5F6678"/>
                </a:solidFill>
                <a:latin typeface="Arial" pitchFamily="34" charset="0"/>
                <a:ea typeface="Arial" pitchFamily="34" charset="-122"/>
                <a:cs typeface="Arial" pitchFamily="34" charset="-120"/>
              </a:rPr>
              <a:t>objectif : doubler le CA en 5 ans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14400" y="828675"/>
            <a:ext cx="7644384"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5F6678"/>
                </a:solidFill>
                <a:latin typeface="Courier New" pitchFamily="34" charset="0"/>
                <a:ea typeface="Courier New" pitchFamily="34" charset="-122"/>
                <a:cs typeface="Courier New" pitchFamily="34" charset="-120"/>
              </a:rPr>
              <a:t>A.2 — CARTOGRAPHIE APPLICATIVE (AS-IS)</a:t>
            </a:r>
            <a:endParaRPr lang="en-US" sz="1800" dirty="0"/>
          </a:p>
        </p:txBody>
      </p:sp>
      <p:sp>
        <p:nvSpPr>
          <p:cNvPr id="3" name="Shape 1"/>
          <p:cNvSpPr/>
          <p:nvPr/>
        </p:nvSpPr>
        <p:spPr>
          <a:xfrm>
            <a:off x="16021050" y="800100"/>
            <a:ext cx="1352550" cy="314325"/>
          </a:xfrm>
          <a:prstGeom prst="roundRect">
            <a:avLst>
              <a:gd name="adj" fmla="val 50000"/>
            </a:avLst>
          </a:prstGeom>
          <a:ln w="9525">
            <a:solidFill>
              <a:srgbClr val="3F6FE6">
                <a:alpha val="45000"/>
              </a:srgbClr>
            </a:solidFill>
            <a:prstDash val="solid"/>
          </a:ln>
        </p:spPr>
      </p:sp>
      <p:sp>
        <p:nvSpPr>
          <p:cNvPr id="4" name="Text 2"/>
          <p:cNvSpPr/>
          <p:nvPr/>
        </p:nvSpPr>
        <p:spPr>
          <a:xfrm>
            <a:off x="16182975" y="876300"/>
            <a:ext cx="1104900"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3F6FE6"/>
                </a:solidFill>
                <a:latin typeface="Courier New" pitchFamily="34" charset="0"/>
                <a:ea typeface="Courier New" pitchFamily="34" charset="-122"/>
                <a:cs typeface="Courier New" pitchFamily="34" charset="-120"/>
              </a:rPr>
              <a:t>LIVRÉ · J1</a:t>
            </a:r>
            <a:endParaRPr lang="en-US" sz="1125" dirty="0"/>
          </a:p>
        </p:txBody>
      </p:sp>
      <p:sp>
        <p:nvSpPr>
          <p:cNvPr id="5" name="Text 3"/>
          <p:cNvSpPr/>
          <p:nvPr/>
        </p:nvSpPr>
        <p:spPr>
          <a:xfrm>
            <a:off x="914400" y="1285875"/>
            <a:ext cx="18105120"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57" kern="0" dirty="0">
                <a:solidFill>
                  <a:srgbClr val="1D2235"/>
                </a:solidFill>
                <a:latin typeface="Georgia" pitchFamily="34" charset="0"/>
                <a:ea typeface="Georgia" pitchFamily="34" charset="-122"/>
                <a:cs typeface="Georgia" pitchFamily="34" charset="-120"/>
              </a:rPr>
              <a:t>Un SI homogène, mais sous tension</a:t>
            </a:r>
            <a:endParaRPr lang="en-US" sz="5700" dirty="0"/>
          </a:p>
        </p:txBody>
      </p:sp>
      <p:sp>
        <p:nvSpPr>
          <p:cNvPr id="6" name="Shape 4"/>
          <p:cNvSpPr/>
          <p:nvPr/>
        </p:nvSpPr>
        <p:spPr>
          <a:xfrm>
            <a:off x="914400" y="2714625"/>
            <a:ext cx="16459200" cy="19050"/>
          </a:xfrm>
          <a:prstGeom prst="rect">
            <a:avLst/>
          </a:prstGeom>
          <a:solidFill>
            <a:srgbClr val="14182A"/>
          </a:solidFill>
          <a:ln/>
        </p:spPr>
      </p:sp>
      <p:sp>
        <p:nvSpPr>
          <p:cNvPr id="7" name="Text 5"/>
          <p:cNvSpPr/>
          <p:nvPr/>
        </p:nvSpPr>
        <p:spPr>
          <a:xfrm>
            <a:off x="914400" y="2390775"/>
            <a:ext cx="4117134" cy="209550"/>
          </a:xfrm>
          <a:prstGeom prst="rect">
            <a:avLst/>
          </a:prstGeom>
          <a:noFill/>
          <a:ln/>
        </p:spPr>
        <p:txBody>
          <a:bodyPr wrap="square" lIns="25400" tIns="25400" rIns="25400" bIns="25400" rtlCol="0" anchor="t">
            <a:normAutofit/>
          </a:bodyPr>
          <a:lstStyle/>
          <a:p>
            <a:pPr algn="l" indent="0" marL="0">
              <a:buNone/>
            </a:pPr>
            <a:r>
              <a:rPr lang="en-US" sz="1200" spc="144" kern="0" dirty="0">
                <a:solidFill>
                  <a:srgbClr val="5F6678"/>
                </a:solidFill>
                <a:latin typeface="Courier New" pitchFamily="34" charset="0"/>
                <a:ea typeface="Courier New" pitchFamily="34" charset="-122"/>
                <a:cs typeface="Courier New" pitchFamily="34" charset="-120"/>
              </a:rPr>
              <a:t>COMPOSANT</a:t>
            </a:r>
            <a:endParaRPr lang="en-US" sz="1200" dirty="0"/>
          </a:p>
        </p:txBody>
      </p:sp>
      <p:sp>
        <p:nvSpPr>
          <p:cNvPr id="8" name="Text 6"/>
          <p:cNvSpPr/>
          <p:nvPr/>
        </p:nvSpPr>
        <p:spPr>
          <a:xfrm>
            <a:off x="4885849" y="2390775"/>
            <a:ext cx="7057993" cy="209550"/>
          </a:xfrm>
          <a:prstGeom prst="rect">
            <a:avLst/>
          </a:prstGeom>
          <a:noFill/>
          <a:ln/>
        </p:spPr>
        <p:txBody>
          <a:bodyPr wrap="square" lIns="25400" tIns="25400" rIns="25400" bIns="25400" rtlCol="0" anchor="t">
            <a:normAutofit/>
          </a:bodyPr>
          <a:lstStyle/>
          <a:p>
            <a:pPr algn="l" indent="0" marL="0">
              <a:buNone/>
            </a:pPr>
            <a:r>
              <a:rPr lang="en-US" sz="1200" spc="144" kern="0" dirty="0">
                <a:solidFill>
                  <a:srgbClr val="5F6678"/>
                </a:solidFill>
                <a:latin typeface="Courier New" pitchFamily="34" charset="0"/>
                <a:ea typeface="Courier New" pitchFamily="34" charset="-122"/>
                <a:cs typeface="Courier New" pitchFamily="34" charset="-120"/>
              </a:rPr>
              <a:t>RÔLE</a:t>
            </a:r>
            <a:endParaRPr lang="en-US" sz="1200" dirty="0"/>
          </a:p>
        </p:txBody>
      </p:sp>
      <p:sp>
        <p:nvSpPr>
          <p:cNvPr id="9" name="Text 7"/>
          <p:cNvSpPr/>
          <p:nvPr/>
        </p:nvSpPr>
        <p:spPr>
          <a:xfrm>
            <a:off x="11530807" y="2390775"/>
            <a:ext cx="2940860" cy="209550"/>
          </a:xfrm>
          <a:prstGeom prst="rect">
            <a:avLst/>
          </a:prstGeom>
          <a:noFill/>
          <a:ln/>
        </p:spPr>
        <p:txBody>
          <a:bodyPr wrap="square" lIns="25400" tIns="25400" rIns="25400" bIns="25400" rtlCol="0" anchor="t">
            <a:normAutofit/>
          </a:bodyPr>
          <a:lstStyle/>
          <a:p>
            <a:pPr algn="l" indent="0" marL="0">
              <a:buNone/>
            </a:pPr>
            <a:r>
              <a:rPr lang="en-US" sz="1200" spc="144" kern="0" dirty="0">
                <a:solidFill>
                  <a:srgbClr val="5F6678"/>
                </a:solidFill>
                <a:latin typeface="Courier New" pitchFamily="34" charset="0"/>
                <a:ea typeface="Courier New" pitchFamily="34" charset="-122"/>
                <a:cs typeface="Courier New" pitchFamily="34" charset="-120"/>
              </a:rPr>
              <a:t>COÛT / AN</a:t>
            </a:r>
            <a:endParaRPr lang="en-US" sz="1200" dirty="0"/>
          </a:p>
        </p:txBody>
      </p:sp>
      <p:sp>
        <p:nvSpPr>
          <p:cNvPr id="10" name="Text 8"/>
          <p:cNvSpPr/>
          <p:nvPr/>
        </p:nvSpPr>
        <p:spPr>
          <a:xfrm>
            <a:off x="14432914" y="2390775"/>
            <a:ext cx="3234928" cy="209550"/>
          </a:xfrm>
          <a:prstGeom prst="rect">
            <a:avLst/>
          </a:prstGeom>
          <a:noFill/>
          <a:ln/>
        </p:spPr>
        <p:txBody>
          <a:bodyPr wrap="square" lIns="25400" tIns="25400" rIns="25400" bIns="25400" rtlCol="0" anchor="t">
            <a:normAutofit/>
          </a:bodyPr>
          <a:lstStyle/>
          <a:p>
            <a:pPr algn="l" indent="0" marL="0">
              <a:buNone/>
            </a:pPr>
            <a:r>
              <a:rPr lang="en-US" sz="1200" spc="144" kern="0" dirty="0">
                <a:solidFill>
                  <a:srgbClr val="5F6678"/>
                </a:solidFill>
                <a:latin typeface="Courier New" pitchFamily="34" charset="0"/>
                <a:ea typeface="Courier New" pitchFamily="34" charset="-122"/>
                <a:cs typeface="Courier New" pitchFamily="34" charset="-120"/>
              </a:rPr>
              <a:t>STATUT CIBLE</a:t>
            </a:r>
            <a:endParaRPr lang="en-US" sz="1200" dirty="0"/>
          </a:p>
        </p:txBody>
      </p:sp>
      <p:sp>
        <p:nvSpPr>
          <p:cNvPr id="11" name="Shape 9"/>
          <p:cNvSpPr/>
          <p:nvPr/>
        </p:nvSpPr>
        <p:spPr>
          <a:xfrm>
            <a:off x="914400" y="3514725"/>
            <a:ext cx="16459200" cy="9525"/>
          </a:xfrm>
          <a:prstGeom prst="rect">
            <a:avLst/>
          </a:prstGeom>
          <a:solidFill>
            <a:srgbClr val="1D2235">
              <a:alpha val="10000"/>
            </a:srgbClr>
          </a:solidFill>
          <a:ln/>
        </p:spPr>
      </p:sp>
      <p:sp>
        <p:nvSpPr>
          <p:cNvPr id="12" name="Text 10"/>
          <p:cNvSpPr/>
          <p:nvPr/>
        </p:nvSpPr>
        <p:spPr>
          <a:xfrm>
            <a:off x="914400" y="2943225"/>
            <a:ext cx="4117134" cy="400050"/>
          </a:xfrm>
          <a:prstGeom prst="rect">
            <a:avLst/>
          </a:prstGeom>
          <a:noFill/>
          <a:ln/>
        </p:spPr>
        <p:txBody>
          <a:bodyPr wrap="square" lIns="25400" tIns="25400" rIns="25400" bIns="25400" rtlCol="0" anchor="t">
            <a:normAutofit/>
          </a:bodyPr>
          <a:lstStyle/>
          <a:p>
            <a:pPr algn="l" indent="0" marL="0">
              <a:buNone/>
            </a:pPr>
            <a:r>
              <a:rPr lang="en-US" sz="2550" b="1" dirty="0">
                <a:solidFill>
                  <a:srgbClr val="1D2235"/>
                </a:solidFill>
                <a:latin typeface="Georgia" pitchFamily="34" charset="0"/>
                <a:ea typeface="Georgia" pitchFamily="34" charset="-122"/>
                <a:cs typeface="Georgia" pitchFamily="34" charset="-120"/>
              </a:rPr>
              <a:t>ERP infogéré</a:t>
            </a:r>
            <a:endParaRPr lang="en-US" sz="2550" dirty="0"/>
          </a:p>
        </p:txBody>
      </p:sp>
      <p:sp>
        <p:nvSpPr>
          <p:cNvPr id="13" name="Text 11"/>
          <p:cNvSpPr/>
          <p:nvPr/>
        </p:nvSpPr>
        <p:spPr>
          <a:xfrm>
            <a:off x="4885849" y="2986088"/>
            <a:ext cx="7057993" cy="314325"/>
          </a:xfrm>
          <a:prstGeom prst="rect">
            <a:avLst/>
          </a:prstGeom>
          <a:noFill/>
          <a:ln/>
        </p:spPr>
        <p:txBody>
          <a:bodyPr wrap="square" lIns="25400" tIns="25400" rIns="25400" bIns="25400" rtlCol="0" anchor="t">
            <a:normAutofit/>
          </a:bodyPr>
          <a:lstStyle/>
          <a:p>
            <a:pPr algn="l" indent="0" marL="0">
              <a:buNone/>
            </a:pPr>
            <a:r>
              <a:rPr lang="en-US" sz="1875" dirty="0">
                <a:solidFill>
                  <a:srgbClr val="5F6678"/>
                </a:solidFill>
                <a:latin typeface="Arial" pitchFamily="34" charset="0"/>
                <a:ea typeface="Arial" pitchFamily="34" charset="-122"/>
                <a:cs typeface="Arial" pitchFamily="34" charset="-120"/>
              </a:rPr>
              <a:t>RH, compta, marketing — éditeur stagnant (20 ans)</a:t>
            </a:r>
            <a:endParaRPr lang="en-US" sz="1875" dirty="0"/>
          </a:p>
        </p:txBody>
      </p:sp>
      <p:sp>
        <p:nvSpPr>
          <p:cNvPr id="14" name="Text 12"/>
          <p:cNvSpPr/>
          <p:nvPr/>
        </p:nvSpPr>
        <p:spPr>
          <a:xfrm>
            <a:off x="11530807" y="2981325"/>
            <a:ext cx="294086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D2235"/>
                </a:solidFill>
                <a:latin typeface="Courier New" pitchFamily="34" charset="0"/>
                <a:ea typeface="Courier New" pitchFamily="34" charset="-122"/>
                <a:cs typeface="Courier New" pitchFamily="34" charset="-120"/>
              </a:rPr>
              <a:t>16 000 €</a:t>
            </a:r>
            <a:endParaRPr lang="en-US" sz="1950" dirty="0"/>
          </a:p>
        </p:txBody>
      </p:sp>
      <p:sp>
        <p:nvSpPr>
          <p:cNvPr id="15" name="Text 13"/>
          <p:cNvSpPr/>
          <p:nvPr/>
        </p:nvSpPr>
        <p:spPr>
          <a:xfrm>
            <a:off x="14432914" y="3038475"/>
            <a:ext cx="3234928" cy="209550"/>
          </a:xfrm>
          <a:prstGeom prst="rect">
            <a:avLst/>
          </a:prstGeom>
          <a:noFill/>
          <a:ln/>
        </p:spPr>
        <p:txBody>
          <a:bodyPr wrap="square" lIns="25400" tIns="25400" rIns="25400" bIns="25400" rtlCol="0" anchor="t">
            <a:normAutofit/>
          </a:bodyPr>
          <a:lstStyle/>
          <a:p>
            <a:pPr algn="l" indent="0" marL="0">
              <a:buNone/>
            </a:pPr>
            <a:r>
              <a:rPr lang="en-US" sz="1200" spc="120" kern="0" dirty="0">
                <a:solidFill>
                  <a:srgbClr val="B34A3A"/>
                </a:solidFill>
                <a:latin typeface="Courier New" pitchFamily="34" charset="0"/>
                <a:ea typeface="Courier New" pitchFamily="34" charset="-122"/>
                <a:cs typeface="Courier New" pitchFamily="34" charset="-120"/>
              </a:rPr>
              <a:t>À REMPLACER</a:t>
            </a:r>
            <a:endParaRPr lang="en-US" sz="1200" dirty="0"/>
          </a:p>
        </p:txBody>
      </p:sp>
      <p:sp>
        <p:nvSpPr>
          <p:cNvPr id="16" name="Shape 14"/>
          <p:cNvSpPr/>
          <p:nvPr/>
        </p:nvSpPr>
        <p:spPr>
          <a:xfrm>
            <a:off x="914400" y="4305300"/>
            <a:ext cx="16459200" cy="9525"/>
          </a:xfrm>
          <a:prstGeom prst="rect">
            <a:avLst/>
          </a:prstGeom>
          <a:solidFill>
            <a:srgbClr val="1D2235">
              <a:alpha val="10000"/>
            </a:srgbClr>
          </a:solidFill>
          <a:ln/>
        </p:spPr>
      </p:sp>
      <p:sp>
        <p:nvSpPr>
          <p:cNvPr id="17" name="Text 15"/>
          <p:cNvSpPr/>
          <p:nvPr/>
        </p:nvSpPr>
        <p:spPr>
          <a:xfrm>
            <a:off x="914400" y="3733800"/>
            <a:ext cx="4117134" cy="400050"/>
          </a:xfrm>
          <a:prstGeom prst="rect">
            <a:avLst/>
          </a:prstGeom>
          <a:noFill/>
          <a:ln/>
        </p:spPr>
        <p:txBody>
          <a:bodyPr wrap="square" lIns="25400" tIns="25400" rIns="25400" bIns="25400" rtlCol="0" anchor="t">
            <a:normAutofit/>
          </a:bodyPr>
          <a:lstStyle/>
          <a:p>
            <a:pPr algn="l" indent="0" marL="0">
              <a:buNone/>
            </a:pPr>
            <a:r>
              <a:rPr lang="en-US" sz="2550" b="1" dirty="0">
                <a:solidFill>
                  <a:srgbClr val="1D2235"/>
                </a:solidFill>
                <a:latin typeface="Georgia" pitchFamily="34" charset="0"/>
                <a:ea typeface="Georgia" pitchFamily="34" charset="-122"/>
                <a:cs typeface="Georgia" pitchFamily="34" charset="-120"/>
              </a:rPr>
              <a:t>Caisses</a:t>
            </a:r>
            <a:endParaRPr lang="en-US" sz="2550" dirty="0"/>
          </a:p>
        </p:txBody>
      </p:sp>
      <p:sp>
        <p:nvSpPr>
          <p:cNvPr id="18" name="Text 16"/>
          <p:cNvSpPr/>
          <p:nvPr/>
        </p:nvSpPr>
        <p:spPr>
          <a:xfrm>
            <a:off x="4885849" y="3776662"/>
            <a:ext cx="7057993" cy="314325"/>
          </a:xfrm>
          <a:prstGeom prst="rect">
            <a:avLst/>
          </a:prstGeom>
          <a:noFill/>
          <a:ln/>
        </p:spPr>
        <p:txBody>
          <a:bodyPr wrap="square" lIns="25400" tIns="25400" rIns="25400" bIns="25400" rtlCol="0" anchor="t">
            <a:normAutofit/>
          </a:bodyPr>
          <a:lstStyle/>
          <a:p>
            <a:pPr algn="l" indent="0" marL="0">
              <a:buNone/>
            </a:pPr>
            <a:r>
              <a:rPr lang="en-US" sz="1875" dirty="0">
                <a:solidFill>
                  <a:srgbClr val="5F6678"/>
                </a:solidFill>
                <a:latin typeface="Arial" pitchFamily="34" charset="0"/>
                <a:ea typeface="Arial" pitchFamily="34" charset="-122"/>
                <a:cs typeface="Arial" pitchFamily="34" charset="-120"/>
              </a:rPr>
              <a:t>Encaissement unifié, remontée des ventes</a:t>
            </a:r>
            <a:endParaRPr lang="en-US" sz="1875" dirty="0"/>
          </a:p>
        </p:txBody>
      </p:sp>
      <p:sp>
        <p:nvSpPr>
          <p:cNvPr id="19" name="Text 17"/>
          <p:cNvSpPr/>
          <p:nvPr/>
        </p:nvSpPr>
        <p:spPr>
          <a:xfrm>
            <a:off x="11530807" y="3771900"/>
            <a:ext cx="294086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D2235"/>
                </a:solidFill>
                <a:latin typeface="Courier New" pitchFamily="34" charset="0"/>
                <a:ea typeface="Courier New" pitchFamily="34" charset="-122"/>
                <a:cs typeface="Courier New" pitchFamily="34" charset="-120"/>
              </a:rPr>
              <a:t>5 000 €/caisse</a:t>
            </a:r>
            <a:endParaRPr lang="en-US" sz="1950" dirty="0"/>
          </a:p>
        </p:txBody>
      </p:sp>
      <p:sp>
        <p:nvSpPr>
          <p:cNvPr id="20" name="Text 18"/>
          <p:cNvSpPr/>
          <p:nvPr/>
        </p:nvSpPr>
        <p:spPr>
          <a:xfrm>
            <a:off x="14432914" y="3829050"/>
            <a:ext cx="3234928" cy="209550"/>
          </a:xfrm>
          <a:prstGeom prst="rect">
            <a:avLst/>
          </a:prstGeom>
          <a:noFill/>
          <a:ln/>
        </p:spPr>
        <p:txBody>
          <a:bodyPr wrap="square" lIns="25400" tIns="25400" rIns="25400" bIns="25400" rtlCol="0" anchor="t">
            <a:normAutofit/>
          </a:bodyPr>
          <a:lstStyle/>
          <a:p>
            <a:pPr algn="l" indent="0" marL="0">
              <a:buNone/>
            </a:pPr>
            <a:r>
              <a:rPr lang="en-US" sz="1200" spc="120" kern="0" dirty="0">
                <a:solidFill>
                  <a:srgbClr val="5F6678"/>
                </a:solidFill>
                <a:latin typeface="Courier New" pitchFamily="34" charset="0"/>
                <a:ea typeface="Courier New" pitchFamily="34" charset="-122"/>
                <a:cs typeface="Courier New" pitchFamily="34" charset="-120"/>
              </a:rPr>
              <a:t>MAINTENU</a:t>
            </a:r>
            <a:endParaRPr lang="en-US" sz="1200" dirty="0"/>
          </a:p>
        </p:txBody>
      </p:sp>
      <p:sp>
        <p:nvSpPr>
          <p:cNvPr id="21" name="Shape 19"/>
          <p:cNvSpPr/>
          <p:nvPr/>
        </p:nvSpPr>
        <p:spPr>
          <a:xfrm>
            <a:off x="914400" y="5095875"/>
            <a:ext cx="16459200" cy="9525"/>
          </a:xfrm>
          <a:prstGeom prst="rect">
            <a:avLst/>
          </a:prstGeom>
          <a:solidFill>
            <a:srgbClr val="1D2235">
              <a:alpha val="10000"/>
            </a:srgbClr>
          </a:solidFill>
          <a:ln/>
        </p:spPr>
      </p:sp>
      <p:sp>
        <p:nvSpPr>
          <p:cNvPr id="22" name="Text 20"/>
          <p:cNvSpPr/>
          <p:nvPr/>
        </p:nvSpPr>
        <p:spPr>
          <a:xfrm>
            <a:off x="914400" y="4524375"/>
            <a:ext cx="4117134" cy="400050"/>
          </a:xfrm>
          <a:prstGeom prst="rect">
            <a:avLst/>
          </a:prstGeom>
          <a:noFill/>
          <a:ln/>
        </p:spPr>
        <p:txBody>
          <a:bodyPr wrap="square" lIns="25400" tIns="25400" rIns="25400" bIns="25400" rtlCol="0" anchor="t">
            <a:normAutofit/>
          </a:bodyPr>
          <a:lstStyle/>
          <a:p>
            <a:pPr algn="l" indent="0" marL="0">
              <a:buNone/>
            </a:pPr>
            <a:r>
              <a:rPr lang="en-US" sz="2550" b="1" dirty="0">
                <a:solidFill>
                  <a:srgbClr val="1D2235"/>
                </a:solidFill>
                <a:latin typeface="Georgia" pitchFamily="34" charset="0"/>
                <a:ea typeface="Georgia" pitchFamily="34" charset="-122"/>
                <a:cs typeface="Georgia" pitchFamily="34" charset="-120"/>
              </a:rPr>
              <a:t>Site web + app</a:t>
            </a:r>
            <a:endParaRPr lang="en-US" sz="2550" dirty="0"/>
          </a:p>
        </p:txBody>
      </p:sp>
      <p:sp>
        <p:nvSpPr>
          <p:cNvPr id="23" name="Text 21"/>
          <p:cNvSpPr/>
          <p:nvPr/>
        </p:nvSpPr>
        <p:spPr>
          <a:xfrm>
            <a:off x="4885849" y="4567238"/>
            <a:ext cx="7057993" cy="314325"/>
          </a:xfrm>
          <a:prstGeom prst="rect">
            <a:avLst/>
          </a:prstGeom>
          <a:noFill/>
          <a:ln/>
        </p:spPr>
        <p:txBody>
          <a:bodyPr wrap="square" lIns="25400" tIns="25400" rIns="25400" bIns="25400" rtlCol="0" anchor="t">
            <a:normAutofit/>
          </a:bodyPr>
          <a:lstStyle/>
          <a:p>
            <a:pPr algn="l" indent="0" marL="0">
              <a:buNone/>
            </a:pPr>
            <a:r>
              <a:rPr lang="en-US" sz="1875" dirty="0">
                <a:solidFill>
                  <a:srgbClr val="5F6678"/>
                </a:solidFill>
                <a:latin typeface="Arial" pitchFamily="34" charset="0"/>
                <a:ea typeface="Arial" pitchFamily="34" charset="-122"/>
                <a:cs typeface="Arial" pitchFamily="34" charset="-120"/>
              </a:rPr>
              <a:t>Commandes clients &amp; consultation franchisés</a:t>
            </a:r>
            <a:endParaRPr lang="en-US" sz="1875" dirty="0"/>
          </a:p>
        </p:txBody>
      </p:sp>
      <p:sp>
        <p:nvSpPr>
          <p:cNvPr id="24" name="Text 22"/>
          <p:cNvSpPr/>
          <p:nvPr/>
        </p:nvSpPr>
        <p:spPr>
          <a:xfrm>
            <a:off x="11530807" y="4562475"/>
            <a:ext cx="294086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1D2235"/>
                </a:solidFill>
                <a:latin typeface="Courier New" pitchFamily="34" charset="0"/>
                <a:ea typeface="Courier New" pitchFamily="34" charset="-122"/>
                <a:cs typeface="Courier New" pitchFamily="34" charset="-120"/>
              </a:rPr>
              <a:t>1 500 €</a:t>
            </a:r>
            <a:endParaRPr lang="en-US" sz="1950" dirty="0"/>
          </a:p>
        </p:txBody>
      </p:sp>
      <p:sp>
        <p:nvSpPr>
          <p:cNvPr id="25" name="Text 23"/>
          <p:cNvSpPr/>
          <p:nvPr/>
        </p:nvSpPr>
        <p:spPr>
          <a:xfrm>
            <a:off x="14432914" y="4619625"/>
            <a:ext cx="3234928" cy="209550"/>
          </a:xfrm>
          <a:prstGeom prst="rect">
            <a:avLst/>
          </a:prstGeom>
          <a:noFill/>
          <a:ln/>
        </p:spPr>
        <p:txBody>
          <a:bodyPr wrap="square" lIns="25400" tIns="25400" rIns="25400" bIns="25400" rtlCol="0" anchor="t">
            <a:normAutofit/>
          </a:bodyPr>
          <a:lstStyle/>
          <a:p>
            <a:pPr algn="l" indent="0" marL="0">
              <a:buNone/>
            </a:pPr>
            <a:r>
              <a:rPr lang="en-US" sz="1200" spc="120" kern="0" dirty="0">
                <a:solidFill>
                  <a:srgbClr val="5F6678"/>
                </a:solidFill>
                <a:latin typeface="Courier New" pitchFamily="34" charset="0"/>
                <a:ea typeface="Courier New" pitchFamily="34" charset="-122"/>
                <a:cs typeface="Courier New" pitchFamily="34" charset="-120"/>
              </a:rPr>
              <a:t>MAINTENU</a:t>
            </a:r>
            <a:endParaRPr lang="en-US" sz="1200" dirty="0"/>
          </a:p>
        </p:txBody>
      </p:sp>
      <p:sp>
        <p:nvSpPr>
          <p:cNvPr id="26" name="Shape 24"/>
          <p:cNvSpPr/>
          <p:nvPr/>
        </p:nvSpPr>
        <p:spPr>
          <a:xfrm>
            <a:off x="914400" y="5886450"/>
            <a:ext cx="16459200" cy="9525"/>
          </a:xfrm>
          <a:prstGeom prst="rect">
            <a:avLst/>
          </a:prstGeom>
          <a:solidFill>
            <a:srgbClr val="1D2235">
              <a:alpha val="10000"/>
            </a:srgbClr>
          </a:solidFill>
          <a:ln/>
        </p:spPr>
      </p:sp>
      <p:sp>
        <p:nvSpPr>
          <p:cNvPr id="27" name="Text 25"/>
          <p:cNvSpPr/>
          <p:nvPr/>
        </p:nvSpPr>
        <p:spPr>
          <a:xfrm>
            <a:off x="914400" y="5314950"/>
            <a:ext cx="4117134" cy="400050"/>
          </a:xfrm>
          <a:prstGeom prst="rect">
            <a:avLst/>
          </a:prstGeom>
          <a:noFill/>
          <a:ln/>
        </p:spPr>
        <p:txBody>
          <a:bodyPr wrap="square" lIns="25400" tIns="25400" rIns="25400" bIns="25400" rtlCol="0" anchor="t">
            <a:normAutofit/>
          </a:bodyPr>
          <a:lstStyle/>
          <a:p>
            <a:pPr algn="l" indent="0" marL="0">
              <a:buNone/>
            </a:pPr>
            <a:r>
              <a:rPr lang="en-US" sz="2550" b="1" dirty="0">
                <a:solidFill>
                  <a:srgbClr val="1D2235"/>
                </a:solidFill>
                <a:latin typeface="Georgia" pitchFamily="34" charset="0"/>
                <a:ea typeface="Georgia" pitchFamily="34" charset="-122"/>
                <a:cs typeface="Georgia" pitchFamily="34" charset="-120"/>
              </a:rPr>
              <a:t>Logistique « Je livre »</a:t>
            </a:r>
            <a:endParaRPr lang="en-US" sz="2550" dirty="0"/>
          </a:p>
        </p:txBody>
      </p:sp>
      <p:sp>
        <p:nvSpPr>
          <p:cNvPr id="28" name="Text 26"/>
          <p:cNvSpPr/>
          <p:nvPr/>
        </p:nvSpPr>
        <p:spPr>
          <a:xfrm>
            <a:off x="4885849" y="5357813"/>
            <a:ext cx="7057993" cy="314325"/>
          </a:xfrm>
          <a:prstGeom prst="rect">
            <a:avLst/>
          </a:prstGeom>
          <a:noFill/>
          <a:ln/>
        </p:spPr>
        <p:txBody>
          <a:bodyPr wrap="square" lIns="25400" tIns="25400" rIns="25400" bIns="25400" rtlCol="0" anchor="t">
            <a:normAutofit/>
          </a:bodyPr>
          <a:lstStyle/>
          <a:p>
            <a:pPr algn="l" indent="0" marL="0">
              <a:buNone/>
            </a:pPr>
            <a:r>
              <a:rPr lang="en-US" sz="1875" dirty="0">
                <a:solidFill>
                  <a:srgbClr val="5F6678"/>
                </a:solidFill>
                <a:latin typeface="Arial" pitchFamily="34" charset="0"/>
                <a:ea typeface="Arial" pitchFamily="34" charset="-122"/>
                <a:cs typeface="Arial" pitchFamily="34" charset="-120"/>
              </a:rPr>
              <a:t>Supply chain complète — limitée à la région</a:t>
            </a:r>
            <a:endParaRPr lang="en-US" sz="1875" dirty="0"/>
          </a:p>
        </p:txBody>
      </p:sp>
      <p:sp>
        <p:nvSpPr>
          <p:cNvPr id="29" name="Text 27"/>
          <p:cNvSpPr/>
          <p:nvPr/>
        </p:nvSpPr>
        <p:spPr>
          <a:xfrm>
            <a:off x="11530807" y="5353050"/>
            <a:ext cx="2940860" cy="323850"/>
          </a:xfrm>
          <a:prstGeom prst="rect">
            <a:avLst/>
          </a:prstGeom>
          <a:noFill/>
          <a:ln/>
        </p:spPr>
        <p:txBody>
          <a:bodyPr wrap="square" lIns="25400" tIns="25400" rIns="25400" bIns="25400" rtlCol="0" anchor="t">
            <a:normAutofit/>
          </a:bodyPr>
          <a:lstStyle/>
          <a:p>
            <a:pPr algn="l" indent="0" marL="0">
              <a:buNone/>
            </a:pPr>
            <a:r>
              <a:rPr lang="en-US" sz="1950" dirty="0">
                <a:solidFill>
                  <a:srgbClr val="B34A3A"/>
                </a:solidFill>
                <a:latin typeface="Courier New" pitchFamily="34" charset="0"/>
                <a:ea typeface="Courier New" pitchFamily="34" charset="-122"/>
                <a:cs typeface="Courier New" pitchFamily="34" charset="-120"/>
              </a:rPr>
              <a:t>150 000 €</a:t>
            </a:r>
            <a:endParaRPr lang="en-US" sz="1950" dirty="0"/>
          </a:p>
        </p:txBody>
      </p:sp>
      <p:sp>
        <p:nvSpPr>
          <p:cNvPr id="30" name="Text 28"/>
          <p:cNvSpPr/>
          <p:nvPr/>
        </p:nvSpPr>
        <p:spPr>
          <a:xfrm>
            <a:off x="14432914" y="5410200"/>
            <a:ext cx="3234928" cy="209550"/>
          </a:xfrm>
          <a:prstGeom prst="rect">
            <a:avLst/>
          </a:prstGeom>
          <a:noFill/>
          <a:ln/>
        </p:spPr>
        <p:txBody>
          <a:bodyPr wrap="square" lIns="25400" tIns="25400" rIns="25400" bIns="25400" rtlCol="0" anchor="t">
            <a:normAutofit/>
          </a:bodyPr>
          <a:lstStyle/>
          <a:p>
            <a:pPr algn="l" indent="0" marL="0">
              <a:buNone/>
            </a:pPr>
            <a:r>
              <a:rPr lang="en-US" sz="1200" spc="120" kern="0" dirty="0">
                <a:solidFill>
                  <a:srgbClr val="9A8A5F"/>
                </a:solidFill>
                <a:latin typeface="Courier New" pitchFamily="34" charset="0"/>
                <a:ea typeface="Courier New" pitchFamily="34" charset="-122"/>
                <a:cs typeface="Courier New" pitchFamily="34" charset="-120"/>
              </a:rPr>
              <a:t>À REVOIR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14400" y="828675"/>
            <a:ext cx="6236208"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5F6678"/>
                </a:solidFill>
                <a:latin typeface="Courier New" pitchFamily="34" charset="0"/>
                <a:ea typeface="Courier New" pitchFamily="34" charset="-122"/>
                <a:cs typeface="Courier New" pitchFamily="34" charset="-120"/>
              </a:rPr>
              <a:t>A.2 — LIMITES DE FONCTIONNEMENT</a:t>
            </a:r>
            <a:endParaRPr lang="en-US" sz="1800" dirty="0"/>
          </a:p>
        </p:txBody>
      </p:sp>
      <p:sp>
        <p:nvSpPr>
          <p:cNvPr id="3" name="Shape 1"/>
          <p:cNvSpPr/>
          <p:nvPr/>
        </p:nvSpPr>
        <p:spPr>
          <a:xfrm>
            <a:off x="16021050" y="800100"/>
            <a:ext cx="1352550" cy="314325"/>
          </a:xfrm>
          <a:prstGeom prst="roundRect">
            <a:avLst>
              <a:gd name="adj" fmla="val 50000"/>
            </a:avLst>
          </a:prstGeom>
          <a:ln w="9525">
            <a:solidFill>
              <a:srgbClr val="3F6FE6">
                <a:alpha val="45000"/>
              </a:srgbClr>
            </a:solidFill>
            <a:prstDash val="solid"/>
          </a:ln>
        </p:spPr>
      </p:sp>
      <p:sp>
        <p:nvSpPr>
          <p:cNvPr id="4" name="Text 2"/>
          <p:cNvSpPr/>
          <p:nvPr/>
        </p:nvSpPr>
        <p:spPr>
          <a:xfrm>
            <a:off x="16182975" y="876300"/>
            <a:ext cx="1104900"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3F6FE6"/>
                </a:solidFill>
                <a:latin typeface="Courier New" pitchFamily="34" charset="0"/>
                <a:ea typeface="Courier New" pitchFamily="34" charset="-122"/>
                <a:cs typeface="Courier New" pitchFamily="34" charset="-120"/>
              </a:rPr>
              <a:t>LIVRÉ · J1</a:t>
            </a:r>
            <a:endParaRPr lang="en-US" sz="1125" dirty="0"/>
          </a:p>
        </p:txBody>
      </p:sp>
      <p:sp>
        <p:nvSpPr>
          <p:cNvPr id="5" name="Text 3"/>
          <p:cNvSpPr/>
          <p:nvPr/>
        </p:nvSpPr>
        <p:spPr>
          <a:xfrm>
            <a:off x="914400" y="1285875"/>
            <a:ext cx="18105120"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57" kern="0" dirty="0">
                <a:solidFill>
                  <a:srgbClr val="1D2235"/>
                </a:solidFill>
                <a:latin typeface="Georgia" pitchFamily="34" charset="0"/>
                <a:ea typeface="Georgia" pitchFamily="34" charset="-122"/>
                <a:cs typeface="Georgia" pitchFamily="34" charset="-120"/>
              </a:rPr>
              <a:t>Ce qui freine la croissance</a:t>
            </a:r>
            <a:endParaRPr lang="en-US" sz="5700" dirty="0"/>
          </a:p>
        </p:txBody>
      </p:sp>
      <p:sp>
        <p:nvSpPr>
          <p:cNvPr id="6" name="Text 4"/>
          <p:cNvSpPr/>
          <p:nvPr/>
        </p:nvSpPr>
        <p:spPr>
          <a:xfrm>
            <a:off x="914400" y="2505075"/>
            <a:ext cx="3276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3F6FE6"/>
                </a:solidFill>
                <a:latin typeface="Courier New" pitchFamily="34" charset="0"/>
                <a:ea typeface="Courier New" pitchFamily="34" charset="-122"/>
                <a:cs typeface="Courier New" pitchFamily="34" charset="-120"/>
              </a:rPr>
              <a:t>01</a:t>
            </a:r>
            <a:endParaRPr lang="en-US" sz="1650" dirty="0"/>
          </a:p>
        </p:txBody>
      </p:sp>
      <p:sp>
        <p:nvSpPr>
          <p:cNvPr id="7" name="Text 5"/>
          <p:cNvSpPr/>
          <p:nvPr/>
        </p:nvSpPr>
        <p:spPr>
          <a:xfrm>
            <a:off x="1394460" y="2428875"/>
            <a:ext cx="8189214" cy="436245"/>
          </a:xfrm>
          <a:prstGeom prst="rect">
            <a:avLst/>
          </a:prstGeom>
          <a:noFill/>
          <a:ln/>
        </p:spPr>
        <p:txBody>
          <a:bodyPr wrap="square" lIns="25400" tIns="25400" rIns="25400" bIns="25400" rtlCol="0" anchor="t">
            <a:normAutofit/>
          </a:bodyPr>
          <a:lstStyle/>
          <a:p>
            <a:pPr algn="l" indent="0" marL="0">
              <a:lnSpc>
                <a:spcPct val="110000"/>
              </a:lnSpc>
              <a:buNone/>
            </a:pPr>
            <a:r>
              <a:rPr lang="en-US" sz="2850" b="1" dirty="0">
                <a:solidFill>
                  <a:srgbClr val="1D2235"/>
                </a:solidFill>
                <a:latin typeface="Georgia" pitchFamily="34" charset="0"/>
                <a:ea typeface="Georgia" pitchFamily="34" charset="-122"/>
                <a:cs typeface="Georgia" pitchFamily="34" charset="-120"/>
              </a:rPr>
              <a:t>Remontée des ventes en batch</a:t>
            </a:r>
            <a:endParaRPr lang="en-US" sz="2850" dirty="0"/>
          </a:p>
        </p:txBody>
      </p:sp>
      <p:sp>
        <p:nvSpPr>
          <p:cNvPr id="8" name="Text 6"/>
          <p:cNvSpPr/>
          <p:nvPr/>
        </p:nvSpPr>
        <p:spPr>
          <a:xfrm>
            <a:off x="1394460" y="2903220"/>
            <a:ext cx="7668082" cy="70485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5F6678"/>
                </a:solidFill>
                <a:latin typeface="Arial" pitchFamily="34" charset="0"/>
                <a:ea typeface="Arial" pitchFamily="34" charset="-122"/>
                <a:cs typeface="Arial" pitchFamily="34" charset="-120"/>
              </a:rPr>
              <a:t>Encaissements transmis à l'ERP le soir après fermeture — aucun pilotage temps réel.</a:t>
            </a:r>
            <a:endParaRPr lang="en-US" sz="1875" dirty="0"/>
          </a:p>
        </p:txBody>
      </p:sp>
      <p:sp>
        <p:nvSpPr>
          <p:cNvPr id="9" name="Text 7"/>
          <p:cNvSpPr/>
          <p:nvPr/>
        </p:nvSpPr>
        <p:spPr>
          <a:xfrm>
            <a:off x="9448800" y="2505075"/>
            <a:ext cx="3276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3F6FE6"/>
                </a:solidFill>
                <a:latin typeface="Courier New" pitchFamily="34" charset="0"/>
                <a:ea typeface="Courier New" pitchFamily="34" charset="-122"/>
                <a:cs typeface="Courier New" pitchFamily="34" charset="-120"/>
              </a:rPr>
              <a:t>02</a:t>
            </a:r>
            <a:endParaRPr lang="en-US" sz="1650" dirty="0"/>
          </a:p>
        </p:txBody>
      </p:sp>
      <p:sp>
        <p:nvSpPr>
          <p:cNvPr id="10" name="Text 8"/>
          <p:cNvSpPr/>
          <p:nvPr/>
        </p:nvSpPr>
        <p:spPr>
          <a:xfrm>
            <a:off x="9928860" y="2428875"/>
            <a:ext cx="8189214" cy="436245"/>
          </a:xfrm>
          <a:prstGeom prst="rect">
            <a:avLst/>
          </a:prstGeom>
          <a:noFill/>
          <a:ln/>
        </p:spPr>
        <p:txBody>
          <a:bodyPr wrap="square" lIns="25400" tIns="25400" rIns="25400" bIns="25400" rtlCol="0" anchor="t">
            <a:normAutofit/>
          </a:bodyPr>
          <a:lstStyle/>
          <a:p>
            <a:pPr algn="l" indent="0" marL="0">
              <a:lnSpc>
                <a:spcPct val="110000"/>
              </a:lnSpc>
              <a:buNone/>
            </a:pPr>
            <a:r>
              <a:rPr lang="en-US" sz="2850" b="1" dirty="0">
                <a:solidFill>
                  <a:srgbClr val="1D2235"/>
                </a:solidFill>
                <a:latin typeface="Georgia" pitchFamily="34" charset="0"/>
                <a:ea typeface="Georgia" pitchFamily="34" charset="-122"/>
                <a:cs typeface="Georgia" pitchFamily="34" charset="-120"/>
              </a:rPr>
              <a:t>Click &amp; collect contraint à 3 h</a:t>
            </a:r>
            <a:endParaRPr lang="en-US" sz="2850" dirty="0"/>
          </a:p>
        </p:txBody>
      </p:sp>
      <p:sp>
        <p:nvSpPr>
          <p:cNvPr id="11" name="Text 9"/>
          <p:cNvSpPr/>
          <p:nvPr/>
        </p:nvSpPr>
        <p:spPr>
          <a:xfrm>
            <a:off x="9928860" y="2903220"/>
            <a:ext cx="7668082" cy="70485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5F6678"/>
                </a:solidFill>
                <a:latin typeface="Arial" pitchFamily="34" charset="0"/>
                <a:ea typeface="Arial" pitchFamily="34" charset="-122"/>
                <a:cs typeface="Arial" pitchFamily="34" charset="-120"/>
              </a:rPr>
              <a:t>Délai minimum qui bride les ventes du déjeuner (≈ 10 % du CA franchisé).</a:t>
            </a:r>
            <a:endParaRPr lang="en-US" sz="1875" dirty="0"/>
          </a:p>
        </p:txBody>
      </p:sp>
      <p:sp>
        <p:nvSpPr>
          <p:cNvPr id="12" name="Text 10"/>
          <p:cNvSpPr/>
          <p:nvPr/>
        </p:nvSpPr>
        <p:spPr>
          <a:xfrm>
            <a:off x="914400" y="3912870"/>
            <a:ext cx="3276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3F6FE6"/>
                </a:solidFill>
                <a:latin typeface="Courier New" pitchFamily="34" charset="0"/>
                <a:ea typeface="Courier New" pitchFamily="34" charset="-122"/>
                <a:cs typeface="Courier New" pitchFamily="34" charset="-120"/>
              </a:rPr>
              <a:t>03</a:t>
            </a:r>
            <a:endParaRPr lang="en-US" sz="1650" dirty="0"/>
          </a:p>
        </p:txBody>
      </p:sp>
      <p:sp>
        <p:nvSpPr>
          <p:cNvPr id="13" name="Text 11"/>
          <p:cNvSpPr/>
          <p:nvPr/>
        </p:nvSpPr>
        <p:spPr>
          <a:xfrm>
            <a:off x="1394460" y="3836670"/>
            <a:ext cx="8189214" cy="436245"/>
          </a:xfrm>
          <a:prstGeom prst="rect">
            <a:avLst/>
          </a:prstGeom>
          <a:noFill/>
          <a:ln/>
        </p:spPr>
        <p:txBody>
          <a:bodyPr wrap="square" lIns="25400" tIns="25400" rIns="25400" bIns="25400" rtlCol="0" anchor="t">
            <a:normAutofit/>
          </a:bodyPr>
          <a:lstStyle/>
          <a:p>
            <a:pPr algn="l" indent="0" marL="0">
              <a:lnSpc>
                <a:spcPct val="110000"/>
              </a:lnSpc>
              <a:buNone/>
            </a:pPr>
            <a:r>
              <a:rPr lang="en-US" sz="2850" b="1" dirty="0">
                <a:solidFill>
                  <a:srgbClr val="1D2235"/>
                </a:solidFill>
                <a:latin typeface="Georgia" pitchFamily="34" charset="0"/>
                <a:ea typeface="Georgia" pitchFamily="34" charset="-122"/>
                <a:cs typeface="Georgia" pitchFamily="34" charset="-120"/>
              </a:rPr>
              <a:t>Pas de livraison de proximité</a:t>
            </a:r>
            <a:endParaRPr lang="en-US" sz="2850" dirty="0"/>
          </a:p>
        </p:txBody>
      </p:sp>
      <p:sp>
        <p:nvSpPr>
          <p:cNvPr id="14" name="Text 12"/>
          <p:cNvSpPr/>
          <p:nvPr/>
        </p:nvSpPr>
        <p:spPr>
          <a:xfrm>
            <a:off x="1394460" y="4311015"/>
            <a:ext cx="7668082" cy="70485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5F6678"/>
                </a:solidFill>
                <a:latin typeface="Arial" pitchFamily="34" charset="0"/>
                <a:ea typeface="Arial" pitchFamily="34" charset="-122"/>
                <a:cs typeface="Arial" pitchFamily="34" charset="-120"/>
              </a:rPr>
              <a:t>Livraison réservée aux commandes &gt; 10 personnes, le week-end uniquement.</a:t>
            </a:r>
            <a:endParaRPr lang="en-US" sz="1875" dirty="0"/>
          </a:p>
        </p:txBody>
      </p:sp>
      <p:sp>
        <p:nvSpPr>
          <p:cNvPr id="15" name="Text 13"/>
          <p:cNvSpPr/>
          <p:nvPr/>
        </p:nvSpPr>
        <p:spPr>
          <a:xfrm>
            <a:off x="9448800" y="3912870"/>
            <a:ext cx="327660" cy="276225"/>
          </a:xfrm>
          <a:prstGeom prst="rect">
            <a:avLst/>
          </a:prstGeom>
          <a:noFill/>
          <a:ln/>
        </p:spPr>
        <p:txBody>
          <a:bodyPr wrap="square" lIns="25400" tIns="25400" rIns="25400" bIns="25400" rtlCol="0" anchor="t">
            <a:normAutofit/>
          </a:bodyPr>
          <a:lstStyle/>
          <a:p>
            <a:pPr algn="l" indent="0" marL="0">
              <a:buNone/>
            </a:pPr>
            <a:r>
              <a:rPr lang="en-US" sz="1650" dirty="0">
                <a:solidFill>
                  <a:srgbClr val="3F6FE6"/>
                </a:solidFill>
                <a:latin typeface="Courier New" pitchFamily="34" charset="0"/>
                <a:ea typeface="Courier New" pitchFamily="34" charset="-122"/>
                <a:cs typeface="Courier New" pitchFamily="34" charset="-120"/>
              </a:rPr>
              <a:t>04</a:t>
            </a:r>
            <a:endParaRPr lang="en-US" sz="1650" dirty="0"/>
          </a:p>
        </p:txBody>
      </p:sp>
      <p:sp>
        <p:nvSpPr>
          <p:cNvPr id="16" name="Text 14"/>
          <p:cNvSpPr/>
          <p:nvPr/>
        </p:nvSpPr>
        <p:spPr>
          <a:xfrm>
            <a:off x="9928860" y="3836670"/>
            <a:ext cx="8189214" cy="436245"/>
          </a:xfrm>
          <a:prstGeom prst="rect">
            <a:avLst/>
          </a:prstGeom>
          <a:noFill/>
          <a:ln/>
        </p:spPr>
        <p:txBody>
          <a:bodyPr wrap="square" lIns="25400" tIns="25400" rIns="25400" bIns="25400" rtlCol="0" anchor="t">
            <a:normAutofit/>
          </a:bodyPr>
          <a:lstStyle/>
          <a:p>
            <a:pPr algn="l" indent="0" marL="0">
              <a:lnSpc>
                <a:spcPct val="110000"/>
              </a:lnSpc>
              <a:buNone/>
            </a:pPr>
            <a:r>
              <a:rPr lang="en-US" sz="2850" b="1" dirty="0">
                <a:solidFill>
                  <a:srgbClr val="1D2235"/>
                </a:solidFill>
                <a:latin typeface="Georgia" pitchFamily="34" charset="0"/>
                <a:ea typeface="Georgia" pitchFamily="34" charset="-122"/>
                <a:cs typeface="Georgia" pitchFamily="34" charset="-120"/>
              </a:rPr>
              <a:t>Deux dépendances critiques</a:t>
            </a:r>
            <a:endParaRPr lang="en-US" sz="2850" dirty="0"/>
          </a:p>
        </p:txBody>
      </p:sp>
      <p:sp>
        <p:nvSpPr>
          <p:cNvPr id="17" name="Text 15"/>
          <p:cNvSpPr/>
          <p:nvPr/>
        </p:nvSpPr>
        <p:spPr>
          <a:xfrm>
            <a:off x="9928860" y="4311015"/>
            <a:ext cx="7668082" cy="70485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5F6678"/>
                </a:solidFill>
                <a:latin typeface="Arial" pitchFamily="34" charset="0"/>
                <a:ea typeface="Arial" pitchFamily="34" charset="-122"/>
                <a:cs typeface="Arial" pitchFamily="34" charset="-120"/>
              </a:rPr>
              <a:t>ERP d'un éditeur stagnant et logisticien mono-régional, sans antenne hors zone.</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14400" y="828675"/>
            <a:ext cx="6638544"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5F6678"/>
                </a:solidFill>
                <a:latin typeface="Courier New" pitchFamily="34" charset="0"/>
                <a:ea typeface="Courier New" pitchFamily="34" charset="-122"/>
                <a:cs typeface="Courier New" pitchFamily="34" charset="-120"/>
              </a:rPr>
              <a:t>A.3 — PARTIES PRENANTES &amp; BESOINS</a:t>
            </a:r>
            <a:endParaRPr lang="en-US" sz="1800" dirty="0"/>
          </a:p>
        </p:txBody>
      </p:sp>
      <p:sp>
        <p:nvSpPr>
          <p:cNvPr id="3" name="Shape 1"/>
          <p:cNvSpPr/>
          <p:nvPr/>
        </p:nvSpPr>
        <p:spPr>
          <a:xfrm>
            <a:off x="16021050" y="800100"/>
            <a:ext cx="1352550" cy="314325"/>
          </a:xfrm>
          <a:prstGeom prst="roundRect">
            <a:avLst>
              <a:gd name="adj" fmla="val 50000"/>
            </a:avLst>
          </a:prstGeom>
          <a:ln w="9525">
            <a:solidFill>
              <a:srgbClr val="3F6FE6">
                <a:alpha val="45000"/>
              </a:srgbClr>
            </a:solidFill>
            <a:prstDash val="solid"/>
          </a:ln>
        </p:spPr>
      </p:sp>
      <p:sp>
        <p:nvSpPr>
          <p:cNvPr id="4" name="Text 2"/>
          <p:cNvSpPr/>
          <p:nvPr/>
        </p:nvSpPr>
        <p:spPr>
          <a:xfrm>
            <a:off x="16182975" y="876300"/>
            <a:ext cx="1104900"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3F6FE6"/>
                </a:solidFill>
                <a:latin typeface="Courier New" pitchFamily="34" charset="0"/>
                <a:ea typeface="Courier New" pitchFamily="34" charset="-122"/>
                <a:cs typeface="Courier New" pitchFamily="34" charset="-120"/>
              </a:rPr>
              <a:t>LIVRÉ · J1</a:t>
            </a:r>
            <a:endParaRPr lang="en-US" sz="1125" dirty="0"/>
          </a:p>
        </p:txBody>
      </p:sp>
      <p:sp>
        <p:nvSpPr>
          <p:cNvPr id="5" name="Text 3"/>
          <p:cNvSpPr/>
          <p:nvPr/>
        </p:nvSpPr>
        <p:spPr>
          <a:xfrm>
            <a:off x="914400" y="1285875"/>
            <a:ext cx="18105120"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57" kern="0" dirty="0">
                <a:solidFill>
                  <a:srgbClr val="1D2235"/>
                </a:solidFill>
                <a:latin typeface="Georgia" pitchFamily="34" charset="0"/>
                <a:ea typeface="Georgia" pitchFamily="34" charset="-122"/>
                <a:cs typeface="Georgia" pitchFamily="34" charset="-120"/>
              </a:rPr>
              <a:t>Qui attend quoi du SI</a:t>
            </a:r>
            <a:endParaRPr lang="en-US" sz="5700" dirty="0"/>
          </a:p>
        </p:txBody>
      </p:sp>
      <p:sp>
        <p:nvSpPr>
          <p:cNvPr id="6" name="Shape 4"/>
          <p:cNvSpPr/>
          <p:nvPr/>
        </p:nvSpPr>
        <p:spPr>
          <a:xfrm>
            <a:off x="914400" y="2428875"/>
            <a:ext cx="5283200" cy="7058025"/>
          </a:xfrm>
          <a:prstGeom prst="roundRect">
            <a:avLst>
              <a:gd name="adj" fmla="val 1082"/>
            </a:avLst>
          </a:prstGeom>
          <a:solidFill>
            <a:srgbClr val="FFFFFF"/>
          </a:solidFill>
          <a:ln w="9525">
            <a:solidFill>
              <a:srgbClr val="1D2235">
                <a:alpha val="12000"/>
              </a:srgbClr>
            </a:solidFill>
            <a:prstDash val="solid"/>
          </a:ln>
        </p:spPr>
      </p:sp>
      <p:sp>
        <p:nvSpPr>
          <p:cNvPr id="7" name="Text 5"/>
          <p:cNvSpPr/>
          <p:nvPr/>
        </p:nvSpPr>
        <p:spPr>
          <a:xfrm>
            <a:off x="1247775" y="2800350"/>
            <a:ext cx="5078095"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3F6FE6"/>
                </a:solidFill>
                <a:latin typeface="Courier New" pitchFamily="34" charset="0"/>
                <a:ea typeface="Courier New" pitchFamily="34" charset="-122"/>
                <a:cs typeface="Courier New" pitchFamily="34" charset="-120"/>
              </a:rPr>
              <a:t>SIÈGE</a:t>
            </a:r>
            <a:endParaRPr lang="en-US" sz="1200" dirty="0"/>
          </a:p>
        </p:txBody>
      </p:sp>
      <p:sp>
        <p:nvSpPr>
          <p:cNvPr id="8" name="Text 6"/>
          <p:cNvSpPr/>
          <p:nvPr/>
        </p:nvSpPr>
        <p:spPr>
          <a:xfrm>
            <a:off x="1247775" y="3143250"/>
            <a:ext cx="5078095"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dirty="0">
                <a:solidFill>
                  <a:srgbClr val="1D2235"/>
                </a:solidFill>
                <a:latin typeface="Georgia" pitchFamily="34" charset="0"/>
                <a:ea typeface="Georgia" pitchFamily="34" charset="-122"/>
                <a:cs typeface="Georgia" pitchFamily="34" charset="-120"/>
              </a:rPr>
              <a:t>Pilotage &amp; support</a:t>
            </a:r>
            <a:endParaRPr lang="en-US" sz="3000" dirty="0"/>
          </a:p>
        </p:txBody>
      </p:sp>
      <p:sp>
        <p:nvSpPr>
          <p:cNvPr id="9" name="Text 7"/>
          <p:cNvSpPr/>
          <p:nvPr/>
        </p:nvSpPr>
        <p:spPr>
          <a:xfrm>
            <a:off x="1316355" y="3714750"/>
            <a:ext cx="4624070" cy="2057400"/>
          </a:xfrm>
          <a:prstGeom prst="rect">
            <a:avLst/>
          </a:prstGeom>
          <a:noFill/>
          <a:ln/>
        </p:spPr>
        <p:txBody>
          <a:bodyPr wrap="square" lIns="25400" tIns="25400" rIns="25400" bIns="25400" rtlCol="0" anchor="t">
            <a:normAutofit/>
          </a:bodyPr>
          <a:lstStyle/>
          <a:p>
            <a:pPr algn="l" marL="160020" indent="-160020">
              <a:lnSpc>
                <a:spcPct val="150000"/>
              </a:lnSpc>
              <a:buSzPct val="100000"/>
              <a:buChar char="•"/>
              <a:tabLst>
                <a:tab pos="160020" algn="l"/>
              </a:tabLst>
            </a:pPr>
            <a:r>
              <a:rPr lang="en-US" sz="1800" dirty="0">
                <a:solidFill>
                  <a:srgbClr val="5F6678"/>
                </a:solidFill>
                <a:latin typeface="Arial" pitchFamily="34" charset="0"/>
                <a:ea typeface="Arial" pitchFamily="34" charset="-122"/>
                <a:cs typeface="Arial" pitchFamily="34" charset="-120"/>
              </a:rPr>
              <a:t>Tableaux de bord consolidés, vision temps réel</a:t>
            </a:r>
            <a:endParaRPr lang="en-US" sz="1800" dirty="0"/>
          </a:p>
          <a:p>
            <a:pPr algn="l" marL="160020" indent="-160020">
              <a:lnSpc>
                <a:spcPct val="150000"/>
              </a:lnSpc>
              <a:buSzPct val="100000"/>
              <a:buChar char="•"/>
              <a:tabLst>
                <a:tab pos="160020" algn="l"/>
              </a:tabLst>
            </a:pPr>
            <a:r>
              <a:rPr lang="en-US" sz="1800" dirty="0">
                <a:solidFill>
                  <a:srgbClr val="5F6678"/>
                </a:solidFill>
                <a:latin typeface="Arial" pitchFamily="34" charset="0"/>
                <a:ea typeface="Arial" pitchFamily="34" charset="-122"/>
                <a:cs typeface="Arial" pitchFamily="34" charset="-120"/>
              </a:rPr>
              <a:t>Facturation franchisés (futur 8 % du CA)</a:t>
            </a:r>
            <a:endParaRPr lang="en-US" sz="1800" dirty="0"/>
          </a:p>
          <a:p>
            <a:pPr algn="l" marL="160020" indent="-160020">
              <a:lnSpc>
                <a:spcPct val="150000"/>
              </a:lnSpc>
              <a:buSzPct val="100000"/>
              <a:buChar char="•"/>
              <a:tabLst>
                <a:tab pos="160020" algn="l"/>
              </a:tabLst>
            </a:pPr>
            <a:r>
              <a:rPr lang="en-US" sz="1800" dirty="0">
                <a:solidFill>
                  <a:srgbClr val="5F6678"/>
                </a:solidFill>
                <a:latin typeface="Arial" pitchFamily="34" charset="0"/>
                <a:ea typeface="Arial" pitchFamily="34" charset="-122"/>
                <a:cs typeface="Arial" pitchFamily="34" charset="-120"/>
              </a:rPr>
              <a:t>Sourcing producteurs locaux multi-régions</a:t>
            </a:r>
            <a:endParaRPr lang="en-US" sz="1800" dirty="0"/>
          </a:p>
          <a:p>
            <a:pPr algn="l" marL="160020" indent="-160020">
              <a:lnSpc>
                <a:spcPct val="150000"/>
              </a:lnSpc>
              <a:buSzPct val="100000"/>
              <a:buChar char="•"/>
              <a:tabLst>
                <a:tab pos="160020" algn="l"/>
              </a:tabLst>
            </a:pPr>
            <a:r>
              <a:rPr lang="en-US" sz="1800" dirty="0">
                <a:solidFill>
                  <a:srgbClr val="5F6678"/>
                </a:solidFill>
                <a:latin typeface="Arial" pitchFamily="34" charset="0"/>
                <a:ea typeface="Arial" pitchFamily="34" charset="-122"/>
                <a:cs typeface="Arial" pitchFamily="34" charset="-120"/>
              </a:rPr>
              <a:t>Onboarding SI des nouveaux franchisés</a:t>
            </a:r>
            <a:endParaRPr lang="en-US" sz="1800" dirty="0"/>
          </a:p>
        </p:txBody>
      </p:sp>
      <p:sp>
        <p:nvSpPr>
          <p:cNvPr id="10" name="Shape 8"/>
          <p:cNvSpPr/>
          <p:nvPr/>
        </p:nvSpPr>
        <p:spPr>
          <a:xfrm>
            <a:off x="6502400" y="2428875"/>
            <a:ext cx="5283200" cy="7058025"/>
          </a:xfrm>
          <a:prstGeom prst="roundRect">
            <a:avLst>
              <a:gd name="adj" fmla="val 1082"/>
            </a:avLst>
          </a:prstGeom>
          <a:solidFill>
            <a:srgbClr val="FFFFFF"/>
          </a:solidFill>
          <a:ln w="9525">
            <a:solidFill>
              <a:srgbClr val="1D2235">
                <a:alpha val="12000"/>
              </a:srgbClr>
            </a:solidFill>
            <a:prstDash val="solid"/>
          </a:ln>
        </p:spPr>
      </p:sp>
      <p:sp>
        <p:nvSpPr>
          <p:cNvPr id="11" name="Text 9"/>
          <p:cNvSpPr/>
          <p:nvPr/>
        </p:nvSpPr>
        <p:spPr>
          <a:xfrm>
            <a:off x="6835775" y="2800350"/>
            <a:ext cx="5078095"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3F6FE6"/>
                </a:solidFill>
                <a:latin typeface="Courier New" pitchFamily="34" charset="0"/>
                <a:ea typeface="Courier New" pitchFamily="34" charset="-122"/>
                <a:cs typeface="Courier New" pitchFamily="34" charset="-120"/>
              </a:rPr>
              <a:t>RÉSEAU</a:t>
            </a:r>
            <a:endParaRPr lang="en-US" sz="1200" dirty="0"/>
          </a:p>
        </p:txBody>
      </p:sp>
      <p:sp>
        <p:nvSpPr>
          <p:cNvPr id="12" name="Text 10"/>
          <p:cNvSpPr/>
          <p:nvPr/>
        </p:nvSpPr>
        <p:spPr>
          <a:xfrm>
            <a:off x="6835775" y="3143250"/>
            <a:ext cx="5078095"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dirty="0">
                <a:solidFill>
                  <a:srgbClr val="1D2235"/>
                </a:solidFill>
                <a:latin typeface="Georgia" pitchFamily="34" charset="0"/>
                <a:ea typeface="Georgia" pitchFamily="34" charset="-122"/>
                <a:cs typeface="Georgia" pitchFamily="34" charset="-120"/>
              </a:rPr>
              <a:t>Franchisés &amp; équipes</a:t>
            </a:r>
            <a:endParaRPr lang="en-US" sz="3000" dirty="0"/>
          </a:p>
        </p:txBody>
      </p:sp>
      <p:sp>
        <p:nvSpPr>
          <p:cNvPr id="13" name="Text 11"/>
          <p:cNvSpPr/>
          <p:nvPr/>
        </p:nvSpPr>
        <p:spPr>
          <a:xfrm>
            <a:off x="6904355" y="3714750"/>
            <a:ext cx="4624070" cy="2057400"/>
          </a:xfrm>
          <a:prstGeom prst="rect">
            <a:avLst/>
          </a:prstGeom>
          <a:noFill/>
          <a:ln/>
        </p:spPr>
        <p:txBody>
          <a:bodyPr wrap="square" lIns="25400" tIns="25400" rIns="25400" bIns="25400" rtlCol="0" anchor="t">
            <a:normAutofit/>
          </a:bodyPr>
          <a:lstStyle/>
          <a:p>
            <a:pPr algn="l" marL="160020" indent="-160020">
              <a:lnSpc>
                <a:spcPct val="150000"/>
              </a:lnSpc>
              <a:buSzPct val="100000"/>
              <a:buChar char="•"/>
              <a:tabLst>
                <a:tab pos="160020" algn="l"/>
              </a:tabLst>
            </a:pPr>
            <a:r>
              <a:rPr lang="en-US" sz="1800" dirty="0">
                <a:solidFill>
                  <a:srgbClr val="5F6678"/>
                </a:solidFill>
                <a:latin typeface="Arial" pitchFamily="34" charset="0"/>
                <a:ea typeface="Arial" pitchFamily="34" charset="-122"/>
                <a:cs typeface="Arial" pitchFamily="34" charset="-120"/>
              </a:rPr>
              <a:t>Consultation des commandes en temps réel</a:t>
            </a:r>
            <a:endParaRPr lang="en-US" sz="1800" dirty="0"/>
          </a:p>
          <a:p>
            <a:pPr algn="l" marL="160020" indent="-160020">
              <a:lnSpc>
                <a:spcPct val="150000"/>
              </a:lnSpc>
              <a:buSzPct val="100000"/>
              <a:buChar char="•"/>
              <a:tabLst>
                <a:tab pos="160020" algn="l"/>
              </a:tabLst>
            </a:pPr>
            <a:r>
              <a:rPr lang="en-US" sz="1800" dirty="0">
                <a:solidFill>
                  <a:srgbClr val="5F6678"/>
                </a:solidFill>
                <a:latin typeface="Arial" pitchFamily="34" charset="0"/>
                <a:ea typeface="Arial" pitchFamily="34" charset="-122"/>
                <a:cs typeface="Arial" pitchFamily="34" charset="-120"/>
              </a:rPr>
              <a:t>Caisse fiable, click &amp; collect, livraison</a:t>
            </a:r>
            <a:endParaRPr lang="en-US" sz="1800" dirty="0"/>
          </a:p>
          <a:p>
            <a:pPr algn="l" marL="160020" indent="-160020">
              <a:lnSpc>
                <a:spcPct val="150000"/>
              </a:lnSpc>
              <a:buSzPct val="100000"/>
              <a:buChar char="•"/>
              <a:tabLst>
                <a:tab pos="160020" algn="l"/>
              </a:tabLst>
            </a:pPr>
            <a:r>
              <a:rPr lang="en-US" sz="1800" dirty="0">
                <a:solidFill>
                  <a:srgbClr val="5F6678"/>
                </a:solidFill>
                <a:latin typeface="Arial" pitchFamily="34" charset="0"/>
                <a:ea typeface="Arial" pitchFamily="34" charset="-122"/>
                <a:cs typeface="Arial" pitchFamily="34" charset="-120"/>
              </a:rPr>
              <a:t>Outils simples pour le flux du déjeuner</a:t>
            </a:r>
            <a:endParaRPr lang="en-US" sz="1800" dirty="0"/>
          </a:p>
          <a:p>
            <a:pPr algn="l" marL="160020" indent="-160020">
              <a:lnSpc>
                <a:spcPct val="150000"/>
              </a:lnSpc>
              <a:buSzPct val="100000"/>
              <a:buChar char="•"/>
              <a:tabLst>
                <a:tab pos="160020" algn="l"/>
              </a:tabLst>
            </a:pPr>
            <a:r>
              <a:rPr lang="en-US" sz="1800" dirty="0">
                <a:solidFill>
                  <a:srgbClr val="5F6678"/>
                </a:solidFill>
                <a:latin typeface="Arial" pitchFamily="34" charset="0"/>
                <a:ea typeface="Arial" pitchFamily="34" charset="-122"/>
                <a:cs typeface="Arial" pitchFamily="34" charset="-120"/>
              </a:rPr>
              <a:t>Support et conduite du changement</a:t>
            </a:r>
            <a:endParaRPr lang="en-US" sz="1800" dirty="0"/>
          </a:p>
        </p:txBody>
      </p:sp>
      <p:sp>
        <p:nvSpPr>
          <p:cNvPr id="14" name="Shape 12"/>
          <p:cNvSpPr/>
          <p:nvPr/>
        </p:nvSpPr>
        <p:spPr>
          <a:xfrm>
            <a:off x="12090400" y="2428875"/>
            <a:ext cx="5283200" cy="7058025"/>
          </a:xfrm>
          <a:prstGeom prst="roundRect">
            <a:avLst>
              <a:gd name="adj" fmla="val 1082"/>
            </a:avLst>
          </a:prstGeom>
          <a:solidFill>
            <a:srgbClr val="14182A"/>
          </a:solidFill>
          <a:ln/>
        </p:spPr>
      </p:sp>
      <p:sp>
        <p:nvSpPr>
          <p:cNvPr id="15" name="Text 13"/>
          <p:cNvSpPr/>
          <p:nvPr/>
        </p:nvSpPr>
        <p:spPr>
          <a:xfrm>
            <a:off x="12414250" y="2790825"/>
            <a:ext cx="5099050"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7E9BFF"/>
                </a:solidFill>
                <a:latin typeface="Courier New" pitchFamily="34" charset="0"/>
                <a:ea typeface="Courier New" pitchFamily="34" charset="-122"/>
                <a:cs typeface="Courier New" pitchFamily="34" charset="-120"/>
              </a:rPr>
              <a:t>EXTERNES</a:t>
            </a:r>
            <a:endParaRPr lang="en-US" sz="1200" dirty="0"/>
          </a:p>
        </p:txBody>
      </p:sp>
      <p:sp>
        <p:nvSpPr>
          <p:cNvPr id="16" name="Text 14"/>
          <p:cNvSpPr/>
          <p:nvPr/>
        </p:nvSpPr>
        <p:spPr>
          <a:xfrm>
            <a:off x="12414250" y="3133725"/>
            <a:ext cx="5099050" cy="438150"/>
          </a:xfrm>
          <a:prstGeom prst="rect">
            <a:avLst/>
          </a:prstGeom>
          <a:noFill/>
          <a:ln/>
        </p:spPr>
        <p:txBody>
          <a:bodyPr wrap="square" lIns="25400" tIns="25400" rIns="25400" bIns="25400" rtlCol="0" anchor="t">
            <a:normAutofit/>
          </a:bodyPr>
          <a:lstStyle/>
          <a:p>
            <a:pPr algn="l" indent="0" marL="0">
              <a:lnSpc>
                <a:spcPct val="105000"/>
              </a:lnSpc>
              <a:buNone/>
            </a:pPr>
            <a:r>
              <a:rPr lang="en-US" sz="3000" b="1" dirty="0">
                <a:solidFill>
                  <a:srgbClr val="F5F2EA"/>
                </a:solidFill>
                <a:latin typeface="Georgia" pitchFamily="34" charset="0"/>
                <a:ea typeface="Georgia" pitchFamily="34" charset="-122"/>
                <a:cs typeface="Georgia" pitchFamily="34" charset="-120"/>
              </a:rPr>
              <a:t>Clients &amp; partenaires</a:t>
            </a:r>
            <a:endParaRPr lang="en-US" sz="3000" dirty="0"/>
          </a:p>
        </p:txBody>
      </p:sp>
      <p:sp>
        <p:nvSpPr>
          <p:cNvPr id="17" name="Text 15"/>
          <p:cNvSpPr/>
          <p:nvPr/>
        </p:nvSpPr>
        <p:spPr>
          <a:xfrm>
            <a:off x="12482830" y="3705225"/>
            <a:ext cx="4643120" cy="2057400"/>
          </a:xfrm>
          <a:prstGeom prst="rect">
            <a:avLst/>
          </a:prstGeom>
          <a:noFill/>
          <a:ln/>
        </p:spPr>
        <p:txBody>
          <a:bodyPr wrap="square" lIns="25400" tIns="25400" rIns="25400" bIns="25400" rtlCol="0" anchor="t">
            <a:normAutofit/>
          </a:bodyPr>
          <a:lstStyle/>
          <a:p>
            <a:pPr algn="l" marL="160020" indent="-160020">
              <a:lnSpc>
                <a:spcPct val="150000"/>
              </a:lnSpc>
              <a:buSzPct val="100000"/>
              <a:buChar char="•"/>
              <a:tabLst>
                <a:tab pos="160020" algn="l"/>
              </a:tabLst>
            </a:pPr>
            <a:r>
              <a:rPr lang="en-US" sz="1800" dirty="0">
                <a:solidFill>
                  <a:srgbClr val="C7CBDB"/>
                </a:solidFill>
                <a:latin typeface="Arial" pitchFamily="34" charset="0"/>
                <a:ea typeface="Arial" pitchFamily="34" charset="-122"/>
                <a:cs typeface="Arial" pitchFamily="34" charset="-120"/>
              </a:rPr>
              <a:t>Parcours fluide web / app / téléphone</a:t>
            </a:r>
            <a:endParaRPr lang="en-US" sz="1800" dirty="0"/>
          </a:p>
          <a:p>
            <a:pPr algn="l" marL="160020" indent="-160020">
              <a:lnSpc>
                <a:spcPct val="150000"/>
              </a:lnSpc>
              <a:buSzPct val="100000"/>
              <a:buChar char="•"/>
              <a:tabLst>
                <a:tab pos="160020" algn="l"/>
              </a:tabLst>
            </a:pPr>
            <a:r>
              <a:rPr lang="en-US" sz="1800" dirty="0">
                <a:solidFill>
                  <a:srgbClr val="C7CBDB"/>
                </a:solidFill>
                <a:latin typeface="Arial" pitchFamily="34" charset="0"/>
                <a:ea typeface="Arial" pitchFamily="34" charset="-122"/>
                <a:cs typeface="Arial" pitchFamily="34" charset="-120"/>
              </a:rPr>
              <a:t>Click &amp; collect rapide, livraison à domicile</a:t>
            </a:r>
            <a:endParaRPr lang="en-US" sz="1800" dirty="0"/>
          </a:p>
          <a:p>
            <a:pPr algn="l" marL="160020" indent="-160020">
              <a:lnSpc>
                <a:spcPct val="150000"/>
              </a:lnSpc>
              <a:buSzPct val="100000"/>
              <a:buChar char="•"/>
              <a:tabLst>
                <a:tab pos="160020" algn="l"/>
              </a:tabLst>
            </a:pPr>
            <a:r>
              <a:rPr lang="en-US" sz="1800" dirty="0">
                <a:solidFill>
                  <a:srgbClr val="C7CBDB"/>
                </a:solidFill>
                <a:latin typeface="Arial" pitchFamily="34" charset="0"/>
                <a:ea typeface="Arial" pitchFamily="34" charset="-122"/>
                <a:cs typeface="Arial" pitchFamily="34" charset="-120"/>
              </a:rPr>
              <a:t>« Je livre » : pas d'antenne hors région</a:t>
            </a:r>
            <a:endParaRPr lang="en-US" sz="1800" dirty="0"/>
          </a:p>
          <a:p>
            <a:pPr algn="l" marL="160020" indent="-160020">
              <a:lnSpc>
                <a:spcPct val="150000"/>
              </a:lnSpc>
              <a:buSzPct val="100000"/>
              <a:buChar char="•"/>
              <a:tabLst>
                <a:tab pos="160020" algn="l"/>
              </a:tabLst>
            </a:pPr>
            <a:r>
              <a:rPr lang="en-US" sz="1800" dirty="0">
                <a:solidFill>
                  <a:srgbClr val="C7CBDB"/>
                </a:solidFill>
                <a:latin typeface="Arial" pitchFamily="34" charset="0"/>
                <a:ea typeface="Arial" pitchFamily="34" charset="-122"/>
                <a:cs typeface="Arial" pitchFamily="34" charset="-120"/>
              </a:rPr>
              <a:t>Éditeur ERP &amp; banque : dépendances imposées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14400" y="714375"/>
            <a:ext cx="5632704"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5F6678"/>
                </a:solidFill>
                <a:latin typeface="Courier New" pitchFamily="34" charset="0"/>
                <a:ea typeface="Courier New" pitchFamily="34" charset="-122"/>
                <a:cs typeface="Courier New" pitchFamily="34" charset="-120"/>
              </a:rPr>
              <a:t>A.4 — DIAGNOSTIC STRATÉGIQUE</a:t>
            </a:r>
            <a:endParaRPr lang="en-US" sz="1800" dirty="0"/>
          </a:p>
        </p:txBody>
      </p:sp>
      <p:sp>
        <p:nvSpPr>
          <p:cNvPr id="3" name="Shape 1"/>
          <p:cNvSpPr/>
          <p:nvPr/>
        </p:nvSpPr>
        <p:spPr>
          <a:xfrm>
            <a:off x="16021050" y="685800"/>
            <a:ext cx="1352550" cy="314325"/>
          </a:xfrm>
          <a:prstGeom prst="roundRect">
            <a:avLst>
              <a:gd name="adj" fmla="val 50000"/>
            </a:avLst>
          </a:prstGeom>
          <a:ln w="9525">
            <a:solidFill>
              <a:srgbClr val="3F6FE6">
                <a:alpha val="45000"/>
              </a:srgbClr>
            </a:solidFill>
            <a:prstDash val="solid"/>
          </a:ln>
        </p:spPr>
      </p:sp>
      <p:sp>
        <p:nvSpPr>
          <p:cNvPr id="4" name="Text 2"/>
          <p:cNvSpPr/>
          <p:nvPr/>
        </p:nvSpPr>
        <p:spPr>
          <a:xfrm>
            <a:off x="16182975" y="762000"/>
            <a:ext cx="1104900"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3F6FE6"/>
                </a:solidFill>
                <a:latin typeface="Courier New" pitchFamily="34" charset="0"/>
                <a:ea typeface="Courier New" pitchFamily="34" charset="-122"/>
                <a:cs typeface="Courier New" pitchFamily="34" charset="-120"/>
              </a:rPr>
              <a:t>LIVRÉ · J1</a:t>
            </a:r>
            <a:endParaRPr lang="en-US" sz="1125" dirty="0"/>
          </a:p>
        </p:txBody>
      </p:sp>
      <p:sp>
        <p:nvSpPr>
          <p:cNvPr id="5" name="Text 3"/>
          <p:cNvSpPr/>
          <p:nvPr/>
        </p:nvSpPr>
        <p:spPr>
          <a:xfrm>
            <a:off x="914400" y="1133475"/>
            <a:ext cx="18105120"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48" kern="0" dirty="0">
                <a:solidFill>
                  <a:srgbClr val="1D2235"/>
                </a:solidFill>
                <a:latin typeface="Georgia" pitchFamily="34" charset="0"/>
                <a:ea typeface="Georgia" pitchFamily="34" charset="-122"/>
                <a:cs typeface="Georgia" pitchFamily="34" charset="-120"/>
              </a:rPr>
              <a:t>Matrice SWOT du système d'information</a:t>
            </a:r>
            <a:endParaRPr lang="en-US" sz="4800" dirty="0"/>
          </a:p>
        </p:txBody>
      </p:sp>
      <p:sp>
        <p:nvSpPr>
          <p:cNvPr id="6" name="Shape 4"/>
          <p:cNvSpPr/>
          <p:nvPr/>
        </p:nvSpPr>
        <p:spPr>
          <a:xfrm>
            <a:off x="914400" y="2009775"/>
            <a:ext cx="8124825" cy="3690937"/>
          </a:xfrm>
          <a:prstGeom prst="roundRect">
            <a:avLst>
              <a:gd name="adj" fmla="val 1548"/>
            </a:avLst>
          </a:prstGeom>
          <a:solidFill>
            <a:srgbClr val="FFFFFF"/>
          </a:solidFill>
          <a:ln/>
        </p:spPr>
      </p:sp>
      <p:sp>
        <p:nvSpPr>
          <p:cNvPr id="7" name="Shape 5"/>
          <p:cNvSpPr/>
          <p:nvPr/>
        </p:nvSpPr>
        <p:spPr>
          <a:xfrm>
            <a:off x="914400" y="5691188"/>
            <a:ext cx="8124825" cy="9525"/>
          </a:xfrm>
          <a:prstGeom prst="rect">
            <a:avLst/>
          </a:prstGeom>
          <a:solidFill>
            <a:srgbClr val="1D2235">
              <a:alpha val="12000"/>
            </a:srgbClr>
          </a:solidFill>
          <a:ln/>
        </p:spPr>
      </p:sp>
      <p:sp>
        <p:nvSpPr>
          <p:cNvPr id="8" name="Shape 6"/>
          <p:cNvSpPr/>
          <p:nvPr/>
        </p:nvSpPr>
        <p:spPr>
          <a:xfrm>
            <a:off x="914400" y="2009775"/>
            <a:ext cx="8124825" cy="9525"/>
          </a:xfrm>
          <a:prstGeom prst="rect">
            <a:avLst/>
          </a:prstGeom>
          <a:solidFill>
            <a:srgbClr val="1D2235">
              <a:alpha val="12000"/>
            </a:srgbClr>
          </a:solidFill>
          <a:ln/>
        </p:spPr>
      </p:sp>
      <p:sp>
        <p:nvSpPr>
          <p:cNvPr id="9" name="Shape 7"/>
          <p:cNvSpPr/>
          <p:nvPr/>
        </p:nvSpPr>
        <p:spPr>
          <a:xfrm>
            <a:off x="914400" y="2009775"/>
            <a:ext cx="47625" cy="3690937"/>
          </a:xfrm>
          <a:prstGeom prst="rect">
            <a:avLst/>
          </a:prstGeom>
          <a:solidFill>
            <a:srgbClr val="2F8F5B"/>
          </a:solidFill>
          <a:ln/>
        </p:spPr>
      </p:sp>
      <p:sp>
        <p:nvSpPr>
          <p:cNvPr id="10" name="Shape 8"/>
          <p:cNvSpPr/>
          <p:nvPr/>
        </p:nvSpPr>
        <p:spPr>
          <a:xfrm>
            <a:off x="9029700" y="2009775"/>
            <a:ext cx="9525" cy="3690937"/>
          </a:xfrm>
          <a:prstGeom prst="rect">
            <a:avLst/>
          </a:prstGeom>
          <a:solidFill>
            <a:srgbClr val="1D2235">
              <a:alpha val="12000"/>
            </a:srgbClr>
          </a:solidFill>
          <a:ln/>
        </p:spPr>
      </p:sp>
      <p:sp>
        <p:nvSpPr>
          <p:cNvPr id="11" name="Text 9"/>
          <p:cNvSpPr/>
          <p:nvPr/>
        </p:nvSpPr>
        <p:spPr>
          <a:xfrm>
            <a:off x="1247775" y="2266950"/>
            <a:ext cx="8245793"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2F8F5B"/>
                </a:solidFill>
                <a:latin typeface="Courier New" pitchFamily="34" charset="0"/>
                <a:ea typeface="Courier New" pitchFamily="34" charset="-122"/>
                <a:cs typeface="Courier New" pitchFamily="34" charset="-120"/>
              </a:rPr>
              <a:t>FORCES</a:t>
            </a:r>
            <a:endParaRPr lang="en-US" sz="1200" dirty="0"/>
          </a:p>
        </p:txBody>
      </p:sp>
      <p:sp>
        <p:nvSpPr>
          <p:cNvPr id="12" name="Text 10"/>
          <p:cNvSpPr/>
          <p:nvPr/>
        </p:nvSpPr>
        <p:spPr>
          <a:xfrm>
            <a:off x="1310640" y="2552700"/>
            <a:ext cx="7509510" cy="1449705"/>
          </a:xfrm>
          <a:prstGeom prst="rect">
            <a:avLst/>
          </a:prstGeom>
          <a:noFill/>
          <a:ln/>
        </p:spPr>
        <p:txBody>
          <a:bodyPr wrap="square" lIns="25400" tIns="25400" rIns="25400" bIns="25400" rtlCol="0" anchor="t">
            <a:normAutofit/>
          </a:bodyPr>
          <a:lstStyle/>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SI homogène sur tout le réseau (ERP, caisses, TPE, web/app)</a:t>
            </a:r>
            <a:endParaRPr lang="en-US" sz="1650" dirty="0"/>
          </a:p>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Commandes déjà numérisées : tél, web, application</a:t>
            </a:r>
            <a:endParaRPr lang="en-US" sz="1650" dirty="0"/>
          </a:p>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Standardisation des caisses et moyens de paiement</a:t>
            </a:r>
            <a:endParaRPr lang="en-US" sz="1650" dirty="0"/>
          </a:p>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Réseau de 25 franchisés au fonctionnement éprouvé</a:t>
            </a:r>
            <a:endParaRPr lang="en-US" sz="1650" dirty="0"/>
          </a:p>
        </p:txBody>
      </p:sp>
      <p:sp>
        <p:nvSpPr>
          <p:cNvPr id="13" name="Shape 11"/>
          <p:cNvSpPr/>
          <p:nvPr/>
        </p:nvSpPr>
        <p:spPr>
          <a:xfrm>
            <a:off x="9248775" y="2009775"/>
            <a:ext cx="8124825" cy="3690937"/>
          </a:xfrm>
          <a:prstGeom prst="roundRect">
            <a:avLst>
              <a:gd name="adj" fmla="val 1548"/>
            </a:avLst>
          </a:prstGeom>
          <a:solidFill>
            <a:srgbClr val="FFFFFF"/>
          </a:solidFill>
          <a:ln/>
        </p:spPr>
      </p:sp>
      <p:sp>
        <p:nvSpPr>
          <p:cNvPr id="14" name="Shape 12"/>
          <p:cNvSpPr/>
          <p:nvPr/>
        </p:nvSpPr>
        <p:spPr>
          <a:xfrm>
            <a:off x="9248775" y="5691188"/>
            <a:ext cx="8124825" cy="9525"/>
          </a:xfrm>
          <a:prstGeom prst="rect">
            <a:avLst/>
          </a:prstGeom>
          <a:solidFill>
            <a:srgbClr val="1D2235">
              <a:alpha val="12000"/>
            </a:srgbClr>
          </a:solidFill>
          <a:ln/>
        </p:spPr>
      </p:sp>
      <p:sp>
        <p:nvSpPr>
          <p:cNvPr id="15" name="Shape 13"/>
          <p:cNvSpPr/>
          <p:nvPr/>
        </p:nvSpPr>
        <p:spPr>
          <a:xfrm>
            <a:off x="9248775" y="2009775"/>
            <a:ext cx="8124825" cy="9525"/>
          </a:xfrm>
          <a:prstGeom prst="rect">
            <a:avLst/>
          </a:prstGeom>
          <a:solidFill>
            <a:srgbClr val="1D2235">
              <a:alpha val="12000"/>
            </a:srgbClr>
          </a:solidFill>
          <a:ln/>
        </p:spPr>
      </p:sp>
      <p:sp>
        <p:nvSpPr>
          <p:cNvPr id="16" name="Shape 14"/>
          <p:cNvSpPr/>
          <p:nvPr/>
        </p:nvSpPr>
        <p:spPr>
          <a:xfrm>
            <a:off x="9248775" y="2009775"/>
            <a:ext cx="47625" cy="3690937"/>
          </a:xfrm>
          <a:prstGeom prst="rect">
            <a:avLst/>
          </a:prstGeom>
          <a:solidFill>
            <a:srgbClr val="B34A3A"/>
          </a:solidFill>
          <a:ln/>
        </p:spPr>
      </p:sp>
      <p:sp>
        <p:nvSpPr>
          <p:cNvPr id="17" name="Shape 15"/>
          <p:cNvSpPr/>
          <p:nvPr/>
        </p:nvSpPr>
        <p:spPr>
          <a:xfrm>
            <a:off x="17364075" y="2009775"/>
            <a:ext cx="9525" cy="3690937"/>
          </a:xfrm>
          <a:prstGeom prst="rect">
            <a:avLst/>
          </a:prstGeom>
          <a:solidFill>
            <a:srgbClr val="1D2235">
              <a:alpha val="12000"/>
            </a:srgbClr>
          </a:solidFill>
          <a:ln/>
        </p:spPr>
      </p:sp>
      <p:sp>
        <p:nvSpPr>
          <p:cNvPr id="18" name="Text 16"/>
          <p:cNvSpPr/>
          <p:nvPr/>
        </p:nvSpPr>
        <p:spPr>
          <a:xfrm>
            <a:off x="9582150" y="2266950"/>
            <a:ext cx="8245793"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B34A3A"/>
                </a:solidFill>
                <a:latin typeface="Courier New" pitchFamily="34" charset="0"/>
                <a:ea typeface="Courier New" pitchFamily="34" charset="-122"/>
                <a:cs typeface="Courier New" pitchFamily="34" charset="-120"/>
              </a:rPr>
              <a:t>FAIBLESSES</a:t>
            </a:r>
            <a:endParaRPr lang="en-US" sz="1200" dirty="0"/>
          </a:p>
        </p:txBody>
      </p:sp>
      <p:sp>
        <p:nvSpPr>
          <p:cNvPr id="19" name="Text 17"/>
          <p:cNvSpPr/>
          <p:nvPr/>
        </p:nvSpPr>
        <p:spPr>
          <a:xfrm>
            <a:off x="9645015" y="2552700"/>
            <a:ext cx="7509510" cy="1449705"/>
          </a:xfrm>
          <a:prstGeom prst="rect">
            <a:avLst/>
          </a:prstGeom>
          <a:noFill/>
          <a:ln/>
        </p:spPr>
        <p:txBody>
          <a:bodyPr wrap="square" lIns="25400" tIns="25400" rIns="25400" bIns="25400" rtlCol="0" anchor="t">
            <a:normAutofit/>
          </a:bodyPr>
          <a:lstStyle/>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ERP vieillissant, coûteux, éditeur qui n'innove plus</a:t>
            </a:r>
            <a:endParaRPr lang="en-US" sz="1650" dirty="0"/>
          </a:p>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Ventes remontées en batch : pas de temps réel</a:t>
            </a:r>
            <a:endParaRPr lang="en-US" sz="1650" dirty="0"/>
          </a:p>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Dépendance à un logisticien unique et régional</a:t>
            </a:r>
            <a:endParaRPr lang="en-US" sz="1650" dirty="0"/>
          </a:p>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Pas de livraison de proximité ni de pilotage (BI / CRM)</a:t>
            </a:r>
            <a:endParaRPr lang="en-US" sz="1650" dirty="0"/>
          </a:p>
        </p:txBody>
      </p:sp>
      <p:sp>
        <p:nvSpPr>
          <p:cNvPr id="20" name="Shape 18"/>
          <p:cNvSpPr/>
          <p:nvPr/>
        </p:nvSpPr>
        <p:spPr>
          <a:xfrm>
            <a:off x="914400" y="5910263"/>
            <a:ext cx="8124825" cy="3690937"/>
          </a:xfrm>
          <a:prstGeom prst="roundRect">
            <a:avLst>
              <a:gd name="adj" fmla="val 1548"/>
            </a:avLst>
          </a:prstGeom>
          <a:solidFill>
            <a:srgbClr val="FFFFFF"/>
          </a:solidFill>
          <a:ln/>
        </p:spPr>
      </p:sp>
      <p:sp>
        <p:nvSpPr>
          <p:cNvPr id="21" name="Shape 19"/>
          <p:cNvSpPr/>
          <p:nvPr/>
        </p:nvSpPr>
        <p:spPr>
          <a:xfrm>
            <a:off x="914400" y="9591675"/>
            <a:ext cx="8124825" cy="9525"/>
          </a:xfrm>
          <a:prstGeom prst="rect">
            <a:avLst/>
          </a:prstGeom>
          <a:solidFill>
            <a:srgbClr val="1D2235">
              <a:alpha val="12000"/>
            </a:srgbClr>
          </a:solidFill>
          <a:ln/>
        </p:spPr>
      </p:sp>
      <p:sp>
        <p:nvSpPr>
          <p:cNvPr id="22" name="Shape 20"/>
          <p:cNvSpPr/>
          <p:nvPr/>
        </p:nvSpPr>
        <p:spPr>
          <a:xfrm>
            <a:off x="914400" y="5910263"/>
            <a:ext cx="8124825" cy="9525"/>
          </a:xfrm>
          <a:prstGeom prst="rect">
            <a:avLst/>
          </a:prstGeom>
          <a:solidFill>
            <a:srgbClr val="1D2235">
              <a:alpha val="12000"/>
            </a:srgbClr>
          </a:solidFill>
          <a:ln/>
        </p:spPr>
      </p:sp>
      <p:sp>
        <p:nvSpPr>
          <p:cNvPr id="23" name="Shape 21"/>
          <p:cNvSpPr/>
          <p:nvPr/>
        </p:nvSpPr>
        <p:spPr>
          <a:xfrm>
            <a:off x="914400" y="5910263"/>
            <a:ext cx="47625" cy="3690937"/>
          </a:xfrm>
          <a:prstGeom prst="rect">
            <a:avLst/>
          </a:prstGeom>
          <a:solidFill>
            <a:srgbClr val="3F6FE6"/>
          </a:solidFill>
          <a:ln/>
        </p:spPr>
      </p:sp>
      <p:sp>
        <p:nvSpPr>
          <p:cNvPr id="24" name="Shape 22"/>
          <p:cNvSpPr/>
          <p:nvPr/>
        </p:nvSpPr>
        <p:spPr>
          <a:xfrm>
            <a:off x="9029700" y="5910263"/>
            <a:ext cx="9525" cy="3690937"/>
          </a:xfrm>
          <a:prstGeom prst="rect">
            <a:avLst/>
          </a:prstGeom>
          <a:solidFill>
            <a:srgbClr val="1D2235">
              <a:alpha val="12000"/>
            </a:srgbClr>
          </a:solidFill>
          <a:ln/>
        </p:spPr>
      </p:sp>
      <p:sp>
        <p:nvSpPr>
          <p:cNvPr id="25" name="Text 23"/>
          <p:cNvSpPr/>
          <p:nvPr/>
        </p:nvSpPr>
        <p:spPr>
          <a:xfrm>
            <a:off x="1247775" y="6167438"/>
            <a:ext cx="8245793"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3F6FE6"/>
                </a:solidFill>
                <a:latin typeface="Courier New" pitchFamily="34" charset="0"/>
                <a:ea typeface="Courier New" pitchFamily="34" charset="-122"/>
                <a:cs typeface="Courier New" pitchFamily="34" charset="-120"/>
              </a:rPr>
              <a:t>OPPORTUNITÉS</a:t>
            </a:r>
            <a:endParaRPr lang="en-US" sz="1200" dirty="0"/>
          </a:p>
        </p:txBody>
      </p:sp>
      <p:sp>
        <p:nvSpPr>
          <p:cNvPr id="26" name="Text 24"/>
          <p:cNvSpPr/>
          <p:nvPr/>
        </p:nvSpPr>
        <p:spPr>
          <a:xfrm>
            <a:off x="1310640" y="6453188"/>
            <a:ext cx="7509510" cy="1449705"/>
          </a:xfrm>
          <a:prstGeom prst="rect">
            <a:avLst/>
          </a:prstGeom>
          <a:noFill/>
          <a:ln/>
        </p:spPr>
        <p:txBody>
          <a:bodyPr wrap="square" lIns="25400" tIns="25400" rIns="25400" bIns="25400" rtlCol="0" anchor="t">
            <a:normAutofit/>
          </a:bodyPr>
          <a:lstStyle/>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ERP moderne, évolutif et mieux intégré</a:t>
            </a:r>
            <a:endParaRPr lang="en-US" sz="1650" dirty="0"/>
          </a:p>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Livraison à domicile &amp; click and collect rapide (déjeuner)</a:t>
            </a:r>
            <a:endParaRPr lang="en-US" sz="1650" dirty="0"/>
          </a:p>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Pilotage temps réel : ventes, stocks, commandes</a:t>
            </a:r>
            <a:endParaRPr lang="en-US" sz="1650" dirty="0"/>
          </a:p>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Extension multi-régions via le réseau relationnel</a:t>
            </a:r>
            <a:endParaRPr lang="en-US" sz="1650" dirty="0"/>
          </a:p>
        </p:txBody>
      </p:sp>
      <p:sp>
        <p:nvSpPr>
          <p:cNvPr id="27" name="Shape 25"/>
          <p:cNvSpPr/>
          <p:nvPr/>
        </p:nvSpPr>
        <p:spPr>
          <a:xfrm>
            <a:off x="9248775" y="5910263"/>
            <a:ext cx="8124825" cy="3690937"/>
          </a:xfrm>
          <a:prstGeom prst="roundRect">
            <a:avLst>
              <a:gd name="adj" fmla="val 1548"/>
            </a:avLst>
          </a:prstGeom>
          <a:solidFill>
            <a:srgbClr val="FFFFFF"/>
          </a:solidFill>
          <a:ln/>
        </p:spPr>
      </p:sp>
      <p:sp>
        <p:nvSpPr>
          <p:cNvPr id="28" name="Shape 26"/>
          <p:cNvSpPr/>
          <p:nvPr/>
        </p:nvSpPr>
        <p:spPr>
          <a:xfrm>
            <a:off x="9248775" y="9591675"/>
            <a:ext cx="8124825" cy="9525"/>
          </a:xfrm>
          <a:prstGeom prst="rect">
            <a:avLst/>
          </a:prstGeom>
          <a:solidFill>
            <a:srgbClr val="1D2235">
              <a:alpha val="12000"/>
            </a:srgbClr>
          </a:solidFill>
          <a:ln/>
        </p:spPr>
      </p:sp>
      <p:sp>
        <p:nvSpPr>
          <p:cNvPr id="29" name="Shape 27"/>
          <p:cNvSpPr/>
          <p:nvPr/>
        </p:nvSpPr>
        <p:spPr>
          <a:xfrm>
            <a:off x="9248775" y="5910263"/>
            <a:ext cx="8124825" cy="9525"/>
          </a:xfrm>
          <a:prstGeom prst="rect">
            <a:avLst/>
          </a:prstGeom>
          <a:solidFill>
            <a:srgbClr val="1D2235">
              <a:alpha val="12000"/>
            </a:srgbClr>
          </a:solidFill>
          <a:ln/>
        </p:spPr>
      </p:sp>
      <p:sp>
        <p:nvSpPr>
          <p:cNvPr id="30" name="Shape 28"/>
          <p:cNvSpPr/>
          <p:nvPr/>
        </p:nvSpPr>
        <p:spPr>
          <a:xfrm>
            <a:off x="9248775" y="5910263"/>
            <a:ext cx="47625" cy="3690937"/>
          </a:xfrm>
          <a:prstGeom prst="rect">
            <a:avLst/>
          </a:prstGeom>
          <a:solidFill>
            <a:srgbClr val="9A8A5F"/>
          </a:solidFill>
          <a:ln/>
        </p:spPr>
      </p:sp>
      <p:sp>
        <p:nvSpPr>
          <p:cNvPr id="31" name="Shape 29"/>
          <p:cNvSpPr/>
          <p:nvPr/>
        </p:nvSpPr>
        <p:spPr>
          <a:xfrm>
            <a:off x="17364075" y="5910263"/>
            <a:ext cx="9525" cy="3690937"/>
          </a:xfrm>
          <a:prstGeom prst="rect">
            <a:avLst/>
          </a:prstGeom>
          <a:solidFill>
            <a:srgbClr val="1D2235">
              <a:alpha val="12000"/>
            </a:srgbClr>
          </a:solidFill>
          <a:ln/>
        </p:spPr>
      </p:sp>
      <p:sp>
        <p:nvSpPr>
          <p:cNvPr id="32" name="Text 30"/>
          <p:cNvSpPr/>
          <p:nvPr/>
        </p:nvSpPr>
        <p:spPr>
          <a:xfrm>
            <a:off x="9582150" y="6167438"/>
            <a:ext cx="8245793"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9A8A5F"/>
                </a:solidFill>
                <a:latin typeface="Courier New" pitchFamily="34" charset="0"/>
                <a:ea typeface="Courier New" pitchFamily="34" charset="-122"/>
                <a:cs typeface="Courier New" pitchFamily="34" charset="-120"/>
              </a:rPr>
              <a:t>MENACES</a:t>
            </a:r>
            <a:endParaRPr lang="en-US" sz="1200" dirty="0"/>
          </a:p>
        </p:txBody>
      </p:sp>
      <p:sp>
        <p:nvSpPr>
          <p:cNvPr id="33" name="Text 31"/>
          <p:cNvSpPr/>
          <p:nvPr/>
        </p:nvSpPr>
        <p:spPr>
          <a:xfrm>
            <a:off x="9645015" y="6453188"/>
            <a:ext cx="7509510" cy="1449705"/>
          </a:xfrm>
          <a:prstGeom prst="rect">
            <a:avLst/>
          </a:prstGeom>
          <a:noFill/>
          <a:ln/>
        </p:spPr>
        <p:txBody>
          <a:bodyPr wrap="square" lIns="25400" tIns="25400" rIns="25400" bIns="25400" rtlCol="0" anchor="t">
            <a:normAutofit/>
          </a:bodyPr>
          <a:lstStyle/>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Échec ou retard de la migration ERP</a:t>
            </a:r>
            <a:endParaRPr lang="en-US" sz="1650" dirty="0"/>
          </a:p>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Dépendance forte aux prestataires externes</a:t>
            </a:r>
            <a:endParaRPr lang="en-US" sz="1650" dirty="0"/>
          </a:p>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Cyberattaques, coûts élevés de la transformation</a:t>
            </a:r>
            <a:endParaRPr lang="en-US" sz="1650" dirty="0"/>
          </a:p>
          <a:p>
            <a:pPr algn="l" marL="146685" indent="-146685">
              <a:lnSpc>
                <a:spcPct val="140000"/>
              </a:lnSpc>
              <a:buSzPct val="100000"/>
              <a:buChar char="•"/>
              <a:tabLst>
                <a:tab pos="146685" algn="l"/>
              </a:tabLst>
            </a:pPr>
            <a:r>
              <a:rPr lang="en-US" sz="1650" dirty="0">
                <a:solidFill>
                  <a:srgbClr val="3A4055"/>
                </a:solidFill>
                <a:latin typeface="Arial" pitchFamily="34" charset="0"/>
                <a:ea typeface="Arial" pitchFamily="34" charset="-122"/>
                <a:cs typeface="Arial" pitchFamily="34" charset="-120"/>
              </a:rPr>
              <a:t>Scalabilité du SI face à la croissance du réseau</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2A"/>
        </a:solidFill>
      </p:bgPr>
    </p:bg>
    <p:spTree>
      <p:nvGrpSpPr>
        <p:cNvPr id="1" name=""/>
        <p:cNvGrpSpPr/>
        <p:nvPr/>
      </p:nvGrpSpPr>
      <p:grpSpPr>
        <a:xfrm>
          <a:off x="0" y="0"/>
          <a:ext cx="0" cy="0"/>
          <a:chOff x="0" y="0"/>
          <a:chExt cx="0" cy="0"/>
        </a:xfrm>
      </p:grpSpPr>
      <p:sp>
        <p:nvSpPr>
          <p:cNvPr id="2" name="Text 0"/>
          <p:cNvSpPr/>
          <p:nvPr/>
        </p:nvSpPr>
        <p:spPr>
          <a:xfrm>
            <a:off x="914400" y="828675"/>
            <a:ext cx="5632704"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9AA1B8"/>
                </a:solidFill>
                <a:latin typeface="Courier New" pitchFamily="34" charset="0"/>
                <a:ea typeface="Courier New" pitchFamily="34" charset="-122"/>
                <a:cs typeface="Courier New" pitchFamily="34" charset="-120"/>
              </a:rPr>
              <a:t>A.5 — SYNTHÈSE DU DIAGNOSTIC</a:t>
            </a:r>
            <a:endParaRPr lang="en-US" sz="1800" dirty="0"/>
          </a:p>
        </p:txBody>
      </p:sp>
      <p:sp>
        <p:nvSpPr>
          <p:cNvPr id="3" name="Shape 1"/>
          <p:cNvSpPr/>
          <p:nvPr/>
        </p:nvSpPr>
        <p:spPr>
          <a:xfrm>
            <a:off x="16021050" y="800100"/>
            <a:ext cx="1352550" cy="314325"/>
          </a:xfrm>
          <a:prstGeom prst="roundRect">
            <a:avLst>
              <a:gd name="adj" fmla="val 50000"/>
            </a:avLst>
          </a:prstGeom>
          <a:ln w="9525">
            <a:solidFill>
              <a:srgbClr val="7E9BFF">
                <a:alpha val="50000"/>
              </a:srgbClr>
            </a:solidFill>
            <a:prstDash val="solid"/>
          </a:ln>
        </p:spPr>
      </p:sp>
      <p:sp>
        <p:nvSpPr>
          <p:cNvPr id="4" name="Text 2"/>
          <p:cNvSpPr/>
          <p:nvPr/>
        </p:nvSpPr>
        <p:spPr>
          <a:xfrm>
            <a:off x="16182975" y="876300"/>
            <a:ext cx="1104900"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7E9BFF"/>
                </a:solidFill>
                <a:latin typeface="Courier New" pitchFamily="34" charset="0"/>
                <a:ea typeface="Courier New" pitchFamily="34" charset="-122"/>
                <a:cs typeface="Courier New" pitchFamily="34" charset="-120"/>
              </a:rPr>
              <a:t>LIVRÉ · J1</a:t>
            </a:r>
            <a:endParaRPr lang="en-US" sz="1125" dirty="0"/>
          </a:p>
        </p:txBody>
      </p:sp>
      <p:sp>
        <p:nvSpPr>
          <p:cNvPr id="5" name="Text 3"/>
          <p:cNvSpPr/>
          <p:nvPr/>
        </p:nvSpPr>
        <p:spPr>
          <a:xfrm>
            <a:off x="914400" y="1285875"/>
            <a:ext cx="18105120"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57" kern="0" dirty="0">
                <a:solidFill>
                  <a:srgbClr val="F5F2EA"/>
                </a:solidFill>
                <a:latin typeface="Georgia" pitchFamily="34" charset="0"/>
                <a:ea typeface="Georgia" pitchFamily="34" charset="-122"/>
                <a:cs typeface="Georgia" pitchFamily="34" charset="-120"/>
              </a:rPr>
              <a:t>Cinq tensions à résoudre</a:t>
            </a:r>
            <a:endParaRPr lang="en-US" sz="5700" dirty="0"/>
          </a:p>
        </p:txBody>
      </p:sp>
      <p:sp>
        <p:nvSpPr>
          <p:cNvPr id="6" name="Text 4"/>
          <p:cNvSpPr/>
          <p:nvPr/>
        </p:nvSpPr>
        <p:spPr>
          <a:xfrm>
            <a:off x="914400" y="2085975"/>
            <a:ext cx="18105120" cy="400050"/>
          </a:xfrm>
          <a:prstGeom prst="rect">
            <a:avLst/>
          </a:prstGeom>
          <a:noFill/>
          <a:ln/>
        </p:spPr>
        <p:txBody>
          <a:bodyPr wrap="square" lIns="25400" tIns="25400" rIns="25400" bIns="25400" rtlCol="0" anchor="t">
            <a:normAutofit/>
          </a:bodyPr>
          <a:lstStyle/>
          <a:p>
            <a:pPr algn="l" indent="0" marL="0">
              <a:buNone/>
            </a:pPr>
            <a:r>
              <a:rPr lang="en-US" sz="2550" i="1" dirty="0">
                <a:solidFill>
                  <a:srgbClr val="C7CBDB"/>
                </a:solidFill>
                <a:latin typeface="Georgia" pitchFamily="34" charset="0"/>
                <a:ea typeface="Georgia" pitchFamily="34" charset="-122"/>
                <a:cs typeface="Georgia" pitchFamily="34" charset="-120"/>
              </a:rPr>
              <a:t>Le fil conducteur entre le diagnostic livré et la cible à concevoir.</a:t>
            </a:r>
            <a:endParaRPr lang="en-US" sz="2550" dirty="0"/>
          </a:p>
        </p:txBody>
      </p:sp>
      <p:sp>
        <p:nvSpPr>
          <p:cNvPr id="7" name="Shape 5"/>
          <p:cNvSpPr/>
          <p:nvPr/>
        </p:nvSpPr>
        <p:spPr>
          <a:xfrm>
            <a:off x="914400" y="4033837"/>
            <a:ext cx="16459200" cy="9525"/>
          </a:xfrm>
          <a:prstGeom prst="rect">
            <a:avLst/>
          </a:prstGeom>
          <a:solidFill>
            <a:srgbClr val="F5F2EA">
              <a:alpha val="14000"/>
            </a:srgbClr>
          </a:solidFill>
          <a:ln/>
        </p:spPr>
      </p:sp>
      <p:sp>
        <p:nvSpPr>
          <p:cNvPr id="8" name="Text 6"/>
          <p:cNvSpPr/>
          <p:nvPr/>
        </p:nvSpPr>
        <p:spPr>
          <a:xfrm>
            <a:off x="914400" y="4352925"/>
            <a:ext cx="533400" cy="257175"/>
          </a:xfrm>
          <a:prstGeom prst="rect">
            <a:avLst/>
          </a:prstGeom>
          <a:noFill/>
          <a:ln/>
        </p:spPr>
        <p:txBody>
          <a:bodyPr wrap="square" lIns="25400" tIns="25400" rIns="25400" bIns="25400" rtlCol="0" anchor="t">
            <a:normAutofit/>
          </a:bodyPr>
          <a:lstStyle/>
          <a:p>
            <a:pPr algn="l" indent="0" marL="0">
              <a:buNone/>
            </a:pPr>
            <a:r>
              <a:rPr lang="en-US" sz="1500" dirty="0">
                <a:solidFill>
                  <a:srgbClr val="7E9BFF"/>
                </a:solidFill>
                <a:latin typeface="Courier New" pitchFamily="34" charset="0"/>
                <a:ea typeface="Courier New" pitchFamily="34" charset="-122"/>
                <a:cs typeface="Courier New" pitchFamily="34" charset="-120"/>
              </a:rPr>
              <a:t>01</a:t>
            </a:r>
            <a:endParaRPr lang="en-US" sz="1500" dirty="0"/>
          </a:p>
        </p:txBody>
      </p:sp>
      <p:sp>
        <p:nvSpPr>
          <p:cNvPr id="9" name="Text 7"/>
          <p:cNvSpPr/>
          <p:nvPr/>
        </p:nvSpPr>
        <p:spPr>
          <a:xfrm>
            <a:off x="1638300" y="4233863"/>
            <a:ext cx="9885870" cy="495300"/>
          </a:xfrm>
          <a:prstGeom prst="rect">
            <a:avLst/>
          </a:prstGeom>
          <a:noFill/>
          <a:ln/>
        </p:spPr>
        <p:txBody>
          <a:bodyPr wrap="square" lIns="25400" tIns="25400" rIns="25400" bIns="25400" rtlCol="0" anchor="t">
            <a:normAutofit/>
          </a:bodyPr>
          <a:lstStyle/>
          <a:p>
            <a:pPr algn="l" indent="0" marL="0">
              <a:buNone/>
            </a:pPr>
            <a:r>
              <a:rPr lang="en-US" sz="3150" b="1" dirty="0">
                <a:solidFill>
                  <a:srgbClr val="F5F2EA"/>
                </a:solidFill>
                <a:latin typeface="Georgia" pitchFamily="34" charset="0"/>
                <a:ea typeface="Georgia" pitchFamily="34" charset="-122"/>
                <a:cs typeface="Georgia" pitchFamily="34" charset="-120"/>
              </a:rPr>
              <a:t>ERP vieillissant à remplacer sans rupture d'activité</a:t>
            </a:r>
            <a:endParaRPr lang="en-US" sz="3150" dirty="0"/>
          </a:p>
        </p:txBody>
      </p:sp>
      <p:sp>
        <p:nvSpPr>
          <p:cNvPr id="10" name="Shape 8"/>
          <p:cNvSpPr/>
          <p:nvPr/>
        </p:nvSpPr>
        <p:spPr>
          <a:xfrm>
            <a:off x="914400" y="4881563"/>
            <a:ext cx="16459200" cy="9525"/>
          </a:xfrm>
          <a:prstGeom prst="rect">
            <a:avLst/>
          </a:prstGeom>
          <a:solidFill>
            <a:srgbClr val="F5F2EA">
              <a:alpha val="14000"/>
            </a:srgbClr>
          </a:solidFill>
          <a:ln/>
        </p:spPr>
      </p:sp>
      <p:sp>
        <p:nvSpPr>
          <p:cNvPr id="11" name="Text 9"/>
          <p:cNvSpPr/>
          <p:nvPr/>
        </p:nvSpPr>
        <p:spPr>
          <a:xfrm>
            <a:off x="914400" y="5200650"/>
            <a:ext cx="533400" cy="257175"/>
          </a:xfrm>
          <a:prstGeom prst="rect">
            <a:avLst/>
          </a:prstGeom>
          <a:noFill/>
          <a:ln/>
        </p:spPr>
        <p:txBody>
          <a:bodyPr wrap="square" lIns="25400" tIns="25400" rIns="25400" bIns="25400" rtlCol="0" anchor="t">
            <a:normAutofit/>
          </a:bodyPr>
          <a:lstStyle/>
          <a:p>
            <a:pPr algn="l" indent="0" marL="0">
              <a:buNone/>
            </a:pPr>
            <a:r>
              <a:rPr lang="en-US" sz="1500" dirty="0">
                <a:solidFill>
                  <a:srgbClr val="7E9BFF"/>
                </a:solidFill>
                <a:latin typeface="Courier New" pitchFamily="34" charset="0"/>
                <a:ea typeface="Courier New" pitchFamily="34" charset="-122"/>
                <a:cs typeface="Courier New" pitchFamily="34" charset="-120"/>
              </a:rPr>
              <a:t>02</a:t>
            </a:r>
            <a:endParaRPr lang="en-US" sz="1500" dirty="0"/>
          </a:p>
        </p:txBody>
      </p:sp>
      <p:sp>
        <p:nvSpPr>
          <p:cNvPr id="12" name="Text 10"/>
          <p:cNvSpPr/>
          <p:nvPr/>
        </p:nvSpPr>
        <p:spPr>
          <a:xfrm>
            <a:off x="1638300" y="5081588"/>
            <a:ext cx="9297209" cy="495300"/>
          </a:xfrm>
          <a:prstGeom prst="rect">
            <a:avLst/>
          </a:prstGeom>
          <a:noFill/>
          <a:ln/>
        </p:spPr>
        <p:txBody>
          <a:bodyPr wrap="square" lIns="25400" tIns="25400" rIns="25400" bIns="25400" rtlCol="0" anchor="t">
            <a:normAutofit/>
          </a:bodyPr>
          <a:lstStyle/>
          <a:p>
            <a:pPr algn="l" indent="0" marL="0">
              <a:buNone/>
            </a:pPr>
            <a:r>
              <a:rPr lang="en-US" sz="3150" b="1" dirty="0">
                <a:solidFill>
                  <a:srgbClr val="F5F2EA"/>
                </a:solidFill>
                <a:latin typeface="Georgia" pitchFamily="34" charset="0"/>
                <a:ea typeface="Georgia" pitchFamily="34" charset="-122"/>
                <a:cs typeface="Georgia" pitchFamily="34" charset="-120"/>
              </a:rPr>
              <a:t>Passer du batch nocturne au pilotage temps réel</a:t>
            </a:r>
            <a:endParaRPr lang="en-US" sz="3150" dirty="0"/>
          </a:p>
        </p:txBody>
      </p:sp>
      <p:sp>
        <p:nvSpPr>
          <p:cNvPr id="13" name="Shape 11"/>
          <p:cNvSpPr/>
          <p:nvPr/>
        </p:nvSpPr>
        <p:spPr>
          <a:xfrm>
            <a:off x="914400" y="5729288"/>
            <a:ext cx="16459200" cy="9525"/>
          </a:xfrm>
          <a:prstGeom prst="rect">
            <a:avLst/>
          </a:prstGeom>
          <a:solidFill>
            <a:srgbClr val="F5F2EA">
              <a:alpha val="14000"/>
            </a:srgbClr>
          </a:solidFill>
          <a:ln/>
        </p:spPr>
      </p:sp>
      <p:sp>
        <p:nvSpPr>
          <p:cNvPr id="14" name="Text 12"/>
          <p:cNvSpPr/>
          <p:nvPr/>
        </p:nvSpPr>
        <p:spPr>
          <a:xfrm>
            <a:off x="914400" y="6048375"/>
            <a:ext cx="533400" cy="257175"/>
          </a:xfrm>
          <a:prstGeom prst="rect">
            <a:avLst/>
          </a:prstGeom>
          <a:noFill/>
          <a:ln/>
        </p:spPr>
        <p:txBody>
          <a:bodyPr wrap="square" lIns="25400" tIns="25400" rIns="25400" bIns="25400" rtlCol="0" anchor="t">
            <a:normAutofit/>
          </a:bodyPr>
          <a:lstStyle/>
          <a:p>
            <a:pPr algn="l" indent="0" marL="0">
              <a:buNone/>
            </a:pPr>
            <a:r>
              <a:rPr lang="en-US" sz="1500" dirty="0">
                <a:solidFill>
                  <a:srgbClr val="7E9BFF"/>
                </a:solidFill>
                <a:latin typeface="Courier New" pitchFamily="34" charset="0"/>
                <a:ea typeface="Courier New" pitchFamily="34" charset="-122"/>
                <a:cs typeface="Courier New" pitchFamily="34" charset="-120"/>
              </a:rPr>
              <a:t>03</a:t>
            </a:r>
            <a:endParaRPr lang="en-US" sz="1500" dirty="0"/>
          </a:p>
        </p:txBody>
      </p:sp>
      <p:sp>
        <p:nvSpPr>
          <p:cNvPr id="15" name="Text 13"/>
          <p:cNvSpPr/>
          <p:nvPr/>
        </p:nvSpPr>
        <p:spPr>
          <a:xfrm>
            <a:off x="1638300" y="5929313"/>
            <a:ext cx="10633266" cy="495300"/>
          </a:xfrm>
          <a:prstGeom prst="rect">
            <a:avLst/>
          </a:prstGeom>
          <a:noFill/>
          <a:ln/>
        </p:spPr>
        <p:txBody>
          <a:bodyPr wrap="square" lIns="25400" tIns="25400" rIns="25400" bIns="25400" rtlCol="0" anchor="t">
            <a:normAutofit/>
          </a:bodyPr>
          <a:lstStyle/>
          <a:p>
            <a:pPr algn="l" indent="0" marL="0">
              <a:buNone/>
            </a:pPr>
            <a:r>
              <a:rPr lang="en-US" sz="3150" b="1" dirty="0">
                <a:solidFill>
                  <a:srgbClr val="F5F2EA"/>
                </a:solidFill>
                <a:latin typeface="Georgia" pitchFamily="34" charset="0"/>
                <a:ea typeface="Georgia" pitchFamily="34" charset="-122"/>
                <a:cs typeface="Georgia" pitchFamily="34" charset="-120"/>
              </a:rPr>
              <a:t>Ouvrir livraison de proximité &amp; click and collect rapide</a:t>
            </a:r>
            <a:endParaRPr lang="en-US" sz="3150" dirty="0"/>
          </a:p>
        </p:txBody>
      </p:sp>
      <p:sp>
        <p:nvSpPr>
          <p:cNvPr id="16" name="Shape 14"/>
          <p:cNvSpPr/>
          <p:nvPr/>
        </p:nvSpPr>
        <p:spPr>
          <a:xfrm>
            <a:off x="914400" y="6577013"/>
            <a:ext cx="16459200" cy="9525"/>
          </a:xfrm>
          <a:prstGeom prst="rect">
            <a:avLst/>
          </a:prstGeom>
          <a:solidFill>
            <a:srgbClr val="F5F2EA">
              <a:alpha val="14000"/>
            </a:srgbClr>
          </a:solidFill>
          <a:ln/>
        </p:spPr>
      </p:sp>
      <p:sp>
        <p:nvSpPr>
          <p:cNvPr id="17" name="Text 15"/>
          <p:cNvSpPr/>
          <p:nvPr/>
        </p:nvSpPr>
        <p:spPr>
          <a:xfrm>
            <a:off x="914400" y="6896100"/>
            <a:ext cx="533400" cy="257175"/>
          </a:xfrm>
          <a:prstGeom prst="rect">
            <a:avLst/>
          </a:prstGeom>
          <a:noFill/>
          <a:ln/>
        </p:spPr>
        <p:txBody>
          <a:bodyPr wrap="square" lIns="25400" tIns="25400" rIns="25400" bIns="25400" rtlCol="0" anchor="t">
            <a:normAutofit/>
          </a:bodyPr>
          <a:lstStyle/>
          <a:p>
            <a:pPr algn="l" indent="0" marL="0">
              <a:buNone/>
            </a:pPr>
            <a:r>
              <a:rPr lang="en-US" sz="1500" dirty="0">
                <a:solidFill>
                  <a:srgbClr val="7E9BFF"/>
                </a:solidFill>
                <a:latin typeface="Courier New" pitchFamily="34" charset="0"/>
                <a:ea typeface="Courier New" pitchFamily="34" charset="-122"/>
                <a:cs typeface="Courier New" pitchFamily="34" charset="-120"/>
              </a:rPr>
              <a:t>04</a:t>
            </a:r>
            <a:endParaRPr lang="en-US" sz="1500" dirty="0"/>
          </a:p>
        </p:txBody>
      </p:sp>
      <p:sp>
        <p:nvSpPr>
          <p:cNvPr id="18" name="Text 16"/>
          <p:cNvSpPr/>
          <p:nvPr/>
        </p:nvSpPr>
        <p:spPr>
          <a:xfrm>
            <a:off x="1638300" y="6777038"/>
            <a:ext cx="9187371" cy="495300"/>
          </a:xfrm>
          <a:prstGeom prst="rect">
            <a:avLst/>
          </a:prstGeom>
          <a:noFill/>
          <a:ln/>
        </p:spPr>
        <p:txBody>
          <a:bodyPr wrap="square" lIns="25400" tIns="25400" rIns="25400" bIns="25400" rtlCol="0" anchor="t">
            <a:normAutofit/>
          </a:bodyPr>
          <a:lstStyle/>
          <a:p>
            <a:pPr algn="l" indent="0" marL="0">
              <a:buNone/>
            </a:pPr>
            <a:r>
              <a:rPr lang="en-US" sz="3150" b="1" dirty="0">
                <a:solidFill>
                  <a:srgbClr val="F5F2EA"/>
                </a:solidFill>
                <a:latin typeface="Georgia" pitchFamily="34" charset="0"/>
                <a:ea typeface="Georgia" pitchFamily="34" charset="-122"/>
                <a:cs typeface="Georgia" pitchFamily="34" charset="-120"/>
              </a:rPr>
              <a:t>Lever la dépendance logistique mono-régionale</a:t>
            </a:r>
            <a:endParaRPr lang="en-US" sz="3150" dirty="0"/>
          </a:p>
        </p:txBody>
      </p:sp>
      <p:sp>
        <p:nvSpPr>
          <p:cNvPr id="19" name="Shape 17"/>
          <p:cNvSpPr/>
          <p:nvPr/>
        </p:nvSpPr>
        <p:spPr>
          <a:xfrm>
            <a:off x="914400" y="8272463"/>
            <a:ext cx="16459200" cy="9525"/>
          </a:xfrm>
          <a:prstGeom prst="rect">
            <a:avLst/>
          </a:prstGeom>
          <a:solidFill>
            <a:srgbClr val="F5F2EA">
              <a:alpha val="14000"/>
            </a:srgbClr>
          </a:solidFill>
          <a:ln/>
        </p:spPr>
      </p:sp>
      <p:sp>
        <p:nvSpPr>
          <p:cNvPr id="20" name="Shape 18"/>
          <p:cNvSpPr/>
          <p:nvPr/>
        </p:nvSpPr>
        <p:spPr>
          <a:xfrm>
            <a:off x="914400" y="7424737"/>
            <a:ext cx="16459200" cy="9525"/>
          </a:xfrm>
          <a:prstGeom prst="rect">
            <a:avLst/>
          </a:prstGeom>
          <a:solidFill>
            <a:srgbClr val="F5F2EA">
              <a:alpha val="14000"/>
            </a:srgbClr>
          </a:solidFill>
          <a:ln/>
        </p:spPr>
      </p:sp>
      <p:sp>
        <p:nvSpPr>
          <p:cNvPr id="21" name="Text 19"/>
          <p:cNvSpPr/>
          <p:nvPr/>
        </p:nvSpPr>
        <p:spPr>
          <a:xfrm>
            <a:off x="914400" y="7743825"/>
            <a:ext cx="533400" cy="257175"/>
          </a:xfrm>
          <a:prstGeom prst="rect">
            <a:avLst/>
          </a:prstGeom>
          <a:noFill/>
          <a:ln/>
        </p:spPr>
        <p:txBody>
          <a:bodyPr wrap="square" lIns="25400" tIns="25400" rIns="25400" bIns="25400" rtlCol="0" anchor="t">
            <a:normAutofit/>
          </a:bodyPr>
          <a:lstStyle/>
          <a:p>
            <a:pPr algn="l" indent="0" marL="0">
              <a:buNone/>
            </a:pPr>
            <a:r>
              <a:rPr lang="en-US" sz="1500" dirty="0">
                <a:solidFill>
                  <a:srgbClr val="7E9BFF"/>
                </a:solidFill>
                <a:latin typeface="Courier New" pitchFamily="34" charset="0"/>
                <a:ea typeface="Courier New" pitchFamily="34" charset="-122"/>
                <a:cs typeface="Courier New" pitchFamily="34" charset="-120"/>
              </a:rPr>
              <a:t>05</a:t>
            </a:r>
            <a:endParaRPr lang="en-US" sz="1500" dirty="0"/>
          </a:p>
        </p:txBody>
      </p:sp>
      <p:sp>
        <p:nvSpPr>
          <p:cNvPr id="22" name="Text 20"/>
          <p:cNvSpPr/>
          <p:nvPr/>
        </p:nvSpPr>
        <p:spPr>
          <a:xfrm>
            <a:off x="1638300" y="7624762"/>
            <a:ext cx="7817961" cy="495300"/>
          </a:xfrm>
          <a:prstGeom prst="rect">
            <a:avLst/>
          </a:prstGeom>
          <a:noFill/>
          <a:ln/>
        </p:spPr>
        <p:txBody>
          <a:bodyPr wrap="square" lIns="25400" tIns="25400" rIns="25400" bIns="25400" rtlCol="0" anchor="t">
            <a:normAutofit/>
          </a:bodyPr>
          <a:lstStyle/>
          <a:p>
            <a:pPr algn="l" indent="0" marL="0">
              <a:buNone/>
            </a:pPr>
            <a:r>
              <a:rPr lang="en-US" sz="3150" b="1" dirty="0">
                <a:solidFill>
                  <a:srgbClr val="F5F2EA"/>
                </a:solidFill>
                <a:latin typeface="Georgia" pitchFamily="34" charset="0"/>
                <a:ea typeface="Georgia" pitchFamily="34" charset="-122"/>
                <a:cs typeface="Georgia" pitchFamily="34" charset="-120"/>
              </a:rPr>
              <a:t>Rendre le SI scalable pour doubler le CA</a:t>
            </a:r>
            <a:endParaRPr lang="en-US" sz="3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14400" y="828675"/>
            <a:ext cx="5230368"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5F6678"/>
                </a:solidFill>
                <a:latin typeface="Courier New" pitchFamily="34" charset="0"/>
                <a:ea typeface="Courier New" pitchFamily="34" charset="-122"/>
                <a:cs typeface="Courier New" pitchFamily="34" charset="-120"/>
              </a:rPr>
              <a:t>A.6 — AMBITION STRATÉGIQUE</a:t>
            </a:r>
            <a:endParaRPr lang="en-US" sz="1800" dirty="0"/>
          </a:p>
        </p:txBody>
      </p:sp>
      <p:sp>
        <p:nvSpPr>
          <p:cNvPr id="3" name="Shape 1"/>
          <p:cNvSpPr/>
          <p:nvPr/>
        </p:nvSpPr>
        <p:spPr>
          <a:xfrm>
            <a:off x="16021050" y="800100"/>
            <a:ext cx="1352550" cy="314325"/>
          </a:xfrm>
          <a:prstGeom prst="roundRect">
            <a:avLst>
              <a:gd name="adj" fmla="val 50000"/>
            </a:avLst>
          </a:prstGeom>
          <a:ln w="9525">
            <a:solidFill>
              <a:srgbClr val="3F6FE6">
                <a:alpha val="45000"/>
              </a:srgbClr>
            </a:solidFill>
            <a:prstDash val="solid"/>
          </a:ln>
        </p:spPr>
      </p:sp>
      <p:sp>
        <p:nvSpPr>
          <p:cNvPr id="4" name="Text 2"/>
          <p:cNvSpPr/>
          <p:nvPr/>
        </p:nvSpPr>
        <p:spPr>
          <a:xfrm>
            <a:off x="16182975" y="876300"/>
            <a:ext cx="1104900"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3F6FE6"/>
                </a:solidFill>
                <a:latin typeface="Courier New" pitchFamily="34" charset="0"/>
                <a:ea typeface="Courier New" pitchFamily="34" charset="-122"/>
                <a:cs typeface="Courier New" pitchFamily="34" charset="-120"/>
              </a:rPr>
              <a:t>LIVRÉ · J1</a:t>
            </a:r>
            <a:endParaRPr lang="en-US" sz="1125" dirty="0"/>
          </a:p>
        </p:txBody>
      </p:sp>
      <p:sp>
        <p:nvSpPr>
          <p:cNvPr id="5" name="Text 3"/>
          <p:cNvSpPr/>
          <p:nvPr/>
        </p:nvSpPr>
        <p:spPr>
          <a:xfrm>
            <a:off x="914400" y="1285875"/>
            <a:ext cx="18105120"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57" kern="0" dirty="0">
                <a:solidFill>
                  <a:srgbClr val="1D2235"/>
                </a:solidFill>
                <a:latin typeface="Georgia" pitchFamily="34" charset="0"/>
                <a:ea typeface="Georgia" pitchFamily="34" charset="-122"/>
                <a:cs typeface="Georgia" pitchFamily="34" charset="-120"/>
              </a:rPr>
              <a:t>Sept objectifs à l'horizon 5 ans</a:t>
            </a:r>
            <a:endParaRPr lang="en-US" sz="5700" dirty="0"/>
          </a:p>
        </p:txBody>
      </p:sp>
      <p:sp>
        <p:nvSpPr>
          <p:cNvPr id="6" name="Shape 4"/>
          <p:cNvSpPr/>
          <p:nvPr/>
        </p:nvSpPr>
        <p:spPr>
          <a:xfrm>
            <a:off x="914400" y="2952750"/>
            <a:ext cx="7924800" cy="9525"/>
          </a:xfrm>
          <a:prstGeom prst="rect">
            <a:avLst/>
          </a:prstGeom>
          <a:solidFill>
            <a:srgbClr val="1D2235">
              <a:alpha val="10000"/>
            </a:srgbClr>
          </a:solidFill>
          <a:ln/>
        </p:spPr>
      </p:sp>
      <p:sp>
        <p:nvSpPr>
          <p:cNvPr id="7" name="Text 5"/>
          <p:cNvSpPr/>
          <p:nvPr/>
        </p:nvSpPr>
        <p:spPr>
          <a:xfrm>
            <a:off x="914400" y="2600325"/>
            <a:ext cx="281940" cy="228600"/>
          </a:xfrm>
          <a:prstGeom prst="rect">
            <a:avLst/>
          </a:prstGeom>
          <a:noFill/>
          <a:ln/>
        </p:spPr>
        <p:txBody>
          <a:bodyPr wrap="square" lIns="25400" tIns="25400" rIns="25400" bIns="25400" rtlCol="0" anchor="t">
            <a:normAutofit/>
          </a:bodyPr>
          <a:lstStyle/>
          <a:p>
            <a:pPr algn="l" indent="0" marL="0">
              <a:buNone/>
            </a:pPr>
            <a:r>
              <a:rPr lang="en-US" sz="1350" dirty="0">
                <a:solidFill>
                  <a:srgbClr val="3F6FE6"/>
                </a:solidFill>
                <a:latin typeface="Courier New" pitchFamily="34" charset="0"/>
                <a:ea typeface="Courier New" pitchFamily="34" charset="-122"/>
                <a:cs typeface="Courier New" pitchFamily="34" charset="-120"/>
              </a:rPr>
              <a:t>01</a:t>
            </a:r>
            <a:endParaRPr lang="en-US" sz="1350" dirty="0"/>
          </a:p>
        </p:txBody>
      </p:sp>
      <p:sp>
        <p:nvSpPr>
          <p:cNvPr id="8" name="Text 6"/>
          <p:cNvSpPr/>
          <p:nvPr/>
        </p:nvSpPr>
        <p:spPr>
          <a:xfrm>
            <a:off x="1310640" y="2428875"/>
            <a:ext cx="4749800"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D2235"/>
                </a:solidFill>
                <a:latin typeface="Georgia" pitchFamily="34" charset="0"/>
                <a:ea typeface="Georgia" pitchFamily="34" charset="-122"/>
                <a:cs typeface="Georgia" pitchFamily="34" charset="-120"/>
              </a:rPr>
              <a:t>Doubler le CA d'ici la reprise</a:t>
            </a:r>
            <a:endParaRPr lang="en-US" sz="2700" dirty="0"/>
          </a:p>
        </p:txBody>
      </p:sp>
      <p:sp>
        <p:nvSpPr>
          <p:cNvPr id="9" name="Shape 7"/>
          <p:cNvSpPr/>
          <p:nvPr/>
        </p:nvSpPr>
        <p:spPr>
          <a:xfrm>
            <a:off x="9448800" y="2952750"/>
            <a:ext cx="7924800" cy="9525"/>
          </a:xfrm>
          <a:prstGeom prst="rect">
            <a:avLst/>
          </a:prstGeom>
          <a:solidFill>
            <a:srgbClr val="1D2235">
              <a:alpha val="10000"/>
            </a:srgbClr>
          </a:solidFill>
          <a:ln/>
        </p:spPr>
      </p:sp>
      <p:sp>
        <p:nvSpPr>
          <p:cNvPr id="10" name="Text 8"/>
          <p:cNvSpPr/>
          <p:nvPr/>
        </p:nvSpPr>
        <p:spPr>
          <a:xfrm>
            <a:off x="9448800" y="2600325"/>
            <a:ext cx="281940" cy="228600"/>
          </a:xfrm>
          <a:prstGeom prst="rect">
            <a:avLst/>
          </a:prstGeom>
          <a:noFill/>
          <a:ln/>
        </p:spPr>
        <p:txBody>
          <a:bodyPr wrap="square" lIns="25400" tIns="25400" rIns="25400" bIns="25400" rtlCol="0" anchor="t">
            <a:normAutofit/>
          </a:bodyPr>
          <a:lstStyle/>
          <a:p>
            <a:pPr algn="l" indent="0" marL="0">
              <a:buNone/>
            </a:pPr>
            <a:r>
              <a:rPr lang="en-US" sz="1350" dirty="0">
                <a:solidFill>
                  <a:srgbClr val="3F6FE6"/>
                </a:solidFill>
                <a:latin typeface="Courier New" pitchFamily="34" charset="0"/>
                <a:ea typeface="Courier New" pitchFamily="34" charset="-122"/>
                <a:cs typeface="Courier New" pitchFamily="34" charset="-120"/>
              </a:rPr>
              <a:t>02</a:t>
            </a:r>
            <a:endParaRPr lang="en-US" sz="1350" dirty="0"/>
          </a:p>
        </p:txBody>
      </p:sp>
      <p:sp>
        <p:nvSpPr>
          <p:cNvPr id="11" name="Text 9"/>
          <p:cNvSpPr/>
          <p:nvPr/>
        </p:nvSpPr>
        <p:spPr>
          <a:xfrm>
            <a:off x="9845040" y="2428875"/>
            <a:ext cx="5922407"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D2235"/>
                </a:solidFill>
                <a:latin typeface="Georgia" pitchFamily="34" charset="0"/>
                <a:ea typeface="Georgia" pitchFamily="34" charset="-122"/>
                <a:cs typeface="Georgia" pitchFamily="34" charset="-120"/>
              </a:rPr>
              <a:t>Étendre le réseau à d'autres régions</a:t>
            </a:r>
            <a:endParaRPr lang="en-US" sz="2700" dirty="0"/>
          </a:p>
        </p:txBody>
      </p:sp>
      <p:sp>
        <p:nvSpPr>
          <p:cNvPr id="12" name="Shape 10"/>
          <p:cNvSpPr/>
          <p:nvPr/>
        </p:nvSpPr>
        <p:spPr>
          <a:xfrm>
            <a:off x="914400" y="3657600"/>
            <a:ext cx="7924800" cy="9525"/>
          </a:xfrm>
          <a:prstGeom prst="rect">
            <a:avLst/>
          </a:prstGeom>
          <a:solidFill>
            <a:srgbClr val="1D2235">
              <a:alpha val="10000"/>
            </a:srgbClr>
          </a:solidFill>
          <a:ln/>
        </p:spPr>
      </p:sp>
      <p:sp>
        <p:nvSpPr>
          <p:cNvPr id="13" name="Text 11"/>
          <p:cNvSpPr/>
          <p:nvPr/>
        </p:nvSpPr>
        <p:spPr>
          <a:xfrm>
            <a:off x="914400" y="3305175"/>
            <a:ext cx="281940" cy="228600"/>
          </a:xfrm>
          <a:prstGeom prst="rect">
            <a:avLst/>
          </a:prstGeom>
          <a:noFill/>
          <a:ln/>
        </p:spPr>
        <p:txBody>
          <a:bodyPr wrap="square" lIns="25400" tIns="25400" rIns="25400" bIns="25400" rtlCol="0" anchor="t">
            <a:normAutofit/>
          </a:bodyPr>
          <a:lstStyle/>
          <a:p>
            <a:pPr algn="l" indent="0" marL="0">
              <a:buNone/>
            </a:pPr>
            <a:r>
              <a:rPr lang="en-US" sz="1350" dirty="0">
                <a:solidFill>
                  <a:srgbClr val="3F6FE6"/>
                </a:solidFill>
                <a:latin typeface="Courier New" pitchFamily="34" charset="0"/>
                <a:ea typeface="Courier New" pitchFamily="34" charset="-122"/>
                <a:cs typeface="Courier New" pitchFamily="34" charset="-120"/>
              </a:rPr>
              <a:t>03</a:t>
            </a:r>
            <a:endParaRPr lang="en-US" sz="1350" dirty="0"/>
          </a:p>
        </p:txBody>
      </p:sp>
      <p:sp>
        <p:nvSpPr>
          <p:cNvPr id="14" name="Text 12"/>
          <p:cNvSpPr/>
          <p:nvPr/>
        </p:nvSpPr>
        <p:spPr>
          <a:xfrm>
            <a:off x="1310640" y="3133725"/>
            <a:ext cx="7161371"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D2235"/>
                </a:solidFill>
                <a:latin typeface="Georgia" pitchFamily="34" charset="0"/>
                <a:ea typeface="Georgia" pitchFamily="34" charset="-122"/>
                <a:cs typeface="Georgia" pitchFamily="34" charset="-120"/>
              </a:rPr>
              <a:t>Changer d'ERP pour une solution moderne</a:t>
            </a:r>
            <a:endParaRPr lang="en-US" sz="2700" dirty="0"/>
          </a:p>
        </p:txBody>
      </p:sp>
      <p:sp>
        <p:nvSpPr>
          <p:cNvPr id="15" name="Shape 13"/>
          <p:cNvSpPr/>
          <p:nvPr/>
        </p:nvSpPr>
        <p:spPr>
          <a:xfrm>
            <a:off x="9448800" y="3657600"/>
            <a:ext cx="7924800" cy="9525"/>
          </a:xfrm>
          <a:prstGeom prst="rect">
            <a:avLst/>
          </a:prstGeom>
          <a:solidFill>
            <a:srgbClr val="1D2235">
              <a:alpha val="10000"/>
            </a:srgbClr>
          </a:solidFill>
          <a:ln/>
        </p:spPr>
      </p:sp>
      <p:sp>
        <p:nvSpPr>
          <p:cNvPr id="16" name="Text 14"/>
          <p:cNvSpPr/>
          <p:nvPr/>
        </p:nvSpPr>
        <p:spPr>
          <a:xfrm>
            <a:off x="9448800" y="3305175"/>
            <a:ext cx="281940" cy="228600"/>
          </a:xfrm>
          <a:prstGeom prst="rect">
            <a:avLst/>
          </a:prstGeom>
          <a:noFill/>
          <a:ln/>
        </p:spPr>
        <p:txBody>
          <a:bodyPr wrap="square" lIns="25400" tIns="25400" rIns="25400" bIns="25400" rtlCol="0" anchor="t">
            <a:normAutofit/>
          </a:bodyPr>
          <a:lstStyle/>
          <a:p>
            <a:pPr algn="l" indent="0" marL="0">
              <a:buNone/>
            </a:pPr>
            <a:r>
              <a:rPr lang="en-US" sz="1350" dirty="0">
                <a:solidFill>
                  <a:srgbClr val="3F6FE6"/>
                </a:solidFill>
                <a:latin typeface="Courier New" pitchFamily="34" charset="0"/>
                <a:ea typeface="Courier New" pitchFamily="34" charset="-122"/>
                <a:cs typeface="Courier New" pitchFamily="34" charset="-120"/>
              </a:rPr>
              <a:t>04</a:t>
            </a:r>
            <a:endParaRPr lang="en-US" sz="1350" dirty="0"/>
          </a:p>
        </p:txBody>
      </p:sp>
      <p:sp>
        <p:nvSpPr>
          <p:cNvPr id="17" name="Text 15"/>
          <p:cNvSpPr/>
          <p:nvPr/>
        </p:nvSpPr>
        <p:spPr>
          <a:xfrm>
            <a:off x="9845040" y="3133725"/>
            <a:ext cx="6320028"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D2235"/>
                </a:solidFill>
                <a:latin typeface="Georgia" pitchFamily="34" charset="0"/>
                <a:ea typeface="Georgia" pitchFamily="34" charset="-122"/>
                <a:cs typeface="Georgia" pitchFamily="34" charset="-120"/>
              </a:rPr>
              <a:t>Mettre en place la livraison à domicile</a:t>
            </a:r>
            <a:endParaRPr lang="en-US" sz="2700" dirty="0"/>
          </a:p>
        </p:txBody>
      </p:sp>
      <p:sp>
        <p:nvSpPr>
          <p:cNvPr id="18" name="Shape 16"/>
          <p:cNvSpPr/>
          <p:nvPr/>
        </p:nvSpPr>
        <p:spPr>
          <a:xfrm>
            <a:off x="914400" y="4362450"/>
            <a:ext cx="7924800" cy="9525"/>
          </a:xfrm>
          <a:prstGeom prst="rect">
            <a:avLst/>
          </a:prstGeom>
          <a:solidFill>
            <a:srgbClr val="1D2235">
              <a:alpha val="10000"/>
            </a:srgbClr>
          </a:solidFill>
          <a:ln/>
        </p:spPr>
      </p:sp>
      <p:sp>
        <p:nvSpPr>
          <p:cNvPr id="19" name="Text 17"/>
          <p:cNvSpPr/>
          <p:nvPr/>
        </p:nvSpPr>
        <p:spPr>
          <a:xfrm>
            <a:off x="914400" y="4010025"/>
            <a:ext cx="281940" cy="228600"/>
          </a:xfrm>
          <a:prstGeom prst="rect">
            <a:avLst/>
          </a:prstGeom>
          <a:noFill/>
          <a:ln/>
        </p:spPr>
        <p:txBody>
          <a:bodyPr wrap="square" lIns="25400" tIns="25400" rIns="25400" bIns="25400" rtlCol="0" anchor="t">
            <a:normAutofit/>
          </a:bodyPr>
          <a:lstStyle/>
          <a:p>
            <a:pPr algn="l" indent="0" marL="0">
              <a:buNone/>
            </a:pPr>
            <a:r>
              <a:rPr lang="en-US" sz="1350" dirty="0">
                <a:solidFill>
                  <a:srgbClr val="3F6FE6"/>
                </a:solidFill>
                <a:latin typeface="Courier New" pitchFamily="34" charset="0"/>
                <a:ea typeface="Courier New" pitchFamily="34" charset="-122"/>
                <a:cs typeface="Courier New" pitchFamily="34" charset="-120"/>
              </a:rPr>
              <a:t>05</a:t>
            </a:r>
            <a:endParaRPr lang="en-US" sz="1350" dirty="0"/>
          </a:p>
        </p:txBody>
      </p:sp>
      <p:sp>
        <p:nvSpPr>
          <p:cNvPr id="20" name="Text 18"/>
          <p:cNvSpPr/>
          <p:nvPr/>
        </p:nvSpPr>
        <p:spPr>
          <a:xfrm>
            <a:off x="1310640" y="3838575"/>
            <a:ext cx="7047691"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D2235"/>
                </a:solidFill>
                <a:latin typeface="Georgia" pitchFamily="34" charset="0"/>
                <a:ea typeface="Georgia" pitchFamily="34" charset="-122"/>
                <a:cs typeface="Georgia" pitchFamily="34" charset="-120"/>
              </a:rPr>
              <a:t>Indexer les frais de gestion sur le CA (8 %)</a:t>
            </a:r>
            <a:endParaRPr lang="en-US" sz="2700" dirty="0"/>
          </a:p>
        </p:txBody>
      </p:sp>
      <p:sp>
        <p:nvSpPr>
          <p:cNvPr id="21" name="Shape 19"/>
          <p:cNvSpPr/>
          <p:nvPr/>
        </p:nvSpPr>
        <p:spPr>
          <a:xfrm>
            <a:off x="9448800" y="4362450"/>
            <a:ext cx="7924800" cy="9525"/>
          </a:xfrm>
          <a:prstGeom prst="rect">
            <a:avLst/>
          </a:prstGeom>
          <a:solidFill>
            <a:srgbClr val="1D2235">
              <a:alpha val="10000"/>
            </a:srgbClr>
          </a:solidFill>
          <a:ln/>
        </p:spPr>
      </p:sp>
      <p:sp>
        <p:nvSpPr>
          <p:cNvPr id="22" name="Text 20"/>
          <p:cNvSpPr/>
          <p:nvPr/>
        </p:nvSpPr>
        <p:spPr>
          <a:xfrm>
            <a:off x="9448800" y="4010025"/>
            <a:ext cx="281940" cy="228600"/>
          </a:xfrm>
          <a:prstGeom prst="rect">
            <a:avLst/>
          </a:prstGeom>
          <a:noFill/>
          <a:ln/>
        </p:spPr>
        <p:txBody>
          <a:bodyPr wrap="square" lIns="25400" tIns="25400" rIns="25400" bIns="25400" rtlCol="0" anchor="t">
            <a:normAutofit/>
          </a:bodyPr>
          <a:lstStyle/>
          <a:p>
            <a:pPr algn="l" indent="0" marL="0">
              <a:buNone/>
            </a:pPr>
            <a:r>
              <a:rPr lang="en-US" sz="1350" dirty="0">
                <a:solidFill>
                  <a:srgbClr val="3F6FE6"/>
                </a:solidFill>
                <a:latin typeface="Courier New" pitchFamily="34" charset="0"/>
                <a:ea typeface="Courier New" pitchFamily="34" charset="-122"/>
                <a:cs typeface="Courier New" pitchFamily="34" charset="-120"/>
              </a:rPr>
              <a:t>06</a:t>
            </a:r>
            <a:endParaRPr lang="en-US" sz="1350" dirty="0"/>
          </a:p>
        </p:txBody>
      </p:sp>
      <p:sp>
        <p:nvSpPr>
          <p:cNvPr id="23" name="Text 21"/>
          <p:cNvSpPr/>
          <p:nvPr/>
        </p:nvSpPr>
        <p:spPr>
          <a:xfrm>
            <a:off x="9845040" y="3838575"/>
            <a:ext cx="6522244"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D2235"/>
                </a:solidFill>
                <a:latin typeface="Georgia" pitchFamily="34" charset="0"/>
                <a:ea typeface="Georgia" pitchFamily="34" charset="-122"/>
                <a:cs typeface="Georgia" pitchFamily="34" charset="-120"/>
              </a:rPr>
              <a:t>Accélérer le click and collect (déjeuner)</a:t>
            </a:r>
            <a:endParaRPr lang="en-US" sz="2700" dirty="0"/>
          </a:p>
        </p:txBody>
      </p:sp>
      <p:sp>
        <p:nvSpPr>
          <p:cNvPr id="24" name="Shape 22"/>
          <p:cNvSpPr/>
          <p:nvPr/>
        </p:nvSpPr>
        <p:spPr>
          <a:xfrm>
            <a:off x="914400" y="5410200"/>
            <a:ext cx="7924800" cy="9525"/>
          </a:xfrm>
          <a:prstGeom prst="rect">
            <a:avLst/>
          </a:prstGeom>
          <a:solidFill>
            <a:srgbClr val="1D2235">
              <a:alpha val="10000"/>
            </a:srgbClr>
          </a:solidFill>
          <a:ln/>
        </p:spPr>
      </p:sp>
      <p:sp>
        <p:nvSpPr>
          <p:cNvPr id="25" name="Text 23"/>
          <p:cNvSpPr/>
          <p:nvPr/>
        </p:nvSpPr>
        <p:spPr>
          <a:xfrm>
            <a:off x="914400" y="4714875"/>
            <a:ext cx="281940" cy="228600"/>
          </a:xfrm>
          <a:prstGeom prst="rect">
            <a:avLst/>
          </a:prstGeom>
          <a:noFill/>
          <a:ln/>
        </p:spPr>
        <p:txBody>
          <a:bodyPr wrap="square" lIns="25400" tIns="25400" rIns="25400" bIns="25400" rtlCol="0" anchor="t">
            <a:normAutofit/>
          </a:bodyPr>
          <a:lstStyle/>
          <a:p>
            <a:pPr algn="l" indent="0" marL="0">
              <a:buNone/>
            </a:pPr>
            <a:r>
              <a:rPr lang="en-US" sz="1350" dirty="0">
                <a:solidFill>
                  <a:srgbClr val="3F6FE6"/>
                </a:solidFill>
                <a:latin typeface="Courier New" pitchFamily="34" charset="0"/>
                <a:ea typeface="Courier New" pitchFamily="34" charset="-122"/>
                <a:cs typeface="Courier New" pitchFamily="34" charset="-120"/>
              </a:rPr>
              <a:t>07</a:t>
            </a:r>
            <a:endParaRPr lang="en-US" sz="1350" dirty="0"/>
          </a:p>
        </p:txBody>
      </p:sp>
      <p:sp>
        <p:nvSpPr>
          <p:cNvPr id="26" name="Text 24"/>
          <p:cNvSpPr/>
          <p:nvPr/>
        </p:nvSpPr>
        <p:spPr>
          <a:xfrm>
            <a:off x="1310640" y="4543425"/>
            <a:ext cx="6581442" cy="428625"/>
          </a:xfrm>
          <a:prstGeom prst="rect">
            <a:avLst/>
          </a:prstGeom>
          <a:noFill/>
          <a:ln/>
        </p:spPr>
        <p:txBody>
          <a:bodyPr wrap="square" lIns="25400" tIns="25400" rIns="25400" bIns="25400" rtlCol="0" anchor="t">
            <a:normAutofit/>
          </a:bodyPr>
          <a:lstStyle/>
          <a:p>
            <a:pPr algn="l" indent="0" marL="0">
              <a:buNone/>
            </a:pPr>
            <a:r>
              <a:rPr lang="en-US" sz="2700" b="1" dirty="0">
                <a:solidFill>
                  <a:srgbClr val="1D2235"/>
                </a:solidFill>
                <a:latin typeface="Georgia" pitchFamily="34" charset="0"/>
                <a:ea typeface="Georgia" pitchFamily="34" charset="-122"/>
                <a:cs typeface="Georgia" pitchFamily="34" charset="-120"/>
              </a:rPr>
              <a:t>Revoir la logistique au-delà de la région</a:t>
            </a:r>
            <a:endParaRPr lang="en-US" sz="2700" dirty="0"/>
          </a:p>
        </p:txBody>
      </p:sp>
      <p:sp>
        <p:nvSpPr>
          <p:cNvPr id="27" name="Shape 25"/>
          <p:cNvSpPr/>
          <p:nvPr/>
        </p:nvSpPr>
        <p:spPr>
          <a:xfrm>
            <a:off x="9448800" y="4543425"/>
            <a:ext cx="7924800" cy="876300"/>
          </a:xfrm>
          <a:prstGeom prst="roundRect">
            <a:avLst>
              <a:gd name="adj" fmla="val 6522"/>
            </a:avLst>
          </a:prstGeom>
          <a:solidFill>
            <a:srgbClr val="14182A"/>
          </a:solidFill>
          <a:ln/>
        </p:spPr>
      </p:sp>
      <p:sp>
        <p:nvSpPr>
          <p:cNvPr id="28" name="Text 26"/>
          <p:cNvSpPr/>
          <p:nvPr/>
        </p:nvSpPr>
        <p:spPr>
          <a:xfrm>
            <a:off x="9677400" y="4676775"/>
            <a:ext cx="7691628" cy="647700"/>
          </a:xfrm>
          <a:prstGeom prst="rect">
            <a:avLst/>
          </a:prstGeom>
          <a:noFill/>
          <a:ln/>
        </p:spPr>
        <p:txBody>
          <a:bodyPr wrap="square" lIns="25400" tIns="25400" rIns="25400" bIns="25400" rtlCol="0" anchor="t">
            <a:normAutofit/>
          </a:bodyPr>
          <a:lstStyle/>
          <a:p>
            <a:pPr algn="l" indent="0" marL="0">
              <a:buNone/>
            </a:pPr>
            <a:r>
              <a:rPr lang="en-US" sz="2100" i="1" dirty="0">
                <a:solidFill>
                  <a:srgbClr val="C7CBDB"/>
                </a:solidFill>
                <a:latin typeface="Georgia" pitchFamily="34" charset="0"/>
                <a:ea typeface="Georgia" pitchFamily="34" charset="-122"/>
                <a:cs typeface="Georgia" pitchFamily="34" charset="-120"/>
              </a:rPr>
              <a:t>Levier : le réseau relationnel du père et du fils (chefs &amp; traiteurs partout en France).</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82A"/>
        </a:solidFill>
      </p:bgPr>
    </p:bg>
    <p:spTree>
      <p:nvGrpSpPr>
        <p:cNvPr id="1" name=""/>
        <p:cNvGrpSpPr/>
        <p:nvPr/>
      </p:nvGrpSpPr>
      <p:grpSpPr>
        <a:xfrm>
          <a:off x="0" y="0"/>
          <a:ext cx="0" cy="0"/>
          <a:chOff x="0" y="0"/>
          <a:chExt cx="0" cy="0"/>
        </a:xfrm>
      </p:grpSpPr>
      <p:sp>
        <p:nvSpPr>
          <p:cNvPr id="2" name="Text 0"/>
          <p:cNvSpPr/>
          <p:nvPr/>
        </p:nvSpPr>
        <p:spPr>
          <a:xfrm>
            <a:off x="914400" y="3305175"/>
            <a:ext cx="762159" cy="1181100"/>
          </a:xfrm>
          <a:prstGeom prst="rect">
            <a:avLst/>
          </a:prstGeom>
          <a:noFill/>
          <a:ln/>
        </p:spPr>
        <p:txBody>
          <a:bodyPr wrap="square" lIns="25400" tIns="25400" rIns="25400" bIns="25400" rtlCol="0" anchor="t">
            <a:normAutofit/>
          </a:bodyPr>
          <a:lstStyle/>
          <a:p>
            <a:pPr algn="l" indent="0" marL="0">
              <a:lnSpc>
                <a:spcPct val="100000"/>
              </a:lnSpc>
              <a:buNone/>
            </a:pPr>
            <a:r>
              <a:rPr lang="en-US" sz="9000" b="1" dirty="0">
                <a:solidFill>
                  <a:srgbClr val="B08E4F"/>
                </a:solidFill>
                <a:latin typeface="Courier New" pitchFamily="34" charset="0"/>
                <a:ea typeface="Courier New" pitchFamily="34" charset="-122"/>
                <a:cs typeface="Courier New" pitchFamily="34" charset="-120"/>
              </a:rPr>
              <a:t>B</a:t>
            </a:r>
            <a:endParaRPr lang="en-US" sz="9000" dirty="0"/>
          </a:p>
        </p:txBody>
      </p:sp>
      <p:sp>
        <p:nvSpPr>
          <p:cNvPr id="3" name="Shape 1"/>
          <p:cNvSpPr/>
          <p:nvPr/>
        </p:nvSpPr>
        <p:spPr>
          <a:xfrm>
            <a:off x="1828959" y="3871913"/>
            <a:ext cx="857250" cy="9525"/>
          </a:xfrm>
          <a:prstGeom prst="rect">
            <a:avLst/>
          </a:prstGeom>
          <a:solidFill>
            <a:srgbClr val="3F6FE6"/>
          </a:solidFill>
          <a:ln/>
        </p:spPr>
      </p:sp>
      <p:sp>
        <p:nvSpPr>
          <p:cNvPr id="4" name="Text 2"/>
          <p:cNvSpPr/>
          <p:nvPr/>
        </p:nvSpPr>
        <p:spPr>
          <a:xfrm>
            <a:off x="2914809" y="3781425"/>
            <a:ext cx="3319272" cy="228600"/>
          </a:xfrm>
          <a:prstGeom prst="rect">
            <a:avLst/>
          </a:prstGeom>
          <a:noFill/>
          <a:ln/>
        </p:spPr>
        <p:txBody>
          <a:bodyPr wrap="square" lIns="25400" tIns="25400" rIns="25400" bIns="25400" rtlCol="0" anchor="t">
            <a:normAutofit/>
          </a:bodyPr>
          <a:lstStyle/>
          <a:p>
            <a:pPr algn="l" indent="0" marL="0">
              <a:buNone/>
            </a:pPr>
            <a:r>
              <a:rPr lang="en-US" sz="1350" spc="270" kern="0" dirty="0">
                <a:solidFill>
                  <a:srgbClr val="9AA1B8"/>
                </a:solidFill>
                <a:latin typeface="Courier New" pitchFamily="34" charset="0"/>
                <a:ea typeface="Courier New" pitchFamily="34" charset="-122"/>
                <a:cs typeface="Courier New" pitchFamily="34" charset="-120"/>
              </a:rPr>
              <a:t>EN COURS · JOURS 2 → 5</a:t>
            </a:r>
            <a:endParaRPr lang="en-US" sz="1350" dirty="0"/>
          </a:p>
        </p:txBody>
      </p:sp>
      <p:sp>
        <p:nvSpPr>
          <p:cNvPr id="5" name="Text 3"/>
          <p:cNvSpPr/>
          <p:nvPr/>
        </p:nvSpPr>
        <p:spPr>
          <a:xfrm>
            <a:off x="914400" y="4791075"/>
            <a:ext cx="18105120" cy="1028700"/>
          </a:xfrm>
          <a:prstGeom prst="rect">
            <a:avLst/>
          </a:prstGeom>
          <a:noFill/>
          <a:ln/>
        </p:spPr>
        <p:txBody>
          <a:bodyPr wrap="square" lIns="25400" tIns="25400" rIns="25400" bIns="25400" rtlCol="0" anchor="t">
            <a:normAutofit/>
          </a:bodyPr>
          <a:lstStyle/>
          <a:p>
            <a:pPr algn="l" indent="0" marL="0">
              <a:lnSpc>
                <a:spcPct val="100000"/>
              </a:lnSpc>
              <a:buNone/>
            </a:pPr>
            <a:r>
              <a:rPr lang="en-US" sz="7800" b="1" spc="-78" kern="0" dirty="0">
                <a:solidFill>
                  <a:srgbClr val="F5F2EA"/>
                </a:solidFill>
                <a:latin typeface="Georgia" pitchFamily="34" charset="0"/>
                <a:ea typeface="Georgia" pitchFamily="34" charset="-122"/>
                <a:cs typeface="Georgia" pitchFamily="34" charset="-120"/>
              </a:rPr>
              <a:t>La suite — concevoir &amp; chiffrer la cible</a:t>
            </a:r>
            <a:endParaRPr lang="en-US" sz="7800" dirty="0"/>
          </a:p>
        </p:txBody>
      </p:sp>
      <p:sp>
        <p:nvSpPr>
          <p:cNvPr id="6" name="Text 4"/>
          <p:cNvSpPr/>
          <p:nvPr/>
        </p:nvSpPr>
        <p:spPr>
          <a:xfrm>
            <a:off x="914400" y="6067425"/>
            <a:ext cx="12753975" cy="952500"/>
          </a:xfrm>
          <a:prstGeom prst="rect">
            <a:avLst/>
          </a:prstGeom>
          <a:noFill/>
          <a:ln/>
        </p:spPr>
        <p:txBody>
          <a:bodyPr wrap="square" lIns="25400" tIns="25400" rIns="25400" bIns="25400" rtlCol="0" anchor="t">
            <a:normAutofit/>
          </a:bodyPr>
          <a:lstStyle/>
          <a:p>
            <a:pPr algn="l" indent="0" marL="0">
              <a:buNone/>
            </a:pPr>
            <a:r>
              <a:rPr lang="en-US" sz="3150" i="1" dirty="0">
                <a:solidFill>
                  <a:srgbClr val="C7CBDB"/>
                </a:solidFill>
                <a:latin typeface="Georgia" pitchFamily="34" charset="0"/>
                <a:ea typeface="Georgia" pitchFamily="34" charset="-122"/>
                <a:cs typeface="Georgia" pitchFamily="34" charset="-120"/>
              </a:rPr>
              <a:t>Les slides suivantes sont des structures de travail : elles seront remplies au fur et à mesure de la production des livrables.</a:t>
            </a:r>
            <a:endParaRPr lang="en-US" sz="3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14400" y="800100"/>
            <a:ext cx="7644384"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5F6678"/>
                </a:solidFill>
                <a:latin typeface="Courier New" pitchFamily="34" charset="0"/>
                <a:ea typeface="Courier New" pitchFamily="34" charset="-122"/>
                <a:cs typeface="Courier New" pitchFamily="34" charset="-120"/>
              </a:rPr>
              <a:t>B.0 — PLAN DE PRODUCTION DES LIVRABLES</a:t>
            </a:r>
            <a:endParaRPr lang="en-US" sz="1800" dirty="0"/>
          </a:p>
        </p:txBody>
      </p:sp>
      <p:sp>
        <p:nvSpPr>
          <p:cNvPr id="3" name="Text 1"/>
          <p:cNvSpPr/>
          <p:nvPr/>
        </p:nvSpPr>
        <p:spPr>
          <a:xfrm>
            <a:off x="15110460" y="847725"/>
            <a:ext cx="2489454"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5F6678"/>
                </a:solidFill>
                <a:latin typeface="Courier New" pitchFamily="34" charset="0"/>
                <a:ea typeface="Courier New" pitchFamily="34" charset="-122"/>
                <a:cs typeface="Courier New" pitchFamily="34" charset="-120"/>
              </a:rPr>
              <a:t>SÉQUENCEMENT INDICATIF</a:t>
            </a:r>
            <a:endParaRPr lang="en-US" sz="1125" dirty="0"/>
          </a:p>
        </p:txBody>
      </p:sp>
      <p:sp>
        <p:nvSpPr>
          <p:cNvPr id="4" name="Text 2"/>
          <p:cNvSpPr/>
          <p:nvPr/>
        </p:nvSpPr>
        <p:spPr>
          <a:xfrm>
            <a:off x="914400" y="1228725"/>
            <a:ext cx="18105120"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57" kern="0" dirty="0">
                <a:solidFill>
                  <a:srgbClr val="1D2235"/>
                </a:solidFill>
                <a:latin typeface="Georgia" pitchFamily="34" charset="0"/>
                <a:ea typeface="Georgia" pitchFamily="34" charset="-122"/>
                <a:cs typeface="Georgia" pitchFamily="34" charset="-120"/>
              </a:rPr>
              <a:t>Feuille de route — 5 jours</a:t>
            </a:r>
            <a:endParaRPr lang="en-US" sz="5700" dirty="0"/>
          </a:p>
        </p:txBody>
      </p:sp>
      <p:sp>
        <p:nvSpPr>
          <p:cNvPr id="5" name="Shape 3"/>
          <p:cNvSpPr/>
          <p:nvPr/>
        </p:nvSpPr>
        <p:spPr>
          <a:xfrm>
            <a:off x="914400" y="2371725"/>
            <a:ext cx="3139440" cy="7115175"/>
          </a:xfrm>
          <a:prstGeom prst="roundRect">
            <a:avLst>
              <a:gd name="adj" fmla="val 1820"/>
            </a:avLst>
          </a:prstGeom>
          <a:solidFill>
            <a:srgbClr val="14182A"/>
          </a:solidFill>
          <a:ln/>
        </p:spPr>
      </p:sp>
      <p:sp>
        <p:nvSpPr>
          <p:cNvPr id="6" name="Text 4"/>
          <p:cNvSpPr/>
          <p:nvPr/>
        </p:nvSpPr>
        <p:spPr>
          <a:xfrm>
            <a:off x="1162050" y="2657475"/>
            <a:ext cx="2908554"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7E9BFF"/>
                </a:solidFill>
                <a:latin typeface="Courier New" pitchFamily="34" charset="0"/>
                <a:ea typeface="Courier New" pitchFamily="34" charset="-122"/>
                <a:cs typeface="Courier New" pitchFamily="34" charset="-120"/>
              </a:rPr>
              <a:t>JOUR 1</a:t>
            </a:r>
            <a:endParaRPr lang="en-US" sz="1200" dirty="0"/>
          </a:p>
        </p:txBody>
      </p:sp>
      <p:sp>
        <p:nvSpPr>
          <p:cNvPr id="7" name="Text 5"/>
          <p:cNvSpPr/>
          <p:nvPr/>
        </p:nvSpPr>
        <p:spPr>
          <a:xfrm>
            <a:off x="1162050" y="2962275"/>
            <a:ext cx="2908554" cy="1905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3F6FE6"/>
                </a:solidFill>
                <a:latin typeface="Courier New" pitchFamily="34" charset="0"/>
                <a:ea typeface="Courier New" pitchFamily="34" charset="-122"/>
                <a:cs typeface="Courier New" pitchFamily="34" charset="-120"/>
              </a:rPr>
              <a:t>● LIVRÉ</a:t>
            </a:r>
            <a:endParaRPr lang="en-US" sz="1050" dirty="0"/>
          </a:p>
        </p:txBody>
      </p:sp>
      <p:sp>
        <p:nvSpPr>
          <p:cNvPr id="8" name="Shape 6"/>
          <p:cNvSpPr/>
          <p:nvPr/>
        </p:nvSpPr>
        <p:spPr>
          <a:xfrm>
            <a:off x="1162050" y="3248025"/>
            <a:ext cx="2644140" cy="9525"/>
          </a:xfrm>
          <a:prstGeom prst="rect">
            <a:avLst/>
          </a:prstGeom>
          <a:solidFill>
            <a:srgbClr val="F5F2EA">
              <a:alpha val="16000"/>
            </a:srgbClr>
          </a:solidFill>
          <a:ln/>
        </p:spPr>
      </p:sp>
      <p:sp>
        <p:nvSpPr>
          <p:cNvPr id="9" name="Text 7"/>
          <p:cNvSpPr/>
          <p:nvPr/>
        </p:nvSpPr>
        <p:spPr>
          <a:xfrm>
            <a:off x="1162050" y="3390900"/>
            <a:ext cx="2908554" cy="335280"/>
          </a:xfrm>
          <a:prstGeom prst="rect">
            <a:avLst/>
          </a:prstGeom>
          <a:noFill/>
          <a:ln/>
        </p:spPr>
        <p:txBody>
          <a:bodyPr wrap="square" lIns="25400" tIns="25400" rIns="25400" bIns="25400" rtlCol="0" anchor="t">
            <a:normAutofit/>
          </a:bodyPr>
          <a:lstStyle/>
          <a:p>
            <a:pPr algn="l" indent="0" marL="0">
              <a:lnSpc>
                <a:spcPct val="120000"/>
              </a:lnSpc>
              <a:buNone/>
            </a:pPr>
            <a:r>
              <a:rPr lang="en-US" sz="1950" dirty="0">
                <a:solidFill>
                  <a:srgbClr val="F5F2EA"/>
                </a:solidFill>
                <a:latin typeface="Georgia" pitchFamily="34" charset="0"/>
                <a:ea typeface="Georgia" pitchFamily="34" charset="-122"/>
                <a:cs typeface="Georgia" pitchFamily="34" charset="-120"/>
              </a:rPr>
              <a:t>Contexte</a:t>
            </a:r>
            <a:endParaRPr lang="en-US" sz="1950" dirty="0"/>
          </a:p>
        </p:txBody>
      </p:sp>
      <p:sp>
        <p:nvSpPr>
          <p:cNvPr id="10" name="Text 8"/>
          <p:cNvSpPr/>
          <p:nvPr/>
        </p:nvSpPr>
        <p:spPr>
          <a:xfrm>
            <a:off x="1162050" y="3821430"/>
            <a:ext cx="2908554" cy="335280"/>
          </a:xfrm>
          <a:prstGeom prst="rect">
            <a:avLst/>
          </a:prstGeom>
          <a:noFill/>
          <a:ln/>
        </p:spPr>
        <p:txBody>
          <a:bodyPr wrap="square" lIns="25400" tIns="25400" rIns="25400" bIns="25400" rtlCol="0" anchor="t">
            <a:normAutofit/>
          </a:bodyPr>
          <a:lstStyle/>
          <a:p>
            <a:pPr algn="l" indent="0" marL="0">
              <a:lnSpc>
                <a:spcPct val="120000"/>
              </a:lnSpc>
              <a:buNone/>
            </a:pPr>
            <a:r>
              <a:rPr lang="en-US" sz="1950" dirty="0">
                <a:solidFill>
                  <a:srgbClr val="F5F2EA"/>
                </a:solidFill>
                <a:latin typeface="Georgia" pitchFamily="34" charset="0"/>
                <a:ea typeface="Georgia" pitchFamily="34" charset="-122"/>
                <a:cs typeface="Georgia" pitchFamily="34" charset="-120"/>
              </a:rPr>
              <a:t>Parties prenantes</a:t>
            </a:r>
            <a:endParaRPr lang="en-US" sz="1950" dirty="0"/>
          </a:p>
        </p:txBody>
      </p:sp>
      <p:sp>
        <p:nvSpPr>
          <p:cNvPr id="11" name="Text 9"/>
          <p:cNvSpPr/>
          <p:nvPr/>
        </p:nvSpPr>
        <p:spPr>
          <a:xfrm>
            <a:off x="1162050" y="4251960"/>
            <a:ext cx="2908554" cy="335280"/>
          </a:xfrm>
          <a:prstGeom prst="rect">
            <a:avLst/>
          </a:prstGeom>
          <a:noFill/>
          <a:ln/>
        </p:spPr>
        <p:txBody>
          <a:bodyPr wrap="square" lIns="25400" tIns="25400" rIns="25400" bIns="25400" rtlCol="0" anchor="t">
            <a:normAutofit/>
          </a:bodyPr>
          <a:lstStyle/>
          <a:p>
            <a:pPr algn="l" indent="0" marL="0">
              <a:lnSpc>
                <a:spcPct val="120000"/>
              </a:lnSpc>
              <a:buNone/>
            </a:pPr>
            <a:r>
              <a:rPr lang="en-US" sz="1950" dirty="0">
                <a:solidFill>
                  <a:srgbClr val="F5F2EA"/>
                </a:solidFill>
                <a:latin typeface="Georgia" pitchFamily="34" charset="0"/>
                <a:ea typeface="Georgia" pitchFamily="34" charset="-122"/>
                <a:cs typeface="Georgia" pitchFamily="34" charset="-120"/>
              </a:rPr>
              <a:t>SWOT</a:t>
            </a:r>
            <a:endParaRPr lang="en-US" sz="1950" dirty="0"/>
          </a:p>
        </p:txBody>
      </p:sp>
      <p:sp>
        <p:nvSpPr>
          <p:cNvPr id="12" name="Shape 10"/>
          <p:cNvSpPr/>
          <p:nvPr/>
        </p:nvSpPr>
        <p:spPr>
          <a:xfrm>
            <a:off x="4244340" y="2371725"/>
            <a:ext cx="3139440" cy="7115175"/>
          </a:xfrm>
          <a:prstGeom prst="roundRect">
            <a:avLst>
              <a:gd name="adj" fmla="val 1820"/>
            </a:avLst>
          </a:prstGeom>
          <a:solidFill>
            <a:srgbClr val="FFFFFF"/>
          </a:solidFill>
          <a:ln w="9525">
            <a:solidFill>
              <a:srgbClr val="1D2235">
                <a:alpha val="12000"/>
              </a:srgbClr>
            </a:solidFill>
            <a:prstDash val="solid"/>
          </a:ln>
        </p:spPr>
      </p:sp>
      <p:sp>
        <p:nvSpPr>
          <p:cNvPr id="13" name="Text 11"/>
          <p:cNvSpPr/>
          <p:nvPr/>
        </p:nvSpPr>
        <p:spPr>
          <a:xfrm>
            <a:off x="4501515" y="2667000"/>
            <a:ext cx="2887599"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F6678"/>
                </a:solidFill>
                <a:latin typeface="Courier New" pitchFamily="34" charset="0"/>
                <a:ea typeface="Courier New" pitchFamily="34" charset="-122"/>
                <a:cs typeface="Courier New" pitchFamily="34" charset="-120"/>
              </a:rPr>
              <a:t>JOUR 2</a:t>
            </a:r>
            <a:endParaRPr lang="en-US" sz="1200" dirty="0"/>
          </a:p>
        </p:txBody>
      </p:sp>
      <p:sp>
        <p:nvSpPr>
          <p:cNvPr id="14" name="Text 12"/>
          <p:cNvSpPr/>
          <p:nvPr/>
        </p:nvSpPr>
        <p:spPr>
          <a:xfrm>
            <a:off x="4501515" y="2971800"/>
            <a:ext cx="2887599" cy="1905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9A8A5F"/>
                </a:solidFill>
                <a:latin typeface="Courier New" pitchFamily="34" charset="0"/>
                <a:ea typeface="Courier New" pitchFamily="34" charset="-122"/>
                <a:cs typeface="Courier New" pitchFamily="34" charset="-120"/>
              </a:rPr>
              <a:t>○ EN COURS</a:t>
            </a:r>
            <a:endParaRPr lang="en-US" sz="1050" dirty="0"/>
          </a:p>
        </p:txBody>
      </p:sp>
      <p:sp>
        <p:nvSpPr>
          <p:cNvPr id="15" name="Shape 13"/>
          <p:cNvSpPr/>
          <p:nvPr/>
        </p:nvSpPr>
        <p:spPr>
          <a:xfrm>
            <a:off x="4501515" y="3257550"/>
            <a:ext cx="2625090" cy="9525"/>
          </a:xfrm>
          <a:prstGeom prst="rect">
            <a:avLst/>
          </a:prstGeom>
          <a:solidFill>
            <a:srgbClr val="1D2235">
              <a:alpha val="10000"/>
            </a:srgbClr>
          </a:solidFill>
          <a:ln/>
        </p:spPr>
      </p:sp>
      <p:sp>
        <p:nvSpPr>
          <p:cNvPr id="16" name="Text 14"/>
          <p:cNvSpPr/>
          <p:nvPr/>
        </p:nvSpPr>
        <p:spPr>
          <a:xfrm>
            <a:off x="4501515" y="3400425"/>
            <a:ext cx="2703842" cy="632460"/>
          </a:xfrm>
          <a:prstGeom prst="rect">
            <a:avLst/>
          </a:prstGeom>
          <a:noFill/>
          <a:ln/>
        </p:spPr>
        <p:txBody>
          <a:bodyPr wrap="square" lIns="25400" tIns="25400" rIns="25400" bIns="25400" rtlCol="0" anchor="t">
            <a:normAutofit/>
          </a:bodyPr>
          <a:lstStyle/>
          <a:p>
            <a:pPr algn="l" indent="0" marL="0">
              <a:lnSpc>
                <a:spcPct val="120000"/>
              </a:lnSpc>
              <a:buNone/>
            </a:pPr>
            <a:r>
              <a:rPr lang="en-US" sz="1950" dirty="0">
                <a:solidFill>
                  <a:srgbClr val="5F6678"/>
                </a:solidFill>
                <a:latin typeface="Georgia" pitchFamily="34" charset="0"/>
                <a:ea typeface="Georgia" pitchFamily="34" charset="-122"/>
                <a:cs typeface="Georgia" pitchFamily="34" charset="-120"/>
              </a:rPr>
              <a:t>Cartographie as-is formalisée</a:t>
            </a:r>
            <a:endParaRPr lang="en-US" sz="1950" dirty="0"/>
          </a:p>
        </p:txBody>
      </p:sp>
      <p:sp>
        <p:nvSpPr>
          <p:cNvPr id="17" name="Text 15"/>
          <p:cNvSpPr/>
          <p:nvPr/>
        </p:nvSpPr>
        <p:spPr>
          <a:xfrm>
            <a:off x="4501515" y="4128135"/>
            <a:ext cx="2887599" cy="335280"/>
          </a:xfrm>
          <a:prstGeom prst="rect">
            <a:avLst/>
          </a:prstGeom>
          <a:noFill/>
          <a:ln/>
        </p:spPr>
        <p:txBody>
          <a:bodyPr wrap="square" lIns="25400" tIns="25400" rIns="25400" bIns="25400" rtlCol="0" anchor="t">
            <a:normAutofit/>
          </a:bodyPr>
          <a:lstStyle/>
          <a:p>
            <a:pPr algn="l" indent="0" marL="0">
              <a:lnSpc>
                <a:spcPct val="120000"/>
              </a:lnSpc>
              <a:buNone/>
            </a:pPr>
            <a:r>
              <a:rPr lang="en-US" sz="1950" dirty="0">
                <a:solidFill>
                  <a:srgbClr val="5F6678"/>
                </a:solidFill>
                <a:latin typeface="Georgia" pitchFamily="34" charset="0"/>
                <a:ea typeface="Georgia" pitchFamily="34" charset="-122"/>
                <a:cs typeface="Georgia" pitchFamily="34" charset="-120"/>
              </a:rPr>
              <a:t>Processus métier</a:t>
            </a:r>
            <a:endParaRPr lang="en-US" sz="1950" dirty="0"/>
          </a:p>
        </p:txBody>
      </p:sp>
      <p:sp>
        <p:nvSpPr>
          <p:cNvPr id="18" name="Shape 16"/>
          <p:cNvSpPr/>
          <p:nvPr/>
        </p:nvSpPr>
        <p:spPr>
          <a:xfrm>
            <a:off x="7574280" y="2371725"/>
            <a:ext cx="3139440" cy="7115175"/>
          </a:xfrm>
          <a:prstGeom prst="roundRect">
            <a:avLst>
              <a:gd name="adj" fmla="val 1820"/>
            </a:avLst>
          </a:prstGeom>
          <a:solidFill>
            <a:srgbClr val="FFFFFF"/>
          </a:solidFill>
          <a:ln w="9525">
            <a:solidFill>
              <a:srgbClr val="1D2235">
                <a:alpha val="12000"/>
              </a:srgbClr>
            </a:solidFill>
            <a:prstDash val="solid"/>
          </a:ln>
        </p:spPr>
      </p:sp>
      <p:sp>
        <p:nvSpPr>
          <p:cNvPr id="19" name="Text 17"/>
          <p:cNvSpPr/>
          <p:nvPr/>
        </p:nvSpPr>
        <p:spPr>
          <a:xfrm>
            <a:off x="7831455" y="2667000"/>
            <a:ext cx="2887599"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F6678"/>
                </a:solidFill>
                <a:latin typeface="Courier New" pitchFamily="34" charset="0"/>
                <a:ea typeface="Courier New" pitchFamily="34" charset="-122"/>
                <a:cs typeface="Courier New" pitchFamily="34" charset="-120"/>
              </a:rPr>
              <a:t>JOUR 3</a:t>
            </a:r>
            <a:endParaRPr lang="en-US" sz="1200" dirty="0"/>
          </a:p>
        </p:txBody>
      </p:sp>
      <p:sp>
        <p:nvSpPr>
          <p:cNvPr id="20" name="Text 18"/>
          <p:cNvSpPr/>
          <p:nvPr/>
        </p:nvSpPr>
        <p:spPr>
          <a:xfrm>
            <a:off x="7831455" y="2971800"/>
            <a:ext cx="2887599" cy="1905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9A8A5F"/>
                </a:solidFill>
                <a:latin typeface="Courier New" pitchFamily="34" charset="0"/>
                <a:ea typeface="Courier New" pitchFamily="34" charset="-122"/>
                <a:cs typeface="Courier New" pitchFamily="34" charset="-120"/>
              </a:rPr>
              <a:t>○ À VENIR</a:t>
            </a:r>
            <a:endParaRPr lang="en-US" sz="1050" dirty="0"/>
          </a:p>
        </p:txBody>
      </p:sp>
      <p:sp>
        <p:nvSpPr>
          <p:cNvPr id="21" name="Shape 19"/>
          <p:cNvSpPr/>
          <p:nvPr/>
        </p:nvSpPr>
        <p:spPr>
          <a:xfrm>
            <a:off x="7831455" y="3257550"/>
            <a:ext cx="2625090" cy="9525"/>
          </a:xfrm>
          <a:prstGeom prst="rect">
            <a:avLst/>
          </a:prstGeom>
          <a:solidFill>
            <a:srgbClr val="1D2235">
              <a:alpha val="10000"/>
            </a:srgbClr>
          </a:solidFill>
          <a:ln/>
        </p:spPr>
      </p:sp>
      <p:sp>
        <p:nvSpPr>
          <p:cNvPr id="22" name="Text 20"/>
          <p:cNvSpPr/>
          <p:nvPr/>
        </p:nvSpPr>
        <p:spPr>
          <a:xfrm>
            <a:off x="7831455" y="3400425"/>
            <a:ext cx="2887599" cy="335280"/>
          </a:xfrm>
          <a:prstGeom prst="rect">
            <a:avLst/>
          </a:prstGeom>
          <a:noFill/>
          <a:ln/>
        </p:spPr>
        <p:txBody>
          <a:bodyPr wrap="square" lIns="25400" tIns="25400" rIns="25400" bIns="25400" rtlCol="0" anchor="t">
            <a:normAutofit/>
          </a:bodyPr>
          <a:lstStyle/>
          <a:p>
            <a:pPr algn="l" indent="0" marL="0">
              <a:lnSpc>
                <a:spcPct val="120000"/>
              </a:lnSpc>
              <a:buNone/>
            </a:pPr>
            <a:r>
              <a:rPr lang="en-US" sz="1950" dirty="0">
                <a:solidFill>
                  <a:srgbClr val="5F6678"/>
                </a:solidFill>
                <a:latin typeface="Georgia" pitchFamily="34" charset="0"/>
                <a:ea typeface="Georgia" pitchFamily="34" charset="-122"/>
                <a:cs typeface="Georgia" pitchFamily="34" charset="-120"/>
              </a:rPr>
              <a:t>Analyse des risques</a:t>
            </a:r>
            <a:endParaRPr lang="en-US" sz="1950" dirty="0"/>
          </a:p>
        </p:txBody>
      </p:sp>
      <p:sp>
        <p:nvSpPr>
          <p:cNvPr id="23" name="Text 21"/>
          <p:cNvSpPr/>
          <p:nvPr/>
        </p:nvSpPr>
        <p:spPr>
          <a:xfrm>
            <a:off x="7831455" y="3830955"/>
            <a:ext cx="2703843" cy="632460"/>
          </a:xfrm>
          <a:prstGeom prst="rect">
            <a:avLst/>
          </a:prstGeom>
          <a:noFill/>
          <a:ln/>
        </p:spPr>
        <p:txBody>
          <a:bodyPr wrap="square" lIns="25400" tIns="25400" rIns="25400" bIns="25400" rtlCol="0" anchor="t">
            <a:normAutofit/>
          </a:bodyPr>
          <a:lstStyle/>
          <a:p>
            <a:pPr algn="l" indent="0" marL="0">
              <a:lnSpc>
                <a:spcPct val="120000"/>
              </a:lnSpc>
              <a:buNone/>
            </a:pPr>
            <a:r>
              <a:rPr lang="en-US" sz="1950" dirty="0">
                <a:solidFill>
                  <a:srgbClr val="5F6678"/>
                </a:solidFill>
                <a:latin typeface="Georgia" pitchFamily="34" charset="0"/>
                <a:ea typeface="Georgia" pitchFamily="34" charset="-122"/>
                <a:cs typeface="Georgia" pitchFamily="34" charset="-120"/>
              </a:rPr>
              <a:t>Cartographie cible (might be)</a:t>
            </a:r>
            <a:endParaRPr lang="en-US" sz="1950" dirty="0"/>
          </a:p>
        </p:txBody>
      </p:sp>
      <p:sp>
        <p:nvSpPr>
          <p:cNvPr id="24" name="Shape 22"/>
          <p:cNvSpPr/>
          <p:nvPr/>
        </p:nvSpPr>
        <p:spPr>
          <a:xfrm>
            <a:off x="10904220" y="2371725"/>
            <a:ext cx="3139440" cy="7115175"/>
          </a:xfrm>
          <a:prstGeom prst="roundRect">
            <a:avLst>
              <a:gd name="adj" fmla="val 1820"/>
            </a:avLst>
          </a:prstGeom>
          <a:solidFill>
            <a:srgbClr val="FFFFFF"/>
          </a:solidFill>
          <a:ln w="9525">
            <a:solidFill>
              <a:srgbClr val="1D2235">
                <a:alpha val="12000"/>
              </a:srgbClr>
            </a:solidFill>
            <a:prstDash val="solid"/>
          </a:ln>
        </p:spPr>
      </p:sp>
      <p:sp>
        <p:nvSpPr>
          <p:cNvPr id="25" name="Text 23"/>
          <p:cNvSpPr/>
          <p:nvPr/>
        </p:nvSpPr>
        <p:spPr>
          <a:xfrm>
            <a:off x="11161395" y="2667000"/>
            <a:ext cx="2887599"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F6678"/>
                </a:solidFill>
                <a:latin typeface="Courier New" pitchFamily="34" charset="0"/>
                <a:ea typeface="Courier New" pitchFamily="34" charset="-122"/>
                <a:cs typeface="Courier New" pitchFamily="34" charset="-120"/>
              </a:rPr>
              <a:t>JOUR 4</a:t>
            </a:r>
            <a:endParaRPr lang="en-US" sz="1200" dirty="0"/>
          </a:p>
        </p:txBody>
      </p:sp>
      <p:sp>
        <p:nvSpPr>
          <p:cNvPr id="26" name="Text 24"/>
          <p:cNvSpPr/>
          <p:nvPr/>
        </p:nvSpPr>
        <p:spPr>
          <a:xfrm>
            <a:off x="11161395" y="2971800"/>
            <a:ext cx="2887599" cy="1905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9A8A5F"/>
                </a:solidFill>
                <a:latin typeface="Courier New" pitchFamily="34" charset="0"/>
                <a:ea typeface="Courier New" pitchFamily="34" charset="-122"/>
                <a:cs typeface="Courier New" pitchFamily="34" charset="-120"/>
              </a:rPr>
              <a:t>○ À VENIR</a:t>
            </a:r>
            <a:endParaRPr lang="en-US" sz="1050" dirty="0"/>
          </a:p>
        </p:txBody>
      </p:sp>
      <p:sp>
        <p:nvSpPr>
          <p:cNvPr id="27" name="Shape 25"/>
          <p:cNvSpPr/>
          <p:nvPr/>
        </p:nvSpPr>
        <p:spPr>
          <a:xfrm>
            <a:off x="11161395" y="3257550"/>
            <a:ext cx="2625090" cy="9525"/>
          </a:xfrm>
          <a:prstGeom prst="rect">
            <a:avLst/>
          </a:prstGeom>
          <a:solidFill>
            <a:srgbClr val="1D2235">
              <a:alpha val="10000"/>
            </a:srgbClr>
          </a:solidFill>
          <a:ln/>
        </p:spPr>
      </p:sp>
      <p:sp>
        <p:nvSpPr>
          <p:cNvPr id="28" name="Text 26"/>
          <p:cNvSpPr/>
          <p:nvPr/>
        </p:nvSpPr>
        <p:spPr>
          <a:xfrm>
            <a:off x="11161395" y="3400425"/>
            <a:ext cx="2703842" cy="632460"/>
          </a:xfrm>
          <a:prstGeom prst="rect">
            <a:avLst/>
          </a:prstGeom>
          <a:noFill/>
          <a:ln/>
        </p:spPr>
        <p:txBody>
          <a:bodyPr wrap="square" lIns="25400" tIns="25400" rIns="25400" bIns="25400" rtlCol="0" anchor="t">
            <a:normAutofit/>
          </a:bodyPr>
          <a:lstStyle/>
          <a:p>
            <a:pPr algn="l" indent="0" marL="0">
              <a:lnSpc>
                <a:spcPct val="120000"/>
              </a:lnSpc>
              <a:buNone/>
            </a:pPr>
            <a:r>
              <a:rPr lang="en-US" sz="1950" dirty="0">
                <a:solidFill>
                  <a:srgbClr val="5F6678"/>
                </a:solidFill>
                <a:latin typeface="Georgia" pitchFamily="34" charset="0"/>
                <a:ea typeface="Georgia" pitchFamily="34" charset="-122"/>
                <a:cs typeface="Georgia" pitchFamily="34" charset="-120"/>
              </a:rPr>
              <a:t>Recommandations architecturales</a:t>
            </a:r>
            <a:endParaRPr lang="en-US" sz="1950" dirty="0"/>
          </a:p>
        </p:txBody>
      </p:sp>
      <p:sp>
        <p:nvSpPr>
          <p:cNvPr id="29" name="Text 27"/>
          <p:cNvSpPr/>
          <p:nvPr/>
        </p:nvSpPr>
        <p:spPr>
          <a:xfrm>
            <a:off x="11161395" y="4128135"/>
            <a:ext cx="2703842" cy="632460"/>
          </a:xfrm>
          <a:prstGeom prst="rect">
            <a:avLst/>
          </a:prstGeom>
          <a:noFill/>
          <a:ln/>
        </p:spPr>
        <p:txBody>
          <a:bodyPr wrap="square" lIns="25400" tIns="25400" rIns="25400" bIns="25400" rtlCol="0" anchor="t">
            <a:normAutofit/>
          </a:bodyPr>
          <a:lstStyle/>
          <a:p>
            <a:pPr algn="l" indent="0" marL="0">
              <a:lnSpc>
                <a:spcPct val="120000"/>
              </a:lnSpc>
              <a:buNone/>
            </a:pPr>
            <a:r>
              <a:rPr lang="en-US" sz="1950" dirty="0">
                <a:solidFill>
                  <a:srgbClr val="5F6678"/>
                </a:solidFill>
                <a:latin typeface="Georgia" pitchFamily="34" charset="0"/>
                <a:ea typeface="Georgia" pitchFamily="34" charset="-122"/>
                <a:cs typeface="Georgia" pitchFamily="34" charset="-120"/>
              </a:rPr>
              <a:t>Évaluation chiffrée / ROI</a:t>
            </a:r>
            <a:endParaRPr lang="en-US" sz="1950" dirty="0"/>
          </a:p>
        </p:txBody>
      </p:sp>
      <p:sp>
        <p:nvSpPr>
          <p:cNvPr id="30" name="Shape 28"/>
          <p:cNvSpPr/>
          <p:nvPr/>
        </p:nvSpPr>
        <p:spPr>
          <a:xfrm>
            <a:off x="14234160" y="2371725"/>
            <a:ext cx="3139440" cy="7115175"/>
          </a:xfrm>
          <a:prstGeom prst="roundRect">
            <a:avLst>
              <a:gd name="adj" fmla="val 1820"/>
            </a:avLst>
          </a:prstGeom>
          <a:solidFill>
            <a:srgbClr val="FFFFFF"/>
          </a:solidFill>
          <a:ln w="9525">
            <a:solidFill>
              <a:srgbClr val="1D2235">
                <a:alpha val="12000"/>
              </a:srgbClr>
            </a:solidFill>
            <a:prstDash val="solid"/>
          </a:ln>
        </p:spPr>
      </p:sp>
      <p:sp>
        <p:nvSpPr>
          <p:cNvPr id="31" name="Text 29"/>
          <p:cNvSpPr/>
          <p:nvPr/>
        </p:nvSpPr>
        <p:spPr>
          <a:xfrm>
            <a:off x="14491335" y="2667000"/>
            <a:ext cx="2887599"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F6678"/>
                </a:solidFill>
                <a:latin typeface="Courier New" pitchFamily="34" charset="0"/>
                <a:ea typeface="Courier New" pitchFamily="34" charset="-122"/>
                <a:cs typeface="Courier New" pitchFamily="34" charset="-120"/>
              </a:rPr>
              <a:t>JOUR 5</a:t>
            </a:r>
            <a:endParaRPr lang="en-US" sz="1200" dirty="0"/>
          </a:p>
        </p:txBody>
      </p:sp>
      <p:sp>
        <p:nvSpPr>
          <p:cNvPr id="32" name="Text 30"/>
          <p:cNvSpPr/>
          <p:nvPr/>
        </p:nvSpPr>
        <p:spPr>
          <a:xfrm>
            <a:off x="14491335" y="2971800"/>
            <a:ext cx="2887599" cy="19050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9A8A5F"/>
                </a:solidFill>
                <a:latin typeface="Courier New" pitchFamily="34" charset="0"/>
                <a:ea typeface="Courier New" pitchFamily="34" charset="-122"/>
                <a:cs typeface="Courier New" pitchFamily="34" charset="-120"/>
              </a:rPr>
              <a:t>○ À VENIR</a:t>
            </a:r>
            <a:endParaRPr lang="en-US" sz="1050" dirty="0"/>
          </a:p>
        </p:txBody>
      </p:sp>
      <p:sp>
        <p:nvSpPr>
          <p:cNvPr id="33" name="Shape 31"/>
          <p:cNvSpPr/>
          <p:nvPr/>
        </p:nvSpPr>
        <p:spPr>
          <a:xfrm>
            <a:off x="14491335" y="3257550"/>
            <a:ext cx="2625090" cy="9525"/>
          </a:xfrm>
          <a:prstGeom prst="rect">
            <a:avLst/>
          </a:prstGeom>
          <a:solidFill>
            <a:srgbClr val="1D2235">
              <a:alpha val="10000"/>
            </a:srgbClr>
          </a:solidFill>
          <a:ln/>
        </p:spPr>
      </p:sp>
      <p:sp>
        <p:nvSpPr>
          <p:cNvPr id="34" name="Text 32"/>
          <p:cNvSpPr/>
          <p:nvPr/>
        </p:nvSpPr>
        <p:spPr>
          <a:xfrm>
            <a:off x="14491335" y="3400425"/>
            <a:ext cx="2887599" cy="335280"/>
          </a:xfrm>
          <a:prstGeom prst="rect">
            <a:avLst/>
          </a:prstGeom>
          <a:noFill/>
          <a:ln/>
        </p:spPr>
        <p:txBody>
          <a:bodyPr wrap="square" lIns="25400" tIns="25400" rIns="25400" bIns="25400" rtlCol="0" anchor="t">
            <a:normAutofit/>
          </a:bodyPr>
          <a:lstStyle/>
          <a:p>
            <a:pPr algn="l" indent="0" marL="0">
              <a:lnSpc>
                <a:spcPct val="120000"/>
              </a:lnSpc>
              <a:buNone/>
            </a:pPr>
            <a:r>
              <a:rPr lang="en-US" sz="1950" dirty="0">
                <a:solidFill>
                  <a:srgbClr val="5F6678"/>
                </a:solidFill>
                <a:latin typeface="Georgia" pitchFamily="34" charset="0"/>
                <a:ea typeface="Georgia" pitchFamily="34" charset="-122"/>
                <a:cs typeface="Georgia" pitchFamily="34" charset="-120"/>
              </a:rPr>
              <a:t>SDSI 5 ans</a:t>
            </a:r>
            <a:endParaRPr lang="en-US" sz="1950" dirty="0"/>
          </a:p>
        </p:txBody>
      </p:sp>
      <p:sp>
        <p:nvSpPr>
          <p:cNvPr id="35" name="Text 33"/>
          <p:cNvSpPr/>
          <p:nvPr/>
        </p:nvSpPr>
        <p:spPr>
          <a:xfrm>
            <a:off x="14491335" y="3830955"/>
            <a:ext cx="2703843" cy="632460"/>
          </a:xfrm>
          <a:prstGeom prst="rect">
            <a:avLst/>
          </a:prstGeom>
          <a:noFill/>
          <a:ln/>
        </p:spPr>
        <p:txBody>
          <a:bodyPr wrap="square" lIns="25400" tIns="25400" rIns="25400" bIns="25400" rtlCol="0" anchor="t">
            <a:normAutofit/>
          </a:bodyPr>
          <a:lstStyle/>
          <a:p>
            <a:pPr algn="l" indent="0" marL="0">
              <a:lnSpc>
                <a:spcPct val="120000"/>
              </a:lnSpc>
              <a:buNone/>
            </a:pPr>
            <a:r>
              <a:rPr lang="en-US" sz="1950" dirty="0">
                <a:solidFill>
                  <a:srgbClr val="5F6678"/>
                </a:solidFill>
                <a:latin typeface="Georgia" pitchFamily="34" charset="0"/>
                <a:ea typeface="Georgia" pitchFamily="34" charset="-122"/>
                <a:cs typeface="Georgia" pitchFamily="34" charset="-120"/>
              </a:rPr>
              <a:t>Consolidation &amp; soutenance</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14400" y="828675"/>
            <a:ext cx="9253728"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5F6678"/>
                </a:solidFill>
                <a:latin typeface="Courier New" pitchFamily="34" charset="0"/>
                <a:ea typeface="Courier New" pitchFamily="34" charset="-122"/>
                <a:cs typeface="Courier New" pitchFamily="34" charset="-120"/>
              </a:rPr>
              <a:t>B.1 — CARTOGRAPHIE SI CIBLE (MIGHT BE / TO BE)</a:t>
            </a:r>
            <a:endParaRPr lang="en-US" sz="1800" dirty="0"/>
          </a:p>
        </p:txBody>
      </p:sp>
      <p:sp>
        <p:nvSpPr>
          <p:cNvPr id="3" name="Shape 1"/>
          <p:cNvSpPr/>
          <p:nvPr/>
        </p:nvSpPr>
        <p:spPr>
          <a:xfrm>
            <a:off x="15815310" y="800100"/>
            <a:ext cx="1558290" cy="314325"/>
          </a:xfrm>
          <a:prstGeom prst="roundRect">
            <a:avLst>
              <a:gd name="adj" fmla="val 50000"/>
            </a:avLst>
          </a:prstGeom>
          <a:ln w="9525">
            <a:solidFill>
              <a:srgbClr val="B08E4F"/>
            </a:solidFill>
            <a:prstDash val="dash"/>
          </a:ln>
        </p:spPr>
      </p:sp>
      <p:sp>
        <p:nvSpPr>
          <p:cNvPr id="4" name="Text 2"/>
          <p:cNvSpPr/>
          <p:nvPr/>
        </p:nvSpPr>
        <p:spPr>
          <a:xfrm>
            <a:off x="15977235" y="876300"/>
            <a:ext cx="1310640"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9A8A5F"/>
                </a:solidFill>
                <a:latin typeface="Courier New" pitchFamily="34" charset="0"/>
                <a:ea typeface="Courier New" pitchFamily="34" charset="-122"/>
                <a:cs typeface="Courier New" pitchFamily="34" charset="-120"/>
              </a:rPr>
              <a:t>À VENIR · J3</a:t>
            </a:r>
            <a:endParaRPr lang="en-US" sz="1125" dirty="0"/>
          </a:p>
        </p:txBody>
      </p:sp>
      <p:sp>
        <p:nvSpPr>
          <p:cNvPr id="5" name="Text 3"/>
          <p:cNvSpPr/>
          <p:nvPr/>
        </p:nvSpPr>
        <p:spPr>
          <a:xfrm>
            <a:off x="914400" y="1285875"/>
            <a:ext cx="18105120"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57" kern="0" dirty="0">
                <a:solidFill>
                  <a:srgbClr val="1D2235"/>
                </a:solidFill>
                <a:latin typeface="Georgia" pitchFamily="34" charset="0"/>
                <a:ea typeface="Georgia" pitchFamily="34" charset="-122"/>
                <a:cs typeface="Georgia" pitchFamily="34" charset="-120"/>
              </a:rPr>
              <a:t>La cible, par couches d'urbanisation</a:t>
            </a:r>
            <a:endParaRPr lang="en-US" sz="5700" dirty="0"/>
          </a:p>
        </p:txBody>
      </p:sp>
      <p:sp>
        <p:nvSpPr>
          <p:cNvPr id="6" name="Text 4"/>
          <p:cNvSpPr/>
          <p:nvPr/>
        </p:nvSpPr>
        <p:spPr>
          <a:xfrm>
            <a:off x="914400" y="2162175"/>
            <a:ext cx="13620750" cy="397192"/>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5F6678"/>
                </a:solidFill>
                <a:latin typeface="Arial" pitchFamily="34" charset="0"/>
                <a:ea typeface="Arial" pitchFamily="34" charset="-122"/>
                <a:cs typeface="Arial" pitchFamily="34" charset="-120"/>
              </a:rPr>
              <a:t>Structure de travail — chaque couche sera détaillée avec les composants cible et leurs flux.</a:t>
            </a:r>
            <a:endParaRPr lang="en-US" sz="1950" dirty="0"/>
          </a:p>
        </p:txBody>
      </p:sp>
      <p:sp>
        <p:nvSpPr>
          <p:cNvPr id="7" name="Shape 5"/>
          <p:cNvSpPr/>
          <p:nvPr/>
        </p:nvSpPr>
        <p:spPr>
          <a:xfrm>
            <a:off x="914400" y="2864168"/>
            <a:ext cx="3971925" cy="6051232"/>
          </a:xfrm>
          <a:prstGeom prst="roundRect">
            <a:avLst>
              <a:gd name="adj" fmla="val 1439"/>
            </a:avLst>
          </a:prstGeom>
          <a:ln w="9525">
            <a:solidFill>
              <a:srgbClr val="1D2235">
                <a:alpha val="28000"/>
              </a:srgbClr>
            </a:solidFill>
            <a:prstDash val="dash"/>
          </a:ln>
        </p:spPr>
      </p:sp>
      <p:sp>
        <p:nvSpPr>
          <p:cNvPr id="8" name="Text 6"/>
          <p:cNvSpPr/>
          <p:nvPr/>
        </p:nvSpPr>
        <p:spPr>
          <a:xfrm>
            <a:off x="1152525" y="3140393"/>
            <a:ext cx="3845243"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3F6FE6"/>
                </a:solidFill>
                <a:latin typeface="Courier New" pitchFamily="34" charset="0"/>
                <a:ea typeface="Courier New" pitchFamily="34" charset="-122"/>
                <a:cs typeface="Courier New" pitchFamily="34" charset="-120"/>
              </a:rPr>
              <a:t>COUCHE MÉTIER</a:t>
            </a:r>
            <a:endParaRPr lang="en-US" sz="1125" dirty="0"/>
          </a:p>
        </p:txBody>
      </p:sp>
      <p:sp>
        <p:nvSpPr>
          <p:cNvPr id="9" name="Text 7"/>
          <p:cNvSpPr/>
          <p:nvPr/>
        </p:nvSpPr>
        <p:spPr>
          <a:xfrm>
            <a:off x="1152525" y="3435668"/>
            <a:ext cx="3600545" cy="651510"/>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5F6678"/>
                </a:solidFill>
                <a:latin typeface="Arial" pitchFamily="34" charset="0"/>
                <a:ea typeface="Arial" pitchFamily="34" charset="-122"/>
                <a:cs typeface="Arial" pitchFamily="34" charset="-120"/>
              </a:rPr>
              <a:t>Commande, préparation, livraison, franchise, supply chain</a:t>
            </a:r>
            <a:endParaRPr lang="en-US" sz="1725" dirty="0"/>
          </a:p>
        </p:txBody>
      </p:sp>
      <p:sp>
        <p:nvSpPr>
          <p:cNvPr id="10" name="Shape 8"/>
          <p:cNvSpPr/>
          <p:nvPr/>
        </p:nvSpPr>
        <p:spPr>
          <a:xfrm>
            <a:off x="5076825" y="2864168"/>
            <a:ext cx="3971925" cy="6051232"/>
          </a:xfrm>
          <a:prstGeom prst="roundRect">
            <a:avLst>
              <a:gd name="adj" fmla="val 1439"/>
            </a:avLst>
          </a:prstGeom>
          <a:ln w="9525">
            <a:solidFill>
              <a:srgbClr val="1D2235">
                <a:alpha val="28000"/>
              </a:srgbClr>
            </a:solidFill>
            <a:prstDash val="dash"/>
          </a:ln>
        </p:spPr>
      </p:sp>
      <p:sp>
        <p:nvSpPr>
          <p:cNvPr id="11" name="Text 9"/>
          <p:cNvSpPr/>
          <p:nvPr/>
        </p:nvSpPr>
        <p:spPr>
          <a:xfrm>
            <a:off x="5314950" y="3140393"/>
            <a:ext cx="3845243"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3F6FE6"/>
                </a:solidFill>
                <a:latin typeface="Courier New" pitchFamily="34" charset="0"/>
                <a:ea typeface="Courier New" pitchFamily="34" charset="-122"/>
                <a:cs typeface="Courier New" pitchFamily="34" charset="-120"/>
              </a:rPr>
              <a:t>COUCHE FONCTIONNELLE</a:t>
            </a:r>
            <a:endParaRPr lang="en-US" sz="1125" dirty="0"/>
          </a:p>
        </p:txBody>
      </p:sp>
      <p:sp>
        <p:nvSpPr>
          <p:cNvPr id="12" name="Text 10"/>
          <p:cNvSpPr/>
          <p:nvPr/>
        </p:nvSpPr>
        <p:spPr>
          <a:xfrm>
            <a:off x="5314950" y="3435668"/>
            <a:ext cx="3600545" cy="651510"/>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5F6678"/>
                </a:solidFill>
                <a:latin typeface="Arial" pitchFamily="34" charset="0"/>
                <a:ea typeface="Arial" pitchFamily="34" charset="-122"/>
                <a:cs typeface="Arial" pitchFamily="34" charset="-120"/>
              </a:rPr>
              <a:t>Click &amp; collect, livraison, BI temps réel, CRM</a:t>
            </a:r>
            <a:endParaRPr lang="en-US" sz="1725" dirty="0"/>
          </a:p>
        </p:txBody>
      </p:sp>
      <p:sp>
        <p:nvSpPr>
          <p:cNvPr id="13" name="Shape 11"/>
          <p:cNvSpPr/>
          <p:nvPr/>
        </p:nvSpPr>
        <p:spPr>
          <a:xfrm>
            <a:off x="9239250" y="2864168"/>
            <a:ext cx="3971925" cy="6051232"/>
          </a:xfrm>
          <a:prstGeom prst="roundRect">
            <a:avLst>
              <a:gd name="adj" fmla="val 1439"/>
            </a:avLst>
          </a:prstGeom>
          <a:ln w="9525">
            <a:solidFill>
              <a:srgbClr val="1D2235">
                <a:alpha val="28000"/>
              </a:srgbClr>
            </a:solidFill>
            <a:prstDash val="dash"/>
          </a:ln>
        </p:spPr>
      </p:sp>
      <p:sp>
        <p:nvSpPr>
          <p:cNvPr id="14" name="Text 12"/>
          <p:cNvSpPr/>
          <p:nvPr/>
        </p:nvSpPr>
        <p:spPr>
          <a:xfrm>
            <a:off x="9477375" y="3140393"/>
            <a:ext cx="3845243"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3F6FE6"/>
                </a:solidFill>
                <a:latin typeface="Courier New" pitchFamily="34" charset="0"/>
                <a:ea typeface="Courier New" pitchFamily="34" charset="-122"/>
                <a:cs typeface="Courier New" pitchFamily="34" charset="-120"/>
              </a:rPr>
              <a:t>COUCHE APPLICATIVE</a:t>
            </a:r>
            <a:endParaRPr lang="en-US" sz="1125" dirty="0"/>
          </a:p>
        </p:txBody>
      </p:sp>
      <p:sp>
        <p:nvSpPr>
          <p:cNvPr id="15" name="Text 13"/>
          <p:cNvSpPr/>
          <p:nvPr/>
        </p:nvSpPr>
        <p:spPr>
          <a:xfrm>
            <a:off x="9477375" y="3435668"/>
            <a:ext cx="3600545" cy="651510"/>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5F6678"/>
                </a:solidFill>
                <a:latin typeface="Arial" pitchFamily="34" charset="0"/>
                <a:ea typeface="Arial" pitchFamily="34" charset="-122"/>
                <a:cs typeface="Arial" pitchFamily="34" charset="-120"/>
              </a:rPr>
              <a:t>Nouvel ERP, caisse, web/app, briques de livraison</a:t>
            </a:r>
            <a:endParaRPr lang="en-US" sz="1725" dirty="0"/>
          </a:p>
        </p:txBody>
      </p:sp>
      <p:sp>
        <p:nvSpPr>
          <p:cNvPr id="16" name="Shape 14"/>
          <p:cNvSpPr/>
          <p:nvPr/>
        </p:nvSpPr>
        <p:spPr>
          <a:xfrm>
            <a:off x="13401675" y="2864168"/>
            <a:ext cx="3971925" cy="6051232"/>
          </a:xfrm>
          <a:prstGeom prst="roundRect">
            <a:avLst>
              <a:gd name="adj" fmla="val 1439"/>
            </a:avLst>
          </a:prstGeom>
          <a:ln w="9525">
            <a:solidFill>
              <a:srgbClr val="1D2235">
                <a:alpha val="28000"/>
              </a:srgbClr>
            </a:solidFill>
            <a:prstDash val="dash"/>
          </a:ln>
        </p:spPr>
      </p:sp>
      <p:sp>
        <p:nvSpPr>
          <p:cNvPr id="17" name="Text 15"/>
          <p:cNvSpPr/>
          <p:nvPr/>
        </p:nvSpPr>
        <p:spPr>
          <a:xfrm>
            <a:off x="13639800" y="3140393"/>
            <a:ext cx="3845243"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3F6FE6"/>
                </a:solidFill>
                <a:latin typeface="Courier New" pitchFamily="34" charset="0"/>
                <a:ea typeface="Courier New" pitchFamily="34" charset="-122"/>
                <a:cs typeface="Courier New" pitchFamily="34" charset="-120"/>
              </a:rPr>
              <a:t>COUCHE TECHNIQUE</a:t>
            </a:r>
            <a:endParaRPr lang="en-US" sz="1125" dirty="0"/>
          </a:p>
        </p:txBody>
      </p:sp>
      <p:sp>
        <p:nvSpPr>
          <p:cNvPr id="18" name="Text 16"/>
          <p:cNvSpPr/>
          <p:nvPr/>
        </p:nvSpPr>
        <p:spPr>
          <a:xfrm>
            <a:off x="13639800" y="3435668"/>
            <a:ext cx="3600545" cy="651510"/>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5F6678"/>
                </a:solidFill>
                <a:latin typeface="Arial" pitchFamily="34" charset="0"/>
                <a:ea typeface="Arial" pitchFamily="34" charset="-122"/>
                <a:cs typeface="Arial" pitchFamily="34" charset="-120"/>
              </a:rPr>
              <a:t>Cloud hybride, API, flux temps réel, sécurité</a:t>
            </a:r>
            <a:endParaRPr lang="en-US" sz="1725" dirty="0"/>
          </a:p>
        </p:txBody>
      </p:sp>
      <p:sp>
        <p:nvSpPr>
          <p:cNvPr id="19" name="Shape 17"/>
          <p:cNvSpPr/>
          <p:nvPr/>
        </p:nvSpPr>
        <p:spPr>
          <a:xfrm>
            <a:off x="914400" y="9144000"/>
            <a:ext cx="2811780" cy="342900"/>
          </a:xfrm>
          <a:prstGeom prst="roundRect">
            <a:avLst>
              <a:gd name="adj" fmla="val 50000"/>
            </a:avLst>
          </a:prstGeom>
          <a:solidFill>
            <a:srgbClr val="3F6FE6">
              <a:alpha val="12000"/>
            </a:srgbClr>
          </a:solidFill>
          <a:ln/>
        </p:spPr>
      </p:sp>
      <p:sp>
        <p:nvSpPr>
          <p:cNvPr id="20" name="Text 18"/>
          <p:cNvSpPr/>
          <p:nvPr/>
        </p:nvSpPr>
        <p:spPr>
          <a:xfrm>
            <a:off x="1085850" y="9220200"/>
            <a:ext cx="2553234" cy="228600"/>
          </a:xfrm>
          <a:prstGeom prst="rect">
            <a:avLst/>
          </a:prstGeom>
          <a:noFill/>
          <a:ln/>
        </p:spPr>
        <p:txBody>
          <a:bodyPr wrap="square" lIns="25400" tIns="25400" rIns="25400" bIns="25400" rtlCol="0" anchor="t">
            <a:normAutofit/>
          </a:bodyPr>
          <a:lstStyle/>
          <a:p>
            <a:pPr algn="l" indent="0" marL="0">
              <a:buNone/>
            </a:pPr>
            <a:r>
              <a:rPr lang="en-US" sz="1350" dirty="0">
                <a:solidFill>
                  <a:srgbClr val="1D2235"/>
                </a:solidFill>
                <a:latin typeface="Courier New" pitchFamily="34" charset="0"/>
                <a:ea typeface="Courier New" pitchFamily="34" charset="-122"/>
                <a:cs typeface="Courier New" pitchFamily="34" charset="-120"/>
              </a:rPr>
              <a:t>Orientations : API-first</a:t>
            </a:r>
            <a:endParaRPr lang="en-US" sz="1350" dirty="0"/>
          </a:p>
        </p:txBody>
      </p:sp>
      <p:sp>
        <p:nvSpPr>
          <p:cNvPr id="21" name="Shape 19"/>
          <p:cNvSpPr/>
          <p:nvPr/>
        </p:nvSpPr>
        <p:spPr>
          <a:xfrm>
            <a:off x="3859530" y="9144000"/>
            <a:ext cx="1371600" cy="342900"/>
          </a:xfrm>
          <a:prstGeom prst="roundRect">
            <a:avLst>
              <a:gd name="adj" fmla="val 50000"/>
            </a:avLst>
          </a:prstGeom>
          <a:solidFill>
            <a:srgbClr val="3F6FE6">
              <a:alpha val="12000"/>
            </a:srgbClr>
          </a:solidFill>
          <a:ln/>
        </p:spPr>
      </p:sp>
      <p:sp>
        <p:nvSpPr>
          <p:cNvPr id="22" name="Text 20"/>
          <p:cNvSpPr/>
          <p:nvPr/>
        </p:nvSpPr>
        <p:spPr>
          <a:xfrm>
            <a:off x="4030980" y="9220200"/>
            <a:ext cx="1104900" cy="228600"/>
          </a:xfrm>
          <a:prstGeom prst="rect">
            <a:avLst/>
          </a:prstGeom>
          <a:noFill/>
          <a:ln/>
        </p:spPr>
        <p:txBody>
          <a:bodyPr wrap="square" lIns="25400" tIns="25400" rIns="25400" bIns="25400" rtlCol="0" anchor="t">
            <a:normAutofit/>
          </a:bodyPr>
          <a:lstStyle/>
          <a:p>
            <a:pPr algn="l" indent="0" marL="0">
              <a:buNone/>
            </a:pPr>
            <a:r>
              <a:rPr lang="en-US" sz="1350" dirty="0">
                <a:solidFill>
                  <a:srgbClr val="1D2235"/>
                </a:solidFill>
                <a:latin typeface="Courier New" pitchFamily="34" charset="0"/>
                <a:ea typeface="Courier New" pitchFamily="34" charset="-122"/>
                <a:cs typeface="Courier New" pitchFamily="34" charset="-120"/>
              </a:rPr>
              <a:t>Temps réel</a:t>
            </a:r>
            <a:endParaRPr lang="en-US" sz="1350" dirty="0"/>
          </a:p>
        </p:txBody>
      </p:sp>
      <p:sp>
        <p:nvSpPr>
          <p:cNvPr id="23" name="Shape 21"/>
          <p:cNvSpPr/>
          <p:nvPr/>
        </p:nvSpPr>
        <p:spPr>
          <a:xfrm>
            <a:off x="5364480" y="9144000"/>
            <a:ext cx="1680210" cy="342900"/>
          </a:xfrm>
          <a:prstGeom prst="roundRect">
            <a:avLst>
              <a:gd name="adj" fmla="val 50000"/>
            </a:avLst>
          </a:prstGeom>
          <a:solidFill>
            <a:srgbClr val="3F6FE6">
              <a:alpha val="12000"/>
            </a:srgbClr>
          </a:solidFill>
          <a:ln/>
        </p:spPr>
      </p:sp>
      <p:sp>
        <p:nvSpPr>
          <p:cNvPr id="24" name="Text 22"/>
          <p:cNvSpPr/>
          <p:nvPr/>
        </p:nvSpPr>
        <p:spPr>
          <a:xfrm>
            <a:off x="5535930" y="9220200"/>
            <a:ext cx="1413510" cy="228600"/>
          </a:xfrm>
          <a:prstGeom prst="rect">
            <a:avLst/>
          </a:prstGeom>
          <a:noFill/>
          <a:ln/>
        </p:spPr>
        <p:txBody>
          <a:bodyPr wrap="square" lIns="25400" tIns="25400" rIns="25400" bIns="25400" rtlCol="0" anchor="t">
            <a:normAutofit/>
          </a:bodyPr>
          <a:lstStyle/>
          <a:p>
            <a:pPr algn="l" indent="0" marL="0">
              <a:buNone/>
            </a:pPr>
            <a:r>
              <a:rPr lang="en-US" sz="1350" dirty="0">
                <a:solidFill>
                  <a:srgbClr val="1D2235"/>
                </a:solidFill>
                <a:latin typeface="Courier New" pitchFamily="34" charset="0"/>
                <a:ea typeface="Courier New" pitchFamily="34" charset="-122"/>
                <a:cs typeface="Courier New" pitchFamily="34" charset="-120"/>
              </a:rPr>
              <a:t>Cloud hybride</a:t>
            </a:r>
            <a:endParaRPr lang="en-US" sz="1350" dirty="0"/>
          </a:p>
        </p:txBody>
      </p:sp>
      <p:sp>
        <p:nvSpPr>
          <p:cNvPr id="25" name="Shape 23"/>
          <p:cNvSpPr/>
          <p:nvPr/>
        </p:nvSpPr>
        <p:spPr>
          <a:xfrm>
            <a:off x="7178040" y="9144000"/>
            <a:ext cx="2503170" cy="342900"/>
          </a:xfrm>
          <a:prstGeom prst="roundRect">
            <a:avLst>
              <a:gd name="adj" fmla="val 50000"/>
            </a:avLst>
          </a:prstGeom>
          <a:solidFill>
            <a:srgbClr val="3F6FE6">
              <a:alpha val="12000"/>
            </a:srgbClr>
          </a:solidFill>
          <a:ln/>
        </p:spPr>
      </p:sp>
      <p:sp>
        <p:nvSpPr>
          <p:cNvPr id="26" name="Text 24"/>
          <p:cNvSpPr/>
          <p:nvPr/>
        </p:nvSpPr>
        <p:spPr>
          <a:xfrm>
            <a:off x="7349490" y="9220200"/>
            <a:ext cx="2236470" cy="228600"/>
          </a:xfrm>
          <a:prstGeom prst="rect">
            <a:avLst/>
          </a:prstGeom>
          <a:noFill/>
          <a:ln/>
        </p:spPr>
        <p:txBody>
          <a:bodyPr wrap="square" lIns="25400" tIns="25400" rIns="25400" bIns="25400" rtlCol="0" anchor="t">
            <a:normAutofit/>
          </a:bodyPr>
          <a:lstStyle/>
          <a:p>
            <a:pPr algn="l" indent="0" marL="0">
              <a:buNone/>
            </a:pPr>
            <a:r>
              <a:rPr lang="en-US" sz="1350" dirty="0">
                <a:solidFill>
                  <a:srgbClr val="1D2235"/>
                </a:solidFill>
                <a:latin typeface="Courier New" pitchFamily="34" charset="0"/>
                <a:ea typeface="Courier New" pitchFamily="34" charset="-122"/>
                <a:cs typeface="Courier New" pitchFamily="34" charset="-120"/>
              </a:rPr>
              <a:t>Découplage progressif</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14400" y="828675"/>
            <a:ext cx="5431536"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5F6678"/>
                </a:solidFill>
                <a:latin typeface="Courier New" pitchFamily="34" charset="0"/>
                <a:ea typeface="Courier New" pitchFamily="34" charset="-122"/>
                <a:cs typeface="Courier New" pitchFamily="34" charset="-120"/>
              </a:rPr>
              <a:t>B.2 — ANALYSE DES PROCESSUS</a:t>
            </a:r>
            <a:endParaRPr lang="en-US" sz="1800" dirty="0"/>
          </a:p>
        </p:txBody>
      </p:sp>
      <p:sp>
        <p:nvSpPr>
          <p:cNvPr id="3" name="Shape 1"/>
          <p:cNvSpPr/>
          <p:nvPr/>
        </p:nvSpPr>
        <p:spPr>
          <a:xfrm>
            <a:off x="14478000" y="800100"/>
            <a:ext cx="2895600" cy="314325"/>
          </a:xfrm>
          <a:prstGeom prst="roundRect">
            <a:avLst>
              <a:gd name="adj" fmla="val 50000"/>
            </a:avLst>
          </a:prstGeom>
          <a:ln w="9525">
            <a:solidFill>
              <a:srgbClr val="B08E4F"/>
            </a:solidFill>
            <a:prstDash val="dash"/>
          </a:ln>
        </p:spPr>
      </p:sp>
      <p:sp>
        <p:nvSpPr>
          <p:cNvPr id="4" name="Text 2"/>
          <p:cNvSpPr/>
          <p:nvPr/>
        </p:nvSpPr>
        <p:spPr>
          <a:xfrm>
            <a:off x="14639925" y="876300"/>
            <a:ext cx="2658618"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9A8A5F"/>
                </a:solidFill>
                <a:latin typeface="Courier New" pitchFamily="34" charset="0"/>
                <a:ea typeface="Courier New" pitchFamily="34" charset="-122"/>
                <a:cs typeface="Courier New" pitchFamily="34" charset="-120"/>
              </a:rPr>
              <a:t>CADRAGE · FINALISATION J2</a:t>
            </a:r>
            <a:endParaRPr lang="en-US" sz="1125" dirty="0"/>
          </a:p>
        </p:txBody>
      </p:sp>
      <p:sp>
        <p:nvSpPr>
          <p:cNvPr id="5" name="Text 3"/>
          <p:cNvSpPr/>
          <p:nvPr/>
        </p:nvSpPr>
        <p:spPr>
          <a:xfrm>
            <a:off x="914400" y="1285875"/>
            <a:ext cx="18105120"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57" kern="0" dirty="0">
                <a:solidFill>
                  <a:srgbClr val="1D2235"/>
                </a:solidFill>
                <a:latin typeface="Georgia" pitchFamily="34" charset="0"/>
                <a:ea typeface="Georgia" pitchFamily="34" charset="-122"/>
                <a:cs typeface="Georgia" pitchFamily="34" charset="-120"/>
              </a:rPr>
              <a:t>Processus à améliorer &amp; manquants</a:t>
            </a:r>
            <a:endParaRPr lang="en-US" sz="5700" dirty="0"/>
          </a:p>
        </p:txBody>
      </p:sp>
      <p:sp>
        <p:nvSpPr>
          <p:cNvPr id="6" name="Text 4"/>
          <p:cNvSpPr/>
          <p:nvPr/>
        </p:nvSpPr>
        <p:spPr>
          <a:xfrm>
            <a:off x="914400" y="2352675"/>
            <a:ext cx="8801100"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3F6FE6"/>
                </a:solidFill>
                <a:latin typeface="Courier New" pitchFamily="34" charset="0"/>
                <a:ea typeface="Courier New" pitchFamily="34" charset="-122"/>
                <a:cs typeface="Courier New" pitchFamily="34" charset="-120"/>
              </a:rPr>
              <a:t>À AMÉLIORER</a:t>
            </a:r>
            <a:endParaRPr lang="en-US" sz="1200" dirty="0"/>
          </a:p>
        </p:txBody>
      </p:sp>
      <p:sp>
        <p:nvSpPr>
          <p:cNvPr id="7" name="Shape 5"/>
          <p:cNvSpPr/>
          <p:nvPr/>
        </p:nvSpPr>
        <p:spPr>
          <a:xfrm>
            <a:off x="914400" y="3171825"/>
            <a:ext cx="8001000" cy="9525"/>
          </a:xfrm>
          <a:prstGeom prst="rect">
            <a:avLst/>
          </a:prstGeom>
          <a:solidFill>
            <a:srgbClr val="1D2235">
              <a:alpha val="10000"/>
            </a:srgbClr>
          </a:solidFill>
          <a:ln/>
        </p:spPr>
      </p:sp>
      <p:sp>
        <p:nvSpPr>
          <p:cNvPr id="8" name="Text 6"/>
          <p:cNvSpPr/>
          <p:nvPr/>
        </p:nvSpPr>
        <p:spPr>
          <a:xfrm>
            <a:off x="914400" y="2695575"/>
            <a:ext cx="880110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D2235"/>
                </a:solidFill>
                <a:latin typeface="Georgia" pitchFamily="34" charset="0"/>
                <a:ea typeface="Georgia" pitchFamily="34" charset="-122"/>
                <a:cs typeface="Georgia" pitchFamily="34" charset="-120"/>
              </a:rPr>
              <a:t>Remontée des ventes : batch → temps réel</a:t>
            </a:r>
            <a:endParaRPr lang="en-US" sz="2400" dirty="0"/>
          </a:p>
        </p:txBody>
      </p:sp>
      <p:sp>
        <p:nvSpPr>
          <p:cNvPr id="9" name="Shape 7"/>
          <p:cNvSpPr/>
          <p:nvPr/>
        </p:nvSpPr>
        <p:spPr>
          <a:xfrm>
            <a:off x="914400" y="3829050"/>
            <a:ext cx="8001000" cy="9525"/>
          </a:xfrm>
          <a:prstGeom prst="rect">
            <a:avLst/>
          </a:prstGeom>
          <a:solidFill>
            <a:srgbClr val="1D2235">
              <a:alpha val="10000"/>
            </a:srgbClr>
          </a:solidFill>
          <a:ln/>
        </p:spPr>
      </p:sp>
      <p:sp>
        <p:nvSpPr>
          <p:cNvPr id="10" name="Text 8"/>
          <p:cNvSpPr/>
          <p:nvPr/>
        </p:nvSpPr>
        <p:spPr>
          <a:xfrm>
            <a:off x="914400" y="3352800"/>
            <a:ext cx="880110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D2235"/>
                </a:solidFill>
                <a:latin typeface="Georgia" pitchFamily="34" charset="0"/>
                <a:ea typeface="Georgia" pitchFamily="34" charset="-122"/>
                <a:cs typeface="Georgia" pitchFamily="34" charset="-120"/>
              </a:rPr>
              <a:t>Approvisionnement : manuel → automatisé</a:t>
            </a:r>
            <a:endParaRPr lang="en-US" sz="2400" dirty="0"/>
          </a:p>
        </p:txBody>
      </p:sp>
      <p:sp>
        <p:nvSpPr>
          <p:cNvPr id="11" name="Shape 9"/>
          <p:cNvSpPr/>
          <p:nvPr/>
        </p:nvSpPr>
        <p:spPr>
          <a:xfrm>
            <a:off x="914400" y="4486275"/>
            <a:ext cx="8001000" cy="9525"/>
          </a:xfrm>
          <a:prstGeom prst="rect">
            <a:avLst/>
          </a:prstGeom>
          <a:solidFill>
            <a:srgbClr val="1D2235">
              <a:alpha val="10000"/>
            </a:srgbClr>
          </a:solidFill>
          <a:ln/>
        </p:spPr>
      </p:sp>
      <p:sp>
        <p:nvSpPr>
          <p:cNvPr id="12" name="Text 10"/>
          <p:cNvSpPr/>
          <p:nvPr/>
        </p:nvSpPr>
        <p:spPr>
          <a:xfrm>
            <a:off x="914400" y="4010025"/>
            <a:ext cx="880110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D2235"/>
                </a:solidFill>
                <a:latin typeface="Georgia" pitchFamily="34" charset="0"/>
                <a:ea typeface="Georgia" pitchFamily="34" charset="-122"/>
                <a:cs typeface="Georgia" pitchFamily="34" charset="-120"/>
              </a:rPr>
              <a:t>Gestion de la carte (~30 plats en rotation)</a:t>
            </a:r>
            <a:endParaRPr lang="en-US" sz="2400" dirty="0"/>
          </a:p>
        </p:txBody>
      </p:sp>
      <p:sp>
        <p:nvSpPr>
          <p:cNvPr id="13" name="Shape 11"/>
          <p:cNvSpPr/>
          <p:nvPr/>
        </p:nvSpPr>
        <p:spPr>
          <a:xfrm>
            <a:off x="914400" y="5143500"/>
            <a:ext cx="8001000" cy="9525"/>
          </a:xfrm>
          <a:prstGeom prst="rect">
            <a:avLst/>
          </a:prstGeom>
          <a:solidFill>
            <a:srgbClr val="1D2235">
              <a:alpha val="10000"/>
            </a:srgbClr>
          </a:solidFill>
          <a:ln/>
        </p:spPr>
      </p:sp>
      <p:sp>
        <p:nvSpPr>
          <p:cNvPr id="14" name="Text 12"/>
          <p:cNvSpPr/>
          <p:nvPr/>
        </p:nvSpPr>
        <p:spPr>
          <a:xfrm>
            <a:off x="914400" y="4667250"/>
            <a:ext cx="880110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D2235"/>
                </a:solidFill>
                <a:latin typeface="Georgia" pitchFamily="34" charset="0"/>
                <a:ea typeface="Georgia" pitchFamily="34" charset="-122"/>
                <a:cs typeface="Georgia" pitchFamily="34" charset="-120"/>
              </a:rPr>
              <a:t>Suivi qualité &amp; traçabilité</a:t>
            </a:r>
            <a:endParaRPr lang="en-US" sz="2400" dirty="0"/>
          </a:p>
        </p:txBody>
      </p:sp>
      <p:sp>
        <p:nvSpPr>
          <p:cNvPr id="15" name="Text 13"/>
          <p:cNvSpPr/>
          <p:nvPr/>
        </p:nvSpPr>
        <p:spPr>
          <a:xfrm>
            <a:off x="9372600" y="2352675"/>
            <a:ext cx="8801100"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B08E4F"/>
                </a:solidFill>
                <a:latin typeface="Courier New" pitchFamily="34" charset="0"/>
                <a:ea typeface="Courier New" pitchFamily="34" charset="-122"/>
                <a:cs typeface="Courier New" pitchFamily="34" charset="-120"/>
              </a:rPr>
              <a:t>MANQUANTS</a:t>
            </a:r>
            <a:endParaRPr lang="en-US" sz="1200" dirty="0"/>
          </a:p>
        </p:txBody>
      </p:sp>
      <p:sp>
        <p:nvSpPr>
          <p:cNvPr id="16" name="Shape 14"/>
          <p:cNvSpPr/>
          <p:nvPr/>
        </p:nvSpPr>
        <p:spPr>
          <a:xfrm>
            <a:off x="9372600" y="3171825"/>
            <a:ext cx="8001000" cy="9525"/>
          </a:xfrm>
          <a:prstGeom prst="rect">
            <a:avLst/>
          </a:prstGeom>
          <a:solidFill>
            <a:srgbClr val="1D2235">
              <a:alpha val="10000"/>
            </a:srgbClr>
          </a:solidFill>
          <a:ln/>
        </p:spPr>
      </p:sp>
      <p:sp>
        <p:nvSpPr>
          <p:cNvPr id="17" name="Text 15"/>
          <p:cNvSpPr/>
          <p:nvPr/>
        </p:nvSpPr>
        <p:spPr>
          <a:xfrm>
            <a:off x="9372600" y="2695575"/>
            <a:ext cx="880110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D2235"/>
                </a:solidFill>
                <a:latin typeface="Georgia" pitchFamily="34" charset="0"/>
                <a:ea typeface="Georgia" pitchFamily="34" charset="-122"/>
                <a:cs typeface="Georgia" pitchFamily="34" charset="-120"/>
              </a:rPr>
              <a:t>Livraison à domicile (&lt; 10 pers., semaine)</a:t>
            </a:r>
            <a:endParaRPr lang="en-US" sz="2400" dirty="0"/>
          </a:p>
        </p:txBody>
      </p:sp>
      <p:sp>
        <p:nvSpPr>
          <p:cNvPr id="18" name="Shape 16"/>
          <p:cNvSpPr/>
          <p:nvPr/>
        </p:nvSpPr>
        <p:spPr>
          <a:xfrm>
            <a:off x="9372600" y="3829050"/>
            <a:ext cx="8001000" cy="9525"/>
          </a:xfrm>
          <a:prstGeom prst="rect">
            <a:avLst/>
          </a:prstGeom>
          <a:solidFill>
            <a:srgbClr val="1D2235">
              <a:alpha val="10000"/>
            </a:srgbClr>
          </a:solidFill>
          <a:ln/>
        </p:spPr>
      </p:sp>
      <p:sp>
        <p:nvSpPr>
          <p:cNvPr id="19" name="Text 17"/>
          <p:cNvSpPr/>
          <p:nvPr/>
        </p:nvSpPr>
        <p:spPr>
          <a:xfrm>
            <a:off x="9372600" y="3352800"/>
            <a:ext cx="880110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D2235"/>
                </a:solidFill>
                <a:latin typeface="Georgia" pitchFamily="34" charset="0"/>
                <a:ea typeface="Georgia" pitchFamily="34" charset="-122"/>
                <a:cs typeface="Georgia" pitchFamily="34" charset="-120"/>
              </a:rPr>
              <a:t>Click &amp; collect structuré (déjeuner)</a:t>
            </a:r>
            <a:endParaRPr lang="en-US" sz="2400" dirty="0"/>
          </a:p>
        </p:txBody>
      </p:sp>
      <p:sp>
        <p:nvSpPr>
          <p:cNvPr id="20" name="Shape 18"/>
          <p:cNvSpPr/>
          <p:nvPr/>
        </p:nvSpPr>
        <p:spPr>
          <a:xfrm>
            <a:off x="9372600" y="4486275"/>
            <a:ext cx="8001000" cy="9525"/>
          </a:xfrm>
          <a:prstGeom prst="rect">
            <a:avLst/>
          </a:prstGeom>
          <a:solidFill>
            <a:srgbClr val="1D2235">
              <a:alpha val="10000"/>
            </a:srgbClr>
          </a:solidFill>
          <a:ln/>
        </p:spPr>
      </p:sp>
      <p:sp>
        <p:nvSpPr>
          <p:cNvPr id="21" name="Text 19"/>
          <p:cNvSpPr/>
          <p:nvPr/>
        </p:nvSpPr>
        <p:spPr>
          <a:xfrm>
            <a:off x="9372600" y="4010025"/>
            <a:ext cx="880110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D2235"/>
                </a:solidFill>
                <a:latin typeface="Georgia" pitchFamily="34" charset="0"/>
                <a:ea typeface="Georgia" pitchFamily="34" charset="-122"/>
                <a:cs typeface="Georgia" pitchFamily="34" charset="-120"/>
              </a:rPr>
              <a:t>BI / tableau de bord consolidé siège</a:t>
            </a:r>
            <a:endParaRPr lang="en-US" sz="2400" dirty="0"/>
          </a:p>
        </p:txBody>
      </p:sp>
      <p:sp>
        <p:nvSpPr>
          <p:cNvPr id="22" name="Shape 20"/>
          <p:cNvSpPr/>
          <p:nvPr/>
        </p:nvSpPr>
        <p:spPr>
          <a:xfrm>
            <a:off x="9372600" y="5143500"/>
            <a:ext cx="8001000" cy="9525"/>
          </a:xfrm>
          <a:prstGeom prst="rect">
            <a:avLst/>
          </a:prstGeom>
          <a:solidFill>
            <a:srgbClr val="1D2235">
              <a:alpha val="10000"/>
            </a:srgbClr>
          </a:solidFill>
          <a:ln/>
        </p:spPr>
      </p:sp>
      <p:sp>
        <p:nvSpPr>
          <p:cNvPr id="23" name="Text 21"/>
          <p:cNvSpPr/>
          <p:nvPr/>
        </p:nvSpPr>
        <p:spPr>
          <a:xfrm>
            <a:off x="9372600" y="4667250"/>
            <a:ext cx="880110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1D2235"/>
                </a:solidFill>
                <a:latin typeface="Georgia" pitchFamily="34" charset="0"/>
                <a:ea typeface="Georgia" pitchFamily="34" charset="-122"/>
                <a:cs typeface="Georgia" pitchFamily="34" charset="-120"/>
              </a:rPr>
              <a:t>Onboarding SI &amp; facturation au % du CA</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14400" y="828675"/>
            <a:ext cx="5029200"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5F6678"/>
                </a:solidFill>
                <a:latin typeface="Courier New" pitchFamily="34" charset="0"/>
                <a:ea typeface="Courier New" pitchFamily="34" charset="-122"/>
                <a:cs typeface="Courier New" pitchFamily="34" charset="-120"/>
              </a:rPr>
              <a:t>B.3 — ANALYSE DES RISQUES</a:t>
            </a:r>
            <a:endParaRPr lang="en-US" sz="1800" dirty="0"/>
          </a:p>
        </p:txBody>
      </p:sp>
      <p:sp>
        <p:nvSpPr>
          <p:cNvPr id="3" name="Shape 1"/>
          <p:cNvSpPr/>
          <p:nvPr/>
        </p:nvSpPr>
        <p:spPr>
          <a:xfrm>
            <a:off x="15815310" y="800100"/>
            <a:ext cx="1558290" cy="314325"/>
          </a:xfrm>
          <a:prstGeom prst="roundRect">
            <a:avLst>
              <a:gd name="adj" fmla="val 50000"/>
            </a:avLst>
          </a:prstGeom>
          <a:ln w="9525">
            <a:solidFill>
              <a:srgbClr val="B08E4F"/>
            </a:solidFill>
            <a:prstDash val="dash"/>
          </a:ln>
        </p:spPr>
      </p:sp>
      <p:sp>
        <p:nvSpPr>
          <p:cNvPr id="4" name="Text 2"/>
          <p:cNvSpPr/>
          <p:nvPr/>
        </p:nvSpPr>
        <p:spPr>
          <a:xfrm>
            <a:off x="15977235" y="876300"/>
            <a:ext cx="1310640"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9A8A5F"/>
                </a:solidFill>
                <a:latin typeface="Courier New" pitchFamily="34" charset="0"/>
                <a:ea typeface="Courier New" pitchFamily="34" charset="-122"/>
                <a:cs typeface="Courier New" pitchFamily="34" charset="-120"/>
              </a:rPr>
              <a:t>À VENIR · J3</a:t>
            </a:r>
            <a:endParaRPr lang="en-US" sz="1125" dirty="0"/>
          </a:p>
        </p:txBody>
      </p:sp>
      <p:sp>
        <p:nvSpPr>
          <p:cNvPr id="5" name="Text 3"/>
          <p:cNvSpPr/>
          <p:nvPr/>
        </p:nvSpPr>
        <p:spPr>
          <a:xfrm>
            <a:off x="914400" y="1285875"/>
            <a:ext cx="18105120"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57" kern="0" dirty="0">
                <a:solidFill>
                  <a:srgbClr val="1D2235"/>
                </a:solidFill>
                <a:latin typeface="Georgia" pitchFamily="34" charset="0"/>
                <a:ea typeface="Georgia" pitchFamily="34" charset="-122"/>
                <a:cs typeface="Georgia" pitchFamily="34" charset="-120"/>
              </a:rPr>
              <a:t>Cartographie des risques</a:t>
            </a:r>
            <a:endParaRPr lang="en-US" sz="5700" dirty="0"/>
          </a:p>
        </p:txBody>
      </p:sp>
      <p:sp>
        <p:nvSpPr>
          <p:cNvPr id="6" name="Shape 4"/>
          <p:cNvSpPr/>
          <p:nvPr/>
        </p:nvSpPr>
        <p:spPr>
          <a:xfrm>
            <a:off x="914400" y="2352675"/>
            <a:ext cx="8382000" cy="7134225"/>
          </a:xfrm>
          <a:prstGeom prst="roundRect">
            <a:avLst>
              <a:gd name="adj" fmla="val 801"/>
            </a:avLst>
          </a:prstGeom>
          <a:ln w="9525">
            <a:solidFill>
              <a:srgbClr val="1D2235">
                <a:alpha val="28000"/>
              </a:srgbClr>
            </a:solidFill>
            <a:prstDash val="dash"/>
          </a:ln>
        </p:spPr>
      </p:sp>
      <p:sp>
        <p:nvSpPr>
          <p:cNvPr id="7" name="Text 5"/>
          <p:cNvSpPr/>
          <p:nvPr/>
        </p:nvSpPr>
        <p:spPr>
          <a:xfrm>
            <a:off x="1209675" y="2647950"/>
            <a:ext cx="8570595"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5F6678"/>
                </a:solidFill>
                <a:latin typeface="Courier New" pitchFamily="34" charset="0"/>
                <a:ea typeface="Courier New" pitchFamily="34" charset="-122"/>
                <a:cs typeface="Courier New" pitchFamily="34" charset="-120"/>
              </a:rPr>
              <a:t>MATRICE PROBABILITÉ × IMPACT</a:t>
            </a:r>
            <a:endParaRPr lang="en-US" sz="1125" dirty="0"/>
          </a:p>
        </p:txBody>
      </p:sp>
      <p:sp>
        <p:nvSpPr>
          <p:cNvPr id="8" name="Text 6"/>
          <p:cNvSpPr/>
          <p:nvPr/>
        </p:nvSpPr>
        <p:spPr>
          <a:xfrm rot="10800000">
            <a:off x="1209675" y="5433060"/>
            <a:ext cx="236220" cy="1078230"/>
          </a:xfrm>
          <a:prstGeom prst="rect">
            <a:avLst/>
          </a:prstGeom>
          <a:noFill/>
          <a:ln/>
        </p:spPr>
        <p:txBody>
          <a:bodyPr wrap="square" lIns="25400" tIns="25400" rIns="25400" bIns="25400" rtlCol="0" anchor="t" vert="eaVert">
            <a:normAutofit/>
          </a:bodyPr>
          <a:lstStyle/>
          <a:p>
            <a:pPr algn="l" indent="0" marL="0">
              <a:buNone/>
            </a:pPr>
            <a:r>
              <a:rPr lang="en-US" sz="1050" dirty="0">
                <a:solidFill>
                  <a:srgbClr val="5F6678"/>
                </a:solidFill>
                <a:latin typeface="Courier New" pitchFamily="34" charset="0"/>
                <a:ea typeface="Courier New" pitchFamily="34" charset="-122"/>
                <a:cs typeface="Courier New" pitchFamily="34" charset="-120"/>
              </a:rPr>
              <a:t>Probabilité →</a:t>
            </a:r>
            <a:endParaRPr lang="en-US" sz="1050" dirty="0"/>
          </a:p>
        </p:txBody>
      </p:sp>
      <p:sp>
        <p:nvSpPr>
          <p:cNvPr id="9" name="Shape 7"/>
          <p:cNvSpPr/>
          <p:nvPr/>
        </p:nvSpPr>
        <p:spPr>
          <a:xfrm>
            <a:off x="1426845" y="2981325"/>
            <a:ext cx="2486660" cy="1943100"/>
          </a:xfrm>
          <a:prstGeom prst="roundRect">
            <a:avLst>
              <a:gd name="adj" fmla="val 1961"/>
            </a:avLst>
          </a:prstGeom>
          <a:solidFill>
            <a:srgbClr val="B34A3A">
              <a:alpha val="18000"/>
            </a:srgbClr>
          </a:solidFill>
          <a:ln/>
        </p:spPr>
      </p:sp>
      <p:sp>
        <p:nvSpPr>
          <p:cNvPr id="10" name="Shape 8"/>
          <p:cNvSpPr/>
          <p:nvPr/>
        </p:nvSpPr>
        <p:spPr>
          <a:xfrm>
            <a:off x="3970655" y="2981325"/>
            <a:ext cx="2486660" cy="1943100"/>
          </a:xfrm>
          <a:prstGeom prst="roundRect">
            <a:avLst>
              <a:gd name="adj" fmla="val 1961"/>
            </a:avLst>
          </a:prstGeom>
          <a:solidFill>
            <a:srgbClr val="B34A3A">
              <a:alpha val="28000"/>
            </a:srgbClr>
          </a:solidFill>
          <a:ln/>
        </p:spPr>
      </p:sp>
      <p:sp>
        <p:nvSpPr>
          <p:cNvPr id="11" name="Shape 9"/>
          <p:cNvSpPr/>
          <p:nvPr/>
        </p:nvSpPr>
        <p:spPr>
          <a:xfrm>
            <a:off x="6514465" y="2981325"/>
            <a:ext cx="2486660" cy="1943100"/>
          </a:xfrm>
          <a:prstGeom prst="roundRect">
            <a:avLst>
              <a:gd name="adj" fmla="val 1961"/>
            </a:avLst>
          </a:prstGeom>
          <a:solidFill>
            <a:srgbClr val="B34A3A">
              <a:alpha val="40000"/>
            </a:srgbClr>
          </a:solidFill>
          <a:ln/>
        </p:spPr>
      </p:sp>
      <p:sp>
        <p:nvSpPr>
          <p:cNvPr id="12" name="Shape 10"/>
          <p:cNvSpPr/>
          <p:nvPr/>
        </p:nvSpPr>
        <p:spPr>
          <a:xfrm>
            <a:off x="1426845" y="4981575"/>
            <a:ext cx="2486660" cy="1943100"/>
          </a:xfrm>
          <a:prstGeom prst="roundRect">
            <a:avLst>
              <a:gd name="adj" fmla="val 1961"/>
            </a:avLst>
          </a:prstGeom>
          <a:solidFill>
            <a:srgbClr val="9A8A5F">
              <a:alpha val="18000"/>
            </a:srgbClr>
          </a:solidFill>
          <a:ln/>
        </p:spPr>
      </p:sp>
      <p:sp>
        <p:nvSpPr>
          <p:cNvPr id="13" name="Shape 11"/>
          <p:cNvSpPr/>
          <p:nvPr/>
        </p:nvSpPr>
        <p:spPr>
          <a:xfrm>
            <a:off x="3970655" y="4981575"/>
            <a:ext cx="2486660" cy="1943100"/>
          </a:xfrm>
          <a:prstGeom prst="roundRect">
            <a:avLst>
              <a:gd name="adj" fmla="val 1961"/>
            </a:avLst>
          </a:prstGeom>
          <a:solidFill>
            <a:srgbClr val="9A8A5F">
              <a:alpha val="28000"/>
            </a:srgbClr>
          </a:solidFill>
          <a:ln/>
        </p:spPr>
      </p:sp>
      <p:sp>
        <p:nvSpPr>
          <p:cNvPr id="14" name="Shape 12"/>
          <p:cNvSpPr/>
          <p:nvPr/>
        </p:nvSpPr>
        <p:spPr>
          <a:xfrm>
            <a:off x="6514465" y="4981575"/>
            <a:ext cx="2486660" cy="1943100"/>
          </a:xfrm>
          <a:prstGeom prst="roundRect">
            <a:avLst>
              <a:gd name="adj" fmla="val 1961"/>
            </a:avLst>
          </a:prstGeom>
          <a:solidFill>
            <a:srgbClr val="B34A3A">
              <a:alpha val="28000"/>
            </a:srgbClr>
          </a:solidFill>
          <a:ln/>
        </p:spPr>
      </p:sp>
      <p:sp>
        <p:nvSpPr>
          <p:cNvPr id="15" name="Shape 13"/>
          <p:cNvSpPr/>
          <p:nvPr/>
        </p:nvSpPr>
        <p:spPr>
          <a:xfrm>
            <a:off x="1426845" y="6981825"/>
            <a:ext cx="2486660" cy="1943100"/>
          </a:xfrm>
          <a:prstGeom prst="roundRect">
            <a:avLst>
              <a:gd name="adj" fmla="val 1961"/>
            </a:avLst>
          </a:prstGeom>
          <a:solidFill>
            <a:srgbClr val="2F8F5B">
              <a:alpha val="16000"/>
            </a:srgbClr>
          </a:solidFill>
          <a:ln/>
        </p:spPr>
      </p:sp>
      <p:sp>
        <p:nvSpPr>
          <p:cNvPr id="16" name="Shape 14"/>
          <p:cNvSpPr/>
          <p:nvPr/>
        </p:nvSpPr>
        <p:spPr>
          <a:xfrm>
            <a:off x="3970655" y="6981825"/>
            <a:ext cx="2486660" cy="1943100"/>
          </a:xfrm>
          <a:prstGeom prst="roundRect">
            <a:avLst>
              <a:gd name="adj" fmla="val 1961"/>
            </a:avLst>
          </a:prstGeom>
          <a:solidFill>
            <a:srgbClr val="9A8A5F">
              <a:alpha val="20000"/>
            </a:srgbClr>
          </a:solidFill>
          <a:ln/>
        </p:spPr>
      </p:sp>
      <p:sp>
        <p:nvSpPr>
          <p:cNvPr id="17" name="Shape 15"/>
          <p:cNvSpPr/>
          <p:nvPr/>
        </p:nvSpPr>
        <p:spPr>
          <a:xfrm>
            <a:off x="6514465" y="6981825"/>
            <a:ext cx="2486660" cy="1943100"/>
          </a:xfrm>
          <a:prstGeom prst="roundRect">
            <a:avLst>
              <a:gd name="adj" fmla="val 1961"/>
            </a:avLst>
          </a:prstGeom>
          <a:solidFill>
            <a:srgbClr val="9A8A5F">
              <a:alpha val="30000"/>
            </a:srgbClr>
          </a:solidFill>
          <a:ln/>
        </p:spPr>
      </p:sp>
      <p:sp>
        <p:nvSpPr>
          <p:cNvPr id="18" name="Text 16"/>
          <p:cNvSpPr/>
          <p:nvPr/>
        </p:nvSpPr>
        <p:spPr>
          <a:xfrm>
            <a:off x="1048131" y="9039225"/>
            <a:ext cx="8331708" cy="190500"/>
          </a:xfrm>
          <a:prstGeom prst="rect">
            <a:avLst/>
          </a:prstGeom>
          <a:noFill/>
          <a:ln/>
        </p:spPr>
        <p:txBody>
          <a:bodyPr wrap="square" lIns="25400" tIns="25400" rIns="25400" bIns="25400" rtlCol="0" anchor="t">
            <a:normAutofit/>
          </a:bodyPr>
          <a:lstStyle/>
          <a:p>
            <a:pPr algn="ctr" indent="0" marL="0">
              <a:buNone/>
            </a:pPr>
            <a:r>
              <a:rPr lang="en-US" sz="1050" dirty="0">
                <a:solidFill>
                  <a:srgbClr val="5F6678"/>
                </a:solidFill>
                <a:latin typeface="Courier New" pitchFamily="34" charset="0"/>
                <a:ea typeface="Courier New" pitchFamily="34" charset="-122"/>
                <a:cs typeface="Courier New" pitchFamily="34" charset="-120"/>
              </a:rPr>
              <a:t>Impact →</a:t>
            </a:r>
            <a:endParaRPr lang="en-US" sz="1050" dirty="0"/>
          </a:p>
        </p:txBody>
      </p:sp>
      <p:sp>
        <p:nvSpPr>
          <p:cNvPr id="19" name="Text 17"/>
          <p:cNvSpPr/>
          <p:nvPr/>
        </p:nvSpPr>
        <p:spPr>
          <a:xfrm>
            <a:off x="9753600" y="4667250"/>
            <a:ext cx="8382000" cy="209550"/>
          </a:xfrm>
          <a:prstGeom prst="rect">
            <a:avLst/>
          </a:prstGeom>
          <a:noFill/>
          <a:ln/>
        </p:spPr>
        <p:txBody>
          <a:bodyPr wrap="square" lIns="25400" tIns="25400" rIns="25400" bIns="25400" rtlCol="0" anchor="t">
            <a:normAutofit/>
          </a:bodyPr>
          <a:lstStyle/>
          <a:p>
            <a:pPr algn="l" indent="0" marL="0">
              <a:buNone/>
            </a:pPr>
            <a:r>
              <a:rPr lang="en-US" sz="1200" spc="144" kern="0" dirty="0">
                <a:solidFill>
                  <a:srgbClr val="5F6678"/>
                </a:solidFill>
                <a:latin typeface="Courier New" pitchFamily="34" charset="0"/>
                <a:ea typeface="Courier New" pitchFamily="34" charset="-122"/>
                <a:cs typeface="Courier New" pitchFamily="34" charset="-120"/>
              </a:rPr>
              <a:t>DOMAINES IDENTIFIÉS</a:t>
            </a:r>
            <a:endParaRPr lang="en-US" sz="1200" dirty="0"/>
          </a:p>
        </p:txBody>
      </p:sp>
      <p:sp>
        <p:nvSpPr>
          <p:cNvPr id="20" name="Shape 18"/>
          <p:cNvSpPr/>
          <p:nvPr/>
        </p:nvSpPr>
        <p:spPr>
          <a:xfrm>
            <a:off x="9753600" y="5091113"/>
            <a:ext cx="95250" cy="95250"/>
          </a:xfrm>
          <a:prstGeom prst="ellipse">
            <a:avLst/>
          </a:prstGeom>
          <a:solidFill>
            <a:srgbClr val="B34A3A"/>
          </a:solidFill>
          <a:ln/>
        </p:spPr>
      </p:sp>
      <p:sp>
        <p:nvSpPr>
          <p:cNvPr id="21" name="Text 19"/>
          <p:cNvSpPr/>
          <p:nvPr/>
        </p:nvSpPr>
        <p:spPr>
          <a:xfrm>
            <a:off x="10001250" y="4972050"/>
            <a:ext cx="4880245"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1D2235"/>
                </a:solidFill>
                <a:latin typeface="Georgia" pitchFamily="34" charset="0"/>
                <a:ea typeface="Georgia" pitchFamily="34" charset="-122"/>
                <a:cs typeface="Georgia" pitchFamily="34" charset="-120"/>
              </a:rPr>
              <a:t>Migration ERP &amp; applicatif — élevé</a:t>
            </a:r>
            <a:endParaRPr lang="en-US" sz="2250" dirty="0"/>
          </a:p>
        </p:txBody>
      </p:sp>
      <p:sp>
        <p:nvSpPr>
          <p:cNvPr id="22" name="Shape 20"/>
          <p:cNvSpPr/>
          <p:nvPr/>
        </p:nvSpPr>
        <p:spPr>
          <a:xfrm>
            <a:off x="9753600" y="5557838"/>
            <a:ext cx="95250" cy="95250"/>
          </a:xfrm>
          <a:prstGeom prst="ellipse">
            <a:avLst/>
          </a:prstGeom>
          <a:solidFill>
            <a:srgbClr val="B34A3A"/>
          </a:solidFill>
          <a:ln/>
        </p:spPr>
      </p:sp>
      <p:sp>
        <p:nvSpPr>
          <p:cNvPr id="23" name="Text 21"/>
          <p:cNvSpPr/>
          <p:nvPr/>
        </p:nvSpPr>
        <p:spPr>
          <a:xfrm>
            <a:off x="10001250" y="5438775"/>
            <a:ext cx="4278312"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1D2235"/>
                </a:solidFill>
                <a:latin typeface="Georgia" pitchFamily="34" charset="0"/>
                <a:ea typeface="Georgia" pitchFamily="34" charset="-122"/>
                <a:cs typeface="Georgia" pitchFamily="34" charset="-120"/>
              </a:rPr>
              <a:t>Dépendance logistique — élevé</a:t>
            </a:r>
            <a:endParaRPr lang="en-US" sz="2250" dirty="0"/>
          </a:p>
        </p:txBody>
      </p:sp>
      <p:sp>
        <p:nvSpPr>
          <p:cNvPr id="24" name="Shape 22"/>
          <p:cNvSpPr/>
          <p:nvPr/>
        </p:nvSpPr>
        <p:spPr>
          <a:xfrm>
            <a:off x="9753600" y="6024563"/>
            <a:ext cx="95250" cy="95250"/>
          </a:xfrm>
          <a:prstGeom prst="ellipse">
            <a:avLst/>
          </a:prstGeom>
          <a:solidFill>
            <a:srgbClr val="9A8A5F"/>
          </a:solidFill>
          <a:ln/>
        </p:spPr>
      </p:sp>
      <p:sp>
        <p:nvSpPr>
          <p:cNvPr id="25" name="Text 23"/>
          <p:cNvSpPr/>
          <p:nvPr/>
        </p:nvSpPr>
        <p:spPr>
          <a:xfrm>
            <a:off x="10001250" y="5905500"/>
            <a:ext cx="4754515"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1D2235"/>
                </a:solidFill>
                <a:latin typeface="Georgia" pitchFamily="34" charset="0"/>
                <a:ea typeface="Georgia" pitchFamily="34" charset="-122"/>
                <a:cs typeface="Georgia" pitchFamily="34" charset="-120"/>
              </a:rPr>
              <a:t>Sécurité &amp; RGPD — moyen à élevé</a:t>
            </a:r>
            <a:endParaRPr lang="en-US" sz="2250" dirty="0"/>
          </a:p>
        </p:txBody>
      </p:sp>
      <p:sp>
        <p:nvSpPr>
          <p:cNvPr id="26" name="Shape 24"/>
          <p:cNvSpPr/>
          <p:nvPr/>
        </p:nvSpPr>
        <p:spPr>
          <a:xfrm>
            <a:off x="9753600" y="6491288"/>
            <a:ext cx="95250" cy="95250"/>
          </a:xfrm>
          <a:prstGeom prst="ellipse">
            <a:avLst/>
          </a:prstGeom>
          <a:solidFill>
            <a:srgbClr val="B34A3A"/>
          </a:solidFill>
          <a:ln/>
        </p:spPr>
      </p:sp>
      <p:sp>
        <p:nvSpPr>
          <p:cNvPr id="27" name="Text 25"/>
          <p:cNvSpPr/>
          <p:nvPr/>
        </p:nvSpPr>
        <p:spPr>
          <a:xfrm>
            <a:off x="10001250" y="6372225"/>
            <a:ext cx="3370437"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1D2235"/>
                </a:solidFill>
                <a:latin typeface="Georgia" pitchFamily="34" charset="0"/>
                <a:ea typeface="Georgia" pitchFamily="34" charset="-122"/>
                <a:cs typeface="Georgia" pitchFamily="34" charset="-120"/>
              </a:rPr>
              <a:t>Scalabilité du SI — élevé</a:t>
            </a:r>
            <a:endParaRPr lang="en-US" sz="2250" dirty="0"/>
          </a:p>
        </p:txBody>
      </p:sp>
      <p:sp>
        <p:nvSpPr>
          <p:cNvPr id="28" name="Shape 26"/>
          <p:cNvSpPr/>
          <p:nvPr/>
        </p:nvSpPr>
        <p:spPr>
          <a:xfrm>
            <a:off x="9753600" y="6958013"/>
            <a:ext cx="95250" cy="95250"/>
          </a:xfrm>
          <a:prstGeom prst="ellipse">
            <a:avLst/>
          </a:prstGeom>
          <a:solidFill>
            <a:srgbClr val="9A8A5F"/>
          </a:solidFill>
          <a:ln/>
        </p:spPr>
      </p:sp>
      <p:sp>
        <p:nvSpPr>
          <p:cNvPr id="29" name="Text 27"/>
          <p:cNvSpPr/>
          <p:nvPr/>
        </p:nvSpPr>
        <p:spPr>
          <a:xfrm>
            <a:off x="10001250" y="6838950"/>
            <a:ext cx="4847590"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1D2235"/>
                </a:solidFill>
                <a:latin typeface="Georgia" pitchFamily="34" charset="0"/>
                <a:ea typeface="Georgia" pitchFamily="34" charset="-122"/>
                <a:cs typeface="Georgia" pitchFamily="34" charset="-120"/>
              </a:rPr>
              <a:t>Conduite du changement — moyen</a:t>
            </a:r>
            <a:endParaRPr lang="en-US" sz="2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82A"/>
        </a:solidFill>
      </p:bgPr>
    </p:bg>
    <p:spTree>
      <p:nvGrpSpPr>
        <p:cNvPr id="1" name=""/>
        <p:cNvGrpSpPr/>
        <p:nvPr/>
      </p:nvGrpSpPr>
      <p:grpSpPr>
        <a:xfrm>
          <a:off x="0" y="0"/>
          <a:ext cx="0" cy="0"/>
          <a:chOff x="0" y="0"/>
          <a:chExt cx="0" cy="0"/>
        </a:xfrm>
      </p:grpSpPr>
      <p:sp>
        <p:nvSpPr>
          <p:cNvPr id="2" name="Text 0"/>
          <p:cNvSpPr/>
          <p:nvPr/>
        </p:nvSpPr>
        <p:spPr>
          <a:xfrm>
            <a:off x="914400" y="828675"/>
            <a:ext cx="7443216"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9AA1B8"/>
                </a:solidFill>
                <a:latin typeface="Courier New" pitchFamily="34" charset="0"/>
                <a:ea typeface="Courier New" pitchFamily="34" charset="-122"/>
                <a:cs typeface="Courier New" pitchFamily="34" charset="-120"/>
              </a:rPr>
              <a:t>B.4 — RECOMMANDATIONS ARCHITECTURALES</a:t>
            </a:r>
            <a:endParaRPr lang="en-US" sz="1800" dirty="0"/>
          </a:p>
        </p:txBody>
      </p:sp>
      <p:sp>
        <p:nvSpPr>
          <p:cNvPr id="3" name="Shape 1"/>
          <p:cNvSpPr/>
          <p:nvPr/>
        </p:nvSpPr>
        <p:spPr>
          <a:xfrm>
            <a:off x="15300960" y="800100"/>
            <a:ext cx="2072640" cy="314325"/>
          </a:xfrm>
          <a:prstGeom prst="roundRect">
            <a:avLst>
              <a:gd name="adj" fmla="val 50000"/>
            </a:avLst>
          </a:prstGeom>
          <a:ln w="9525">
            <a:solidFill>
              <a:srgbClr val="B08E4F"/>
            </a:solidFill>
            <a:prstDash val="dash"/>
          </a:ln>
        </p:spPr>
      </p:sp>
      <p:sp>
        <p:nvSpPr>
          <p:cNvPr id="4" name="Text 2"/>
          <p:cNvSpPr/>
          <p:nvPr/>
        </p:nvSpPr>
        <p:spPr>
          <a:xfrm>
            <a:off x="15462885" y="876300"/>
            <a:ext cx="1824990"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B08E4F"/>
                </a:solidFill>
                <a:latin typeface="Courier New" pitchFamily="34" charset="0"/>
                <a:ea typeface="Courier New" pitchFamily="34" charset="-122"/>
                <a:cs typeface="Courier New" pitchFamily="34" charset="-120"/>
              </a:rPr>
              <a:t>À ARGUMENTER · J4</a:t>
            </a:r>
            <a:endParaRPr lang="en-US" sz="1125" dirty="0"/>
          </a:p>
        </p:txBody>
      </p:sp>
      <p:sp>
        <p:nvSpPr>
          <p:cNvPr id="5" name="Text 3"/>
          <p:cNvSpPr/>
          <p:nvPr/>
        </p:nvSpPr>
        <p:spPr>
          <a:xfrm>
            <a:off x="914400" y="1285875"/>
            <a:ext cx="18105120"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57" kern="0" dirty="0">
                <a:solidFill>
                  <a:srgbClr val="F5F2EA"/>
                </a:solidFill>
                <a:latin typeface="Georgia" pitchFamily="34" charset="0"/>
                <a:ea typeface="Georgia" pitchFamily="34" charset="-122"/>
                <a:cs typeface="Georgia" pitchFamily="34" charset="-120"/>
              </a:rPr>
              <a:t>Principes d'architecture cible</a:t>
            </a:r>
            <a:endParaRPr lang="en-US" sz="5700" dirty="0"/>
          </a:p>
        </p:txBody>
      </p:sp>
      <p:sp>
        <p:nvSpPr>
          <p:cNvPr id="6" name="Shape 4"/>
          <p:cNvSpPr/>
          <p:nvPr/>
        </p:nvSpPr>
        <p:spPr>
          <a:xfrm>
            <a:off x="914400" y="2390775"/>
            <a:ext cx="5346700" cy="1805940"/>
          </a:xfrm>
          <a:prstGeom prst="roundRect">
            <a:avLst>
              <a:gd name="adj" fmla="val 3165"/>
            </a:avLst>
          </a:prstGeom>
          <a:ln w="9525">
            <a:solidFill>
              <a:srgbClr val="F5F2EA">
                <a:alpha val="16000"/>
              </a:srgbClr>
            </a:solidFill>
            <a:prstDash val="solid"/>
          </a:ln>
        </p:spPr>
      </p:sp>
      <p:sp>
        <p:nvSpPr>
          <p:cNvPr id="7" name="Text 5"/>
          <p:cNvSpPr/>
          <p:nvPr/>
        </p:nvSpPr>
        <p:spPr>
          <a:xfrm>
            <a:off x="1171575" y="2647950"/>
            <a:ext cx="5315585" cy="209550"/>
          </a:xfrm>
          <a:prstGeom prst="rect">
            <a:avLst/>
          </a:prstGeom>
          <a:noFill/>
          <a:ln/>
        </p:spPr>
        <p:txBody>
          <a:bodyPr wrap="square" lIns="25400" tIns="25400" rIns="25400" bIns="25400" rtlCol="0" anchor="t">
            <a:normAutofit/>
          </a:bodyPr>
          <a:lstStyle/>
          <a:p>
            <a:pPr algn="l" indent="0" marL="0">
              <a:buNone/>
            </a:pPr>
            <a:r>
              <a:rPr lang="en-US" sz="1200" dirty="0">
                <a:solidFill>
                  <a:srgbClr val="7E9BFF"/>
                </a:solidFill>
                <a:latin typeface="Courier New" pitchFamily="34" charset="0"/>
                <a:ea typeface="Courier New" pitchFamily="34" charset="-122"/>
                <a:cs typeface="Courier New" pitchFamily="34" charset="-120"/>
              </a:rPr>
              <a:t>01</a:t>
            </a:r>
            <a:endParaRPr lang="en-US" sz="1200" dirty="0"/>
          </a:p>
        </p:txBody>
      </p:sp>
      <p:sp>
        <p:nvSpPr>
          <p:cNvPr id="8" name="Text 6"/>
          <p:cNvSpPr/>
          <p:nvPr/>
        </p:nvSpPr>
        <p:spPr>
          <a:xfrm>
            <a:off x="1171575" y="2914650"/>
            <a:ext cx="5315585"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F5F2EA"/>
                </a:solidFill>
                <a:latin typeface="Georgia" pitchFamily="34" charset="0"/>
                <a:ea typeface="Georgia" pitchFamily="34" charset="-122"/>
                <a:cs typeface="Georgia" pitchFamily="34" charset="-120"/>
              </a:rPr>
              <a:t>Découplage progressif</a:t>
            </a:r>
            <a:endParaRPr lang="en-US" sz="2400" dirty="0"/>
          </a:p>
        </p:txBody>
      </p:sp>
      <p:sp>
        <p:nvSpPr>
          <p:cNvPr id="9" name="Text 7"/>
          <p:cNvSpPr/>
          <p:nvPr/>
        </p:nvSpPr>
        <p:spPr>
          <a:xfrm>
            <a:off x="1171575" y="3352800"/>
            <a:ext cx="4977320"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9AA1B8"/>
                </a:solidFill>
                <a:latin typeface="Arial" pitchFamily="34" charset="0"/>
                <a:ea typeface="Arial" pitchFamily="34" charset="-122"/>
                <a:cs typeface="Arial" pitchFamily="34" charset="-120"/>
              </a:rPr>
              <a:t>Remplacer l'ERP, pas tout le SI — coexistence temporaire.</a:t>
            </a:r>
            <a:endParaRPr lang="en-US" sz="1650" dirty="0"/>
          </a:p>
        </p:txBody>
      </p:sp>
      <p:sp>
        <p:nvSpPr>
          <p:cNvPr id="10" name="Shape 8"/>
          <p:cNvSpPr/>
          <p:nvPr/>
        </p:nvSpPr>
        <p:spPr>
          <a:xfrm>
            <a:off x="6470650" y="2390775"/>
            <a:ext cx="5346700" cy="1805940"/>
          </a:xfrm>
          <a:prstGeom prst="roundRect">
            <a:avLst>
              <a:gd name="adj" fmla="val 3165"/>
            </a:avLst>
          </a:prstGeom>
          <a:ln w="9525">
            <a:solidFill>
              <a:srgbClr val="F5F2EA">
                <a:alpha val="16000"/>
              </a:srgbClr>
            </a:solidFill>
            <a:prstDash val="solid"/>
          </a:ln>
        </p:spPr>
      </p:sp>
      <p:sp>
        <p:nvSpPr>
          <p:cNvPr id="11" name="Text 9"/>
          <p:cNvSpPr/>
          <p:nvPr/>
        </p:nvSpPr>
        <p:spPr>
          <a:xfrm>
            <a:off x="6727825" y="2647950"/>
            <a:ext cx="5315585" cy="209550"/>
          </a:xfrm>
          <a:prstGeom prst="rect">
            <a:avLst/>
          </a:prstGeom>
          <a:noFill/>
          <a:ln/>
        </p:spPr>
        <p:txBody>
          <a:bodyPr wrap="square" lIns="25400" tIns="25400" rIns="25400" bIns="25400" rtlCol="0" anchor="t">
            <a:normAutofit/>
          </a:bodyPr>
          <a:lstStyle/>
          <a:p>
            <a:pPr algn="l" indent="0" marL="0">
              <a:buNone/>
            </a:pPr>
            <a:r>
              <a:rPr lang="en-US" sz="1200" dirty="0">
                <a:solidFill>
                  <a:srgbClr val="7E9BFF"/>
                </a:solidFill>
                <a:latin typeface="Courier New" pitchFamily="34" charset="0"/>
                <a:ea typeface="Courier New" pitchFamily="34" charset="-122"/>
                <a:cs typeface="Courier New" pitchFamily="34" charset="-120"/>
              </a:rPr>
              <a:t>02</a:t>
            </a:r>
            <a:endParaRPr lang="en-US" sz="1200" dirty="0"/>
          </a:p>
        </p:txBody>
      </p:sp>
      <p:sp>
        <p:nvSpPr>
          <p:cNvPr id="12" name="Text 10"/>
          <p:cNvSpPr/>
          <p:nvPr/>
        </p:nvSpPr>
        <p:spPr>
          <a:xfrm>
            <a:off x="6727825" y="2914650"/>
            <a:ext cx="5315585"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F5F2EA"/>
                </a:solidFill>
                <a:latin typeface="Georgia" pitchFamily="34" charset="0"/>
                <a:ea typeface="Georgia" pitchFamily="34" charset="-122"/>
                <a:cs typeface="Georgia" pitchFamily="34" charset="-120"/>
              </a:rPr>
              <a:t>n-tiers / SOA légère</a:t>
            </a:r>
            <a:endParaRPr lang="en-US" sz="2400" dirty="0"/>
          </a:p>
        </p:txBody>
      </p:sp>
      <p:sp>
        <p:nvSpPr>
          <p:cNvPr id="13" name="Text 11"/>
          <p:cNvSpPr/>
          <p:nvPr/>
        </p:nvSpPr>
        <p:spPr>
          <a:xfrm>
            <a:off x="6727825" y="3352800"/>
            <a:ext cx="4977321"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9AA1B8"/>
                </a:solidFill>
                <a:latin typeface="Arial" pitchFamily="34" charset="0"/>
                <a:ea typeface="Arial" pitchFamily="34" charset="-122"/>
                <a:cs typeface="Arial" pitchFamily="34" charset="-120"/>
              </a:rPr>
              <a:t>Échelle adaptée à une PME en réseau, pas de micro-services.</a:t>
            </a:r>
            <a:endParaRPr lang="en-US" sz="1650" dirty="0"/>
          </a:p>
        </p:txBody>
      </p:sp>
      <p:sp>
        <p:nvSpPr>
          <p:cNvPr id="14" name="Shape 12"/>
          <p:cNvSpPr/>
          <p:nvPr/>
        </p:nvSpPr>
        <p:spPr>
          <a:xfrm>
            <a:off x="12026900" y="2390775"/>
            <a:ext cx="5346700" cy="1805940"/>
          </a:xfrm>
          <a:prstGeom prst="roundRect">
            <a:avLst>
              <a:gd name="adj" fmla="val 3165"/>
            </a:avLst>
          </a:prstGeom>
          <a:ln w="9525">
            <a:solidFill>
              <a:srgbClr val="F5F2EA">
                <a:alpha val="16000"/>
              </a:srgbClr>
            </a:solidFill>
            <a:prstDash val="solid"/>
          </a:ln>
        </p:spPr>
      </p:sp>
      <p:sp>
        <p:nvSpPr>
          <p:cNvPr id="15" name="Text 13"/>
          <p:cNvSpPr/>
          <p:nvPr/>
        </p:nvSpPr>
        <p:spPr>
          <a:xfrm>
            <a:off x="12284075" y="2647950"/>
            <a:ext cx="5315585" cy="209550"/>
          </a:xfrm>
          <a:prstGeom prst="rect">
            <a:avLst/>
          </a:prstGeom>
          <a:noFill/>
          <a:ln/>
        </p:spPr>
        <p:txBody>
          <a:bodyPr wrap="square" lIns="25400" tIns="25400" rIns="25400" bIns="25400" rtlCol="0" anchor="t">
            <a:normAutofit/>
          </a:bodyPr>
          <a:lstStyle/>
          <a:p>
            <a:pPr algn="l" indent="0" marL="0">
              <a:buNone/>
            </a:pPr>
            <a:r>
              <a:rPr lang="en-US" sz="1200" dirty="0">
                <a:solidFill>
                  <a:srgbClr val="7E9BFF"/>
                </a:solidFill>
                <a:latin typeface="Courier New" pitchFamily="34" charset="0"/>
                <a:ea typeface="Courier New" pitchFamily="34" charset="-122"/>
                <a:cs typeface="Courier New" pitchFamily="34" charset="-120"/>
              </a:rPr>
              <a:t>03</a:t>
            </a:r>
            <a:endParaRPr lang="en-US" sz="1200" dirty="0"/>
          </a:p>
        </p:txBody>
      </p:sp>
      <p:sp>
        <p:nvSpPr>
          <p:cNvPr id="16" name="Text 14"/>
          <p:cNvSpPr/>
          <p:nvPr/>
        </p:nvSpPr>
        <p:spPr>
          <a:xfrm>
            <a:off x="12284075" y="2914650"/>
            <a:ext cx="5315585"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F5F2EA"/>
                </a:solidFill>
                <a:latin typeface="Georgia" pitchFamily="34" charset="0"/>
                <a:ea typeface="Georgia" pitchFamily="34" charset="-122"/>
                <a:cs typeface="Georgia" pitchFamily="34" charset="-120"/>
              </a:rPr>
              <a:t>API-first</a:t>
            </a:r>
            <a:endParaRPr lang="en-US" sz="2400" dirty="0"/>
          </a:p>
        </p:txBody>
      </p:sp>
      <p:sp>
        <p:nvSpPr>
          <p:cNvPr id="17" name="Text 15"/>
          <p:cNvSpPr/>
          <p:nvPr/>
        </p:nvSpPr>
        <p:spPr>
          <a:xfrm>
            <a:off x="12284075" y="3352800"/>
            <a:ext cx="4977320"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9AA1B8"/>
                </a:solidFill>
                <a:latin typeface="Arial" pitchFamily="34" charset="0"/>
                <a:ea typeface="Arial" pitchFamily="34" charset="-122"/>
                <a:cs typeface="Arial" pitchFamily="34" charset="-120"/>
              </a:rPr>
              <a:t>Intégrer futurs franchisés, prestataires &amp; livraison tierce.</a:t>
            </a:r>
            <a:endParaRPr lang="en-US" sz="1650" dirty="0"/>
          </a:p>
        </p:txBody>
      </p:sp>
      <p:sp>
        <p:nvSpPr>
          <p:cNvPr id="18" name="Shape 16"/>
          <p:cNvSpPr/>
          <p:nvPr/>
        </p:nvSpPr>
        <p:spPr>
          <a:xfrm>
            <a:off x="914400" y="4406265"/>
            <a:ext cx="5346700" cy="1805940"/>
          </a:xfrm>
          <a:prstGeom prst="roundRect">
            <a:avLst>
              <a:gd name="adj" fmla="val 3165"/>
            </a:avLst>
          </a:prstGeom>
          <a:ln w="9525">
            <a:solidFill>
              <a:srgbClr val="F5F2EA">
                <a:alpha val="16000"/>
              </a:srgbClr>
            </a:solidFill>
            <a:prstDash val="solid"/>
          </a:ln>
        </p:spPr>
      </p:sp>
      <p:sp>
        <p:nvSpPr>
          <p:cNvPr id="19" name="Text 17"/>
          <p:cNvSpPr/>
          <p:nvPr/>
        </p:nvSpPr>
        <p:spPr>
          <a:xfrm>
            <a:off x="1171575" y="4663440"/>
            <a:ext cx="5315585" cy="209550"/>
          </a:xfrm>
          <a:prstGeom prst="rect">
            <a:avLst/>
          </a:prstGeom>
          <a:noFill/>
          <a:ln/>
        </p:spPr>
        <p:txBody>
          <a:bodyPr wrap="square" lIns="25400" tIns="25400" rIns="25400" bIns="25400" rtlCol="0" anchor="t">
            <a:normAutofit/>
          </a:bodyPr>
          <a:lstStyle/>
          <a:p>
            <a:pPr algn="l" indent="0" marL="0">
              <a:buNone/>
            </a:pPr>
            <a:r>
              <a:rPr lang="en-US" sz="1200" dirty="0">
                <a:solidFill>
                  <a:srgbClr val="7E9BFF"/>
                </a:solidFill>
                <a:latin typeface="Courier New" pitchFamily="34" charset="0"/>
                <a:ea typeface="Courier New" pitchFamily="34" charset="-122"/>
                <a:cs typeface="Courier New" pitchFamily="34" charset="-120"/>
              </a:rPr>
              <a:t>04</a:t>
            </a:r>
            <a:endParaRPr lang="en-US" sz="1200" dirty="0"/>
          </a:p>
        </p:txBody>
      </p:sp>
      <p:sp>
        <p:nvSpPr>
          <p:cNvPr id="20" name="Text 18"/>
          <p:cNvSpPr/>
          <p:nvPr/>
        </p:nvSpPr>
        <p:spPr>
          <a:xfrm>
            <a:off x="1171575" y="4930140"/>
            <a:ext cx="5315585"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F5F2EA"/>
                </a:solidFill>
                <a:latin typeface="Georgia" pitchFamily="34" charset="0"/>
                <a:ea typeface="Georgia" pitchFamily="34" charset="-122"/>
                <a:cs typeface="Georgia" pitchFamily="34" charset="-120"/>
              </a:rPr>
              <a:t>Cloud hybride</a:t>
            </a:r>
            <a:endParaRPr lang="en-US" sz="2400" dirty="0"/>
          </a:p>
        </p:txBody>
      </p:sp>
      <p:sp>
        <p:nvSpPr>
          <p:cNvPr id="21" name="Text 19"/>
          <p:cNvSpPr/>
          <p:nvPr/>
        </p:nvSpPr>
        <p:spPr>
          <a:xfrm>
            <a:off x="1171575" y="5368290"/>
            <a:ext cx="4977320"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9AA1B8"/>
                </a:solidFill>
                <a:latin typeface="Arial" pitchFamily="34" charset="0"/>
                <a:ea typeface="Arial" pitchFamily="34" charset="-122"/>
                <a:cs typeface="Arial" pitchFamily="34" charset="-120"/>
              </a:rPr>
              <a:t>SaaS pour l'ERP, données sensibles en cloud souverain.</a:t>
            </a:r>
            <a:endParaRPr lang="en-US" sz="1650" dirty="0"/>
          </a:p>
        </p:txBody>
      </p:sp>
      <p:sp>
        <p:nvSpPr>
          <p:cNvPr id="22" name="Shape 20"/>
          <p:cNvSpPr/>
          <p:nvPr/>
        </p:nvSpPr>
        <p:spPr>
          <a:xfrm>
            <a:off x="6470650" y="4406265"/>
            <a:ext cx="5346700" cy="1805940"/>
          </a:xfrm>
          <a:prstGeom prst="roundRect">
            <a:avLst>
              <a:gd name="adj" fmla="val 3165"/>
            </a:avLst>
          </a:prstGeom>
          <a:ln w="9525">
            <a:solidFill>
              <a:srgbClr val="F5F2EA">
                <a:alpha val="16000"/>
              </a:srgbClr>
            </a:solidFill>
            <a:prstDash val="solid"/>
          </a:ln>
        </p:spPr>
      </p:sp>
      <p:sp>
        <p:nvSpPr>
          <p:cNvPr id="23" name="Text 21"/>
          <p:cNvSpPr/>
          <p:nvPr/>
        </p:nvSpPr>
        <p:spPr>
          <a:xfrm>
            <a:off x="6727825" y="4663440"/>
            <a:ext cx="5315585" cy="209550"/>
          </a:xfrm>
          <a:prstGeom prst="rect">
            <a:avLst/>
          </a:prstGeom>
          <a:noFill/>
          <a:ln/>
        </p:spPr>
        <p:txBody>
          <a:bodyPr wrap="square" lIns="25400" tIns="25400" rIns="25400" bIns="25400" rtlCol="0" anchor="t">
            <a:normAutofit/>
          </a:bodyPr>
          <a:lstStyle/>
          <a:p>
            <a:pPr algn="l" indent="0" marL="0">
              <a:buNone/>
            </a:pPr>
            <a:r>
              <a:rPr lang="en-US" sz="1200" dirty="0">
                <a:solidFill>
                  <a:srgbClr val="7E9BFF"/>
                </a:solidFill>
                <a:latin typeface="Courier New" pitchFamily="34" charset="0"/>
                <a:ea typeface="Courier New" pitchFamily="34" charset="-122"/>
                <a:cs typeface="Courier New" pitchFamily="34" charset="-120"/>
              </a:rPr>
              <a:t>05</a:t>
            </a:r>
            <a:endParaRPr lang="en-US" sz="1200" dirty="0"/>
          </a:p>
        </p:txBody>
      </p:sp>
      <p:sp>
        <p:nvSpPr>
          <p:cNvPr id="24" name="Text 22"/>
          <p:cNvSpPr/>
          <p:nvPr/>
        </p:nvSpPr>
        <p:spPr>
          <a:xfrm>
            <a:off x="6727825" y="4930140"/>
            <a:ext cx="5315585"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F5F2EA"/>
                </a:solidFill>
                <a:latin typeface="Georgia" pitchFamily="34" charset="0"/>
                <a:ea typeface="Georgia" pitchFamily="34" charset="-122"/>
                <a:cs typeface="Georgia" pitchFamily="34" charset="-120"/>
              </a:rPr>
              <a:t>Temps réel</a:t>
            </a:r>
            <a:endParaRPr lang="en-US" sz="2400" dirty="0"/>
          </a:p>
        </p:txBody>
      </p:sp>
      <p:sp>
        <p:nvSpPr>
          <p:cNvPr id="25" name="Text 23"/>
          <p:cNvSpPr/>
          <p:nvPr/>
        </p:nvSpPr>
        <p:spPr>
          <a:xfrm>
            <a:off x="6727825" y="5368290"/>
            <a:ext cx="4977321"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9AA1B8"/>
                </a:solidFill>
                <a:latin typeface="Arial" pitchFamily="34" charset="0"/>
                <a:ea typeface="Arial" pitchFamily="34" charset="-122"/>
                <a:cs typeface="Arial" pitchFamily="34" charset="-120"/>
              </a:rPr>
              <a:t>Exit le batch nocturne pour les flux critiques de commande.</a:t>
            </a:r>
            <a:endParaRPr lang="en-US" sz="1650" dirty="0"/>
          </a:p>
        </p:txBody>
      </p:sp>
      <p:sp>
        <p:nvSpPr>
          <p:cNvPr id="26" name="Shape 24"/>
          <p:cNvSpPr/>
          <p:nvPr/>
        </p:nvSpPr>
        <p:spPr>
          <a:xfrm>
            <a:off x="12026900" y="4406265"/>
            <a:ext cx="5346700" cy="1805940"/>
          </a:xfrm>
          <a:prstGeom prst="roundRect">
            <a:avLst>
              <a:gd name="adj" fmla="val 3165"/>
            </a:avLst>
          </a:prstGeom>
          <a:ln w="9525">
            <a:solidFill>
              <a:srgbClr val="F5F2EA">
                <a:alpha val="16000"/>
              </a:srgbClr>
            </a:solidFill>
            <a:prstDash val="solid"/>
          </a:ln>
        </p:spPr>
      </p:sp>
      <p:sp>
        <p:nvSpPr>
          <p:cNvPr id="27" name="Text 25"/>
          <p:cNvSpPr/>
          <p:nvPr/>
        </p:nvSpPr>
        <p:spPr>
          <a:xfrm>
            <a:off x="12284075" y="4663440"/>
            <a:ext cx="5315585" cy="209550"/>
          </a:xfrm>
          <a:prstGeom prst="rect">
            <a:avLst/>
          </a:prstGeom>
          <a:noFill/>
          <a:ln/>
        </p:spPr>
        <p:txBody>
          <a:bodyPr wrap="square" lIns="25400" tIns="25400" rIns="25400" bIns="25400" rtlCol="0" anchor="t">
            <a:normAutofit/>
          </a:bodyPr>
          <a:lstStyle/>
          <a:p>
            <a:pPr algn="l" indent="0" marL="0">
              <a:buNone/>
            </a:pPr>
            <a:r>
              <a:rPr lang="en-US" sz="1200" dirty="0">
                <a:solidFill>
                  <a:srgbClr val="7E9BFF"/>
                </a:solidFill>
                <a:latin typeface="Courier New" pitchFamily="34" charset="0"/>
                <a:ea typeface="Courier New" pitchFamily="34" charset="-122"/>
                <a:cs typeface="Courier New" pitchFamily="34" charset="-120"/>
              </a:rPr>
              <a:t>06</a:t>
            </a:r>
            <a:endParaRPr lang="en-US" sz="1200" dirty="0"/>
          </a:p>
        </p:txBody>
      </p:sp>
      <p:sp>
        <p:nvSpPr>
          <p:cNvPr id="28" name="Text 26"/>
          <p:cNvSpPr/>
          <p:nvPr/>
        </p:nvSpPr>
        <p:spPr>
          <a:xfrm>
            <a:off x="12284075" y="4930140"/>
            <a:ext cx="5315585"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F5F2EA"/>
                </a:solidFill>
                <a:latin typeface="Georgia" pitchFamily="34" charset="0"/>
                <a:ea typeface="Georgia" pitchFamily="34" charset="-122"/>
                <a:cs typeface="Georgia" pitchFamily="34" charset="-120"/>
              </a:rPr>
              <a:t>Sécurité &amp; éco-conception</a:t>
            </a:r>
            <a:endParaRPr lang="en-US" sz="2400" dirty="0"/>
          </a:p>
        </p:txBody>
      </p:sp>
      <p:sp>
        <p:nvSpPr>
          <p:cNvPr id="29" name="Text 27"/>
          <p:cNvSpPr/>
          <p:nvPr/>
        </p:nvSpPr>
        <p:spPr>
          <a:xfrm>
            <a:off x="12284075" y="5368290"/>
            <a:ext cx="4977320"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9AA1B8"/>
                </a:solidFill>
                <a:latin typeface="Arial" pitchFamily="34" charset="0"/>
                <a:ea typeface="Arial" pitchFamily="34" charset="-122"/>
                <a:cs typeface="Arial" pitchFamily="34" charset="-120"/>
              </a:rPr>
              <a:t>RGPD, droits par rôle, mutualisation des hébergements.</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914400" y="828675"/>
            <a:ext cx="5029200"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5F6678"/>
                </a:solidFill>
                <a:latin typeface="Courier New" pitchFamily="34" charset="0"/>
                <a:ea typeface="Courier New" pitchFamily="34" charset="-122"/>
                <a:cs typeface="Courier New" pitchFamily="34" charset="-120"/>
              </a:rPr>
              <a:t>B.5 — ÉVALUATION CHIFFRÉE</a:t>
            </a:r>
            <a:endParaRPr lang="en-US" sz="1800" dirty="0"/>
          </a:p>
        </p:txBody>
      </p:sp>
      <p:sp>
        <p:nvSpPr>
          <p:cNvPr id="3" name="Shape 1"/>
          <p:cNvSpPr/>
          <p:nvPr/>
        </p:nvSpPr>
        <p:spPr>
          <a:xfrm>
            <a:off x="15506700" y="800100"/>
            <a:ext cx="1866900" cy="314325"/>
          </a:xfrm>
          <a:prstGeom prst="roundRect">
            <a:avLst>
              <a:gd name="adj" fmla="val 50000"/>
            </a:avLst>
          </a:prstGeom>
          <a:ln w="9525">
            <a:solidFill>
              <a:srgbClr val="B08E4F"/>
            </a:solidFill>
            <a:prstDash val="dash"/>
          </a:ln>
        </p:spPr>
      </p:sp>
      <p:sp>
        <p:nvSpPr>
          <p:cNvPr id="4" name="Text 2"/>
          <p:cNvSpPr/>
          <p:nvPr/>
        </p:nvSpPr>
        <p:spPr>
          <a:xfrm>
            <a:off x="15668625" y="876300"/>
            <a:ext cx="1619250" cy="200025"/>
          </a:xfrm>
          <a:prstGeom prst="rect">
            <a:avLst/>
          </a:prstGeom>
          <a:noFill/>
          <a:ln/>
        </p:spPr>
        <p:txBody>
          <a:bodyPr wrap="square" lIns="25400" tIns="25400" rIns="25400" bIns="25400" rtlCol="0" anchor="t">
            <a:normAutofit/>
          </a:bodyPr>
          <a:lstStyle/>
          <a:p>
            <a:pPr algn="l" indent="0" marL="0">
              <a:buNone/>
            </a:pPr>
            <a:r>
              <a:rPr lang="en-US" sz="1125" spc="135" kern="0" dirty="0">
                <a:solidFill>
                  <a:srgbClr val="9A8A5F"/>
                </a:solidFill>
                <a:latin typeface="Courier New" pitchFamily="34" charset="0"/>
                <a:ea typeface="Courier New" pitchFamily="34" charset="-122"/>
                <a:cs typeface="Courier New" pitchFamily="34" charset="-120"/>
              </a:rPr>
              <a:t>À CHIFFRER · J4</a:t>
            </a:r>
            <a:endParaRPr lang="en-US" sz="1125" dirty="0"/>
          </a:p>
        </p:txBody>
      </p:sp>
      <p:sp>
        <p:nvSpPr>
          <p:cNvPr id="5" name="Text 3"/>
          <p:cNvSpPr/>
          <p:nvPr/>
        </p:nvSpPr>
        <p:spPr>
          <a:xfrm>
            <a:off x="914400" y="1285875"/>
            <a:ext cx="18105120"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b="1" spc="-57" kern="0" dirty="0">
                <a:solidFill>
                  <a:srgbClr val="1D2235"/>
                </a:solidFill>
                <a:latin typeface="Georgia" pitchFamily="34" charset="0"/>
                <a:ea typeface="Georgia" pitchFamily="34" charset="-122"/>
                <a:cs typeface="Georgia" pitchFamily="34" charset="-120"/>
              </a:rPr>
              <a:t>Coûts, bénéfices &amp; ROI</a:t>
            </a:r>
            <a:endParaRPr lang="en-US" sz="5700" dirty="0"/>
          </a:p>
        </p:txBody>
      </p:sp>
      <p:sp>
        <p:nvSpPr>
          <p:cNvPr id="6" name="Text 4"/>
          <p:cNvSpPr/>
          <p:nvPr/>
        </p:nvSpPr>
        <p:spPr>
          <a:xfrm>
            <a:off x="914400" y="2352675"/>
            <a:ext cx="8801100" cy="209550"/>
          </a:xfrm>
          <a:prstGeom prst="rect">
            <a:avLst/>
          </a:prstGeom>
          <a:noFill/>
          <a:ln/>
        </p:spPr>
        <p:txBody>
          <a:bodyPr wrap="square" lIns="25400" tIns="25400" rIns="25400" bIns="25400" rtlCol="0" anchor="t">
            <a:normAutofit/>
          </a:bodyPr>
          <a:lstStyle/>
          <a:p>
            <a:pPr algn="l" indent="0" marL="0">
              <a:buNone/>
            </a:pPr>
            <a:r>
              <a:rPr lang="en-US" sz="1200" spc="144" kern="0" dirty="0">
                <a:solidFill>
                  <a:srgbClr val="5F6678"/>
                </a:solidFill>
                <a:latin typeface="Courier New" pitchFamily="34" charset="0"/>
                <a:ea typeface="Courier New" pitchFamily="34" charset="-122"/>
                <a:cs typeface="Courier New" pitchFamily="34" charset="-120"/>
              </a:rPr>
              <a:t>COÛTS SI ACTUELS (CONNUS)</a:t>
            </a:r>
            <a:endParaRPr lang="en-US" sz="1200" dirty="0"/>
          </a:p>
        </p:txBody>
      </p:sp>
      <p:sp>
        <p:nvSpPr>
          <p:cNvPr id="7" name="Shape 5"/>
          <p:cNvSpPr/>
          <p:nvPr/>
        </p:nvSpPr>
        <p:spPr>
          <a:xfrm>
            <a:off x="914400" y="3124200"/>
            <a:ext cx="8001000" cy="9525"/>
          </a:xfrm>
          <a:prstGeom prst="rect">
            <a:avLst/>
          </a:prstGeom>
          <a:solidFill>
            <a:srgbClr val="1D2235">
              <a:alpha val="10000"/>
            </a:srgbClr>
          </a:solidFill>
          <a:ln/>
        </p:spPr>
      </p:sp>
      <p:sp>
        <p:nvSpPr>
          <p:cNvPr id="8" name="Text 6"/>
          <p:cNvSpPr/>
          <p:nvPr/>
        </p:nvSpPr>
        <p:spPr>
          <a:xfrm>
            <a:off x="914400" y="2676525"/>
            <a:ext cx="1835309"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1D2235"/>
                </a:solidFill>
                <a:latin typeface="Georgia" pitchFamily="34" charset="0"/>
                <a:ea typeface="Georgia" pitchFamily="34" charset="-122"/>
                <a:cs typeface="Georgia" pitchFamily="34" charset="-120"/>
              </a:rPr>
              <a:t>ERP infogéré</a:t>
            </a:r>
            <a:endParaRPr lang="en-US" sz="2250" dirty="0"/>
          </a:p>
        </p:txBody>
      </p:sp>
      <p:sp>
        <p:nvSpPr>
          <p:cNvPr id="9" name="Text 7"/>
          <p:cNvSpPr/>
          <p:nvPr/>
        </p:nvSpPr>
        <p:spPr>
          <a:xfrm>
            <a:off x="7280910" y="2676525"/>
            <a:ext cx="1797939" cy="371475"/>
          </a:xfrm>
          <a:prstGeom prst="rect">
            <a:avLst/>
          </a:prstGeom>
          <a:noFill/>
          <a:ln/>
        </p:spPr>
        <p:txBody>
          <a:bodyPr wrap="square" lIns="25400" tIns="25400" rIns="25400" bIns="25400" rtlCol="0" anchor="t">
            <a:normAutofit/>
          </a:bodyPr>
          <a:lstStyle/>
          <a:p>
            <a:pPr algn="l" indent="0" marL="0">
              <a:buNone/>
            </a:pPr>
            <a:r>
              <a:rPr lang="en-US" sz="1950" dirty="0">
                <a:solidFill>
                  <a:srgbClr val="1D2235"/>
                </a:solidFill>
                <a:latin typeface="Courier New" pitchFamily="34" charset="0"/>
                <a:ea typeface="Courier New" pitchFamily="34" charset="-122"/>
                <a:cs typeface="Courier New" pitchFamily="34" charset="-120"/>
              </a:rPr>
              <a:t>16 000 €/an</a:t>
            </a:r>
            <a:endParaRPr lang="en-US" sz="1950" dirty="0"/>
          </a:p>
        </p:txBody>
      </p:sp>
      <p:sp>
        <p:nvSpPr>
          <p:cNvPr id="10" name="Shape 8"/>
          <p:cNvSpPr/>
          <p:nvPr/>
        </p:nvSpPr>
        <p:spPr>
          <a:xfrm>
            <a:off x="914400" y="3733800"/>
            <a:ext cx="8001000" cy="9525"/>
          </a:xfrm>
          <a:prstGeom prst="rect">
            <a:avLst/>
          </a:prstGeom>
          <a:solidFill>
            <a:srgbClr val="1D2235">
              <a:alpha val="10000"/>
            </a:srgbClr>
          </a:solidFill>
          <a:ln/>
        </p:spPr>
      </p:sp>
      <p:sp>
        <p:nvSpPr>
          <p:cNvPr id="11" name="Text 9"/>
          <p:cNvSpPr/>
          <p:nvPr/>
        </p:nvSpPr>
        <p:spPr>
          <a:xfrm>
            <a:off x="914400" y="3286125"/>
            <a:ext cx="3057858"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1D2235"/>
                </a:solidFill>
                <a:latin typeface="Georgia" pitchFamily="34" charset="0"/>
                <a:ea typeface="Georgia" pitchFamily="34" charset="-122"/>
                <a:cs typeface="Georgia" pitchFamily="34" charset="-120"/>
              </a:rPr>
              <a:t>Logistique « Je livre »</a:t>
            </a:r>
            <a:endParaRPr lang="en-US" sz="2250" dirty="0"/>
          </a:p>
        </p:txBody>
      </p:sp>
      <p:sp>
        <p:nvSpPr>
          <p:cNvPr id="12" name="Text 10"/>
          <p:cNvSpPr/>
          <p:nvPr/>
        </p:nvSpPr>
        <p:spPr>
          <a:xfrm>
            <a:off x="7132320" y="3286125"/>
            <a:ext cx="1961388" cy="371475"/>
          </a:xfrm>
          <a:prstGeom prst="rect">
            <a:avLst/>
          </a:prstGeom>
          <a:noFill/>
          <a:ln/>
        </p:spPr>
        <p:txBody>
          <a:bodyPr wrap="square" lIns="25400" tIns="25400" rIns="25400" bIns="25400" rtlCol="0" anchor="t">
            <a:normAutofit/>
          </a:bodyPr>
          <a:lstStyle/>
          <a:p>
            <a:pPr algn="l" indent="0" marL="0">
              <a:buNone/>
            </a:pPr>
            <a:r>
              <a:rPr lang="en-US" sz="1950" dirty="0">
                <a:solidFill>
                  <a:srgbClr val="1D2235"/>
                </a:solidFill>
                <a:latin typeface="Courier New" pitchFamily="34" charset="0"/>
                <a:ea typeface="Courier New" pitchFamily="34" charset="-122"/>
                <a:cs typeface="Courier New" pitchFamily="34" charset="-120"/>
              </a:rPr>
              <a:t>150 000 €/an</a:t>
            </a:r>
            <a:endParaRPr lang="en-US" sz="1950" dirty="0"/>
          </a:p>
        </p:txBody>
      </p:sp>
      <p:sp>
        <p:nvSpPr>
          <p:cNvPr id="13" name="Shape 11"/>
          <p:cNvSpPr/>
          <p:nvPr/>
        </p:nvSpPr>
        <p:spPr>
          <a:xfrm>
            <a:off x="914400" y="4343400"/>
            <a:ext cx="8001000" cy="9525"/>
          </a:xfrm>
          <a:prstGeom prst="rect">
            <a:avLst/>
          </a:prstGeom>
          <a:solidFill>
            <a:srgbClr val="1D2235">
              <a:alpha val="10000"/>
            </a:srgbClr>
          </a:solidFill>
          <a:ln/>
        </p:spPr>
      </p:sp>
      <p:sp>
        <p:nvSpPr>
          <p:cNvPr id="14" name="Text 12"/>
          <p:cNvSpPr/>
          <p:nvPr/>
        </p:nvSpPr>
        <p:spPr>
          <a:xfrm>
            <a:off x="914400" y="3895725"/>
            <a:ext cx="2230834"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1D2235"/>
                </a:solidFill>
                <a:latin typeface="Georgia" pitchFamily="34" charset="0"/>
                <a:ea typeface="Georgia" pitchFamily="34" charset="-122"/>
                <a:cs typeface="Georgia" pitchFamily="34" charset="-120"/>
              </a:rPr>
              <a:t>Caisses (réseau)</a:t>
            </a:r>
            <a:endParaRPr lang="en-US" sz="2250" dirty="0"/>
          </a:p>
        </p:txBody>
      </p:sp>
      <p:sp>
        <p:nvSpPr>
          <p:cNvPr id="15" name="Text 13"/>
          <p:cNvSpPr/>
          <p:nvPr/>
        </p:nvSpPr>
        <p:spPr>
          <a:xfrm>
            <a:off x="6835140" y="3895725"/>
            <a:ext cx="2288286" cy="371475"/>
          </a:xfrm>
          <a:prstGeom prst="rect">
            <a:avLst/>
          </a:prstGeom>
          <a:noFill/>
          <a:ln/>
        </p:spPr>
        <p:txBody>
          <a:bodyPr wrap="square" lIns="25400" tIns="25400" rIns="25400" bIns="25400" rtlCol="0" anchor="t">
            <a:normAutofit/>
          </a:bodyPr>
          <a:lstStyle/>
          <a:p>
            <a:pPr algn="l" indent="0" marL="0">
              <a:buNone/>
            </a:pPr>
            <a:r>
              <a:rPr lang="en-US" sz="1950" dirty="0">
                <a:solidFill>
                  <a:srgbClr val="1D2235"/>
                </a:solidFill>
                <a:latin typeface="Courier New" pitchFamily="34" charset="0"/>
                <a:ea typeface="Courier New" pitchFamily="34" charset="-122"/>
                <a:cs typeface="Courier New" pitchFamily="34" charset="-120"/>
              </a:rPr>
              <a:t>≈ 125 000 €/an</a:t>
            </a:r>
            <a:endParaRPr lang="en-US" sz="1950" dirty="0"/>
          </a:p>
        </p:txBody>
      </p:sp>
      <p:sp>
        <p:nvSpPr>
          <p:cNvPr id="16" name="Shape 14"/>
          <p:cNvSpPr/>
          <p:nvPr/>
        </p:nvSpPr>
        <p:spPr>
          <a:xfrm>
            <a:off x="914400" y="4953000"/>
            <a:ext cx="8001000" cy="9525"/>
          </a:xfrm>
          <a:prstGeom prst="rect">
            <a:avLst/>
          </a:prstGeom>
          <a:solidFill>
            <a:srgbClr val="1D2235">
              <a:alpha val="10000"/>
            </a:srgbClr>
          </a:solidFill>
          <a:ln/>
        </p:spPr>
      </p:sp>
      <p:sp>
        <p:nvSpPr>
          <p:cNvPr id="17" name="Text 15"/>
          <p:cNvSpPr/>
          <p:nvPr/>
        </p:nvSpPr>
        <p:spPr>
          <a:xfrm>
            <a:off x="914400" y="4505325"/>
            <a:ext cx="2035429"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1D2235"/>
                </a:solidFill>
                <a:latin typeface="Georgia" pitchFamily="34" charset="0"/>
                <a:ea typeface="Georgia" pitchFamily="34" charset="-122"/>
                <a:cs typeface="Georgia" pitchFamily="34" charset="-120"/>
              </a:rPr>
              <a:t>Site web + app</a:t>
            </a:r>
            <a:endParaRPr lang="en-US" sz="2250" dirty="0"/>
          </a:p>
        </p:txBody>
      </p:sp>
      <p:sp>
        <p:nvSpPr>
          <p:cNvPr id="18" name="Text 16"/>
          <p:cNvSpPr/>
          <p:nvPr/>
        </p:nvSpPr>
        <p:spPr>
          <a:xfrm>
            <a:off x="7429500" y="4505325"/>
            <a:ext cx="1634490" cy="371475"/>
          </a:xfrm>
          <a:prstGeom prst="rect">
            <a:avLst/>
          </a:prstGeom>
          <a:noFill/>
          <a:ln/>
        </p:spPr>
        <p:txBody>
          <a:bodyPr wrap="square" lIns="25400" tIns="25400" rIns="25400" bIns="25400" rtlCol="0" anchor="t">
            <a:normAutofit/>
          </a:bodyPr>
          <a:lstStyle/>
          <a:p>
            <a:pPr algn="l" indent="0" marL="0">
              <a:buNone/>
            </a:pPr>
            <a:r>
              <a:rPr lang="en-US" sz="1950" dirty="0">
                <a:solidFill>
                  <a:srgbClr val="1D2235"/>
                </a:solidFill>
                <a:latin typeface="Courier New" pitchFamily="34" charset="0"/>
                <a:ea typeface="Courier New" pitchFamily="34" charset="-122"/>
                <a:cs typeface="Courier New" pitchFamily="34" charset="-120"/>
              </a:rPr>
              <a:t>1 500 €/an</a:t>
            </a:r>
            <a:endParaRPr lang="en-US" sz="1950" dirty="0"/>
          </a:p>
        </p:txBody>
      </p:sp>
      <p:sp>
        <p:nvSpPr>
          <p:cNvPr id="19" name="Text 17"/>
          <p:cNvSpPr/>
          <p:nvPr/>
        </p:nvSpPr>
        <p:spPr>
          <a:xfrm>
            <a:off x="9372600" y="2352675"/>
            <a:ext cx="8801100" cy="209550"/>
          </a:xfrm>
          <a:prstGeom prst="rect">
            <a:avLst/>
          </a:prstGeom>
          <a:noFill/>
          <a:ln/>
        </p:spPr>
        <p:txBody>
          <a:bodyPr wrap="square" lIns="25400" tIns="25400" rIns="25400" bIns="25400" rtlCol="0" anchor="t">
            <a:normAutofit/>
          </a:bodyPr>
          <a:lstStyle/>
          <a:p>
            <a:pPr algn="l" indent="0" marL="0">
              <a:buNone/>
            </a:pPr>
            <a:r>
              <a:rPr lang="en-US" sz="1200" spc="144" kern="0" dirty="0">
                <a:solidFill>
                  <a:srgbClr val="3F6FE6"/>
                </a:solidFill>
                <a:latin typeface="Courier New" pitchFamily="34" charset="0"/>
                <a:ea typeface="Courier New" pitchFamily="34" charset="-122"/>
                <a:cs typeface="Courier New" pitchFamily="34" charset="-120"/>
              </a:rPr>
              <a:t>LEVIERS DE GAIN (À QUANTIFIER)</a:t>
            </a:r>
            <a:endParaRPr lang="en-US" sz="1200" dirty="0"/>
          </a:p>
        </p:txBody>
      </p:sp>
      <p:sp>
        <p:nvSpPr>
          <p:cNvPr id="20" name="Shape 18"/>
          <p:cNvSpPr/>
          <p:nvPr/>
        </p:nvSpPr>
        <p:spPr>
          <a:xfrm>
            <a:off x="9372600" y="2676525"/>
            <a:ext cx="8001000" cy="1076325"/>
          </a:xfrm>
          <a:prstGeom prst="roundRect">
            <a:avLst>
              <a:gd name="adj" fmla="val 5310"/>
            </a:avLst>
          </a:prstGeom>
          <a:ln w="9525">
            <a:solidFill>
              <a:srgbClr val="1D2235">
                <a:alpha val="28000"/>
              </a:srgbClr>
            </a:solidFill>
            <a:prstDash val="dash"/>
          </a:ln>
        </p:spPr>
      </p:sp>
      <p:sp>
        <p:nvSpPr>
          <p:cNvPr id="21" name="Text 19"/>
          <p:cNvSpPr/>
          <p:nvPr/>
        </p:nvSpPr>
        <p:spPr>
          <a:xfrm>
            <a:off x="9610725" y="2895600"/>
            <a:ext cx="4738449"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1D2235"/>
                </a:solidFill>
                <a:latin typeface="Georgia" pitchFamily="34" charset="0"/>
                <a:ea typeface="Georgia" pitchFamily="34" charset="-122"/>
                <a:cs typeface="Georgia" pitchFamily="34" charset="-120"/>
              </a:rPr>
              <a:t>Ventes déjeuner : 10 % → 15-20 %</a:t>
            </a:r>
            <a:endParaRPr lang="en-US" sz="2250" dirty="0"/>
          </a:p>
        </p:txBody>
      </p:sp>
      <p:sp>
        <p:nvSpPr>
          <p:cNvPr id="22" name="Text 20"/>
          <p:cNvSpPr/>
          <p:nvPr/>
        </p:nvSpPr>
        <p:spPr>
          <a:xfrm>
            <a:off x="9610725" y="3286125"/>
            <a:ext cx="827722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5F6678"/>
                </a:solidFill>
                <a:latin typeface="Arial" pitchFamily="34" charset="0"/>
                <a:ea typeface="Arial" pitchFamily="34" charset="-122"/>
                <a:cs typeface="Arial" pitchFamily="34" charset="-120"/>
              </a:rPr>
              <a:t>+30 à +60 K€ / franchisé / an via click &amp; collect</a:t>
            </a:r>
            <a:endParaRPr lang="en-US" sz="1650" dirty="0"/>
          </a:p>
        </p:txBody>
      </p:sp>
      <p:sp>
        <p:nvSpPr>
          <p:cNvPr id="23" name="Shape 21"/>
          <p:cNvSpPr/>
          <p:nvPr/>
        </p:nvSpPr>
        <p:spPr>
          <a:xfrm>
            <a:off x="9372600" y="3905250"/>
            <a:ext cx="8001000" cy="1076325"/>
          </a:xfrm>
          <a:prstGeom prst="roundRect">
            <a:avLst>
              <a:gd name="adj" fmla="val 5310"/>
            </a:avLst>
          </a:prstGeom>
          <a:ln w="9525">
            <a:solidFill>
              <a:srgbClr val="1D2235">
                <a:alpha val="28000"/>
              </a:srgbClr>
            </a:solidFill>
            <a:prstDash val="dash"/>
          </a:ln>
        </p:spPr>
      </p:sp>
      <p:sp>
        <p:nvSpPr>
          <p:cNvPr id="24" name="Text 22"/>
          <p:cNvSpPr/>
          <p:nvPr/>
        </p:nvSpPr>
        <p:spPr>
          <a:xfrm>
            <a:off x="9610725" y="4124325"/>
            <a:ext cx="2813209" cy="371475"/>
          </a:xfrm>
          <a:prstGeom prst="rect">
            <a:avLst/>
          </a:prstGeom>
          <a:noFill/>
          <a:ln/>
        </p:spPr>
        <p:txBody>
          <a:bodyPr wrap="square" lIns="25400" tIns="25400" rIns="25400" bIns="25400" rtlCol="0" anchor="t">
            <a:normAutofit/>
          </a:bodyPr>
          <a:lstStyle/>
          <a:p>
            <a:pPr algn="l" indent="0" marL="0">
              <a:buNone/>
            </a:pPr>
            <a:r>
              <a:rPr lang="en-US" sz="2250" b="1" dirty="0">
                <a:solidFill>
                  <a:srgbClr val="1D2235"/>
                </a:solidFill>
                <a:latin typeface="Georgia" pitchFamily="34" charset="0"/>
                <a:ea typeface="Georgia" pitchFamily="34" charset="-122"/>
                <a:cs typeface="Georgia" pitchFamily="34" charset="-120"/>
              </a:rPr>
              <a:t>Livraison à domicile</a:t>
            </a:r>
            <a:endParaRPr lang="en-US" sz="2250" dirty="0"/>
          </a:p>
        </p:txBody>
      </p:sp>
      <p:sp>
        <p:nvSpPr>
          <p:cNvPr id="25" name="Text 23"/>
          <p:cNvSpPr/>
          <p:nvPr/>
        </p:nvSpPr>
        <p:spPr>
          <a:xfrm>
            <a:off x="9610725" y="4514850"/>
            <a:ext cx="827722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5F6678"/>
                </a:solidFill>
                <a:latin typeface="Arial" pitchFamily="34" charset="0"/>
                <a:ea typeface="Arial" pitchFamily="34" charset="-122"/>
                <a:cs typeface="Arial" pitchFamily="34" charset="-120"/>
              </a:rPr>
              <a:t>Nouveau flux de CA non capté aujourd'hui</a:t>
            </a:r>
            <a:endParaRPr lang="en-US" sz="1650" dirty="0"/>
          </a:p>
        </p:txBody>
      </p:sp>
      <p:sp>
        <p:nvSpPr>
          <p:cNvPr id="26" name="Shape 24"/>
          <p:cNvSpPr/>
          <p:nvPr/>
        </p:nvSpPr>
        <p:spPr>
          <a:xfrm>
            <a:off x="9372600" y="5133975"/>
            <a:ext cx="8001000" cy="609600"/>
          </a:xfrm>
          <a:prstGeom prst="roundRect">
            <a:avLst>
              <a:gd name="adj" fmla="val 9375"/>
            </a:avLst>
          </a:prstGeom>
          <a:solidFill>
            <a:srgbClr val="14182A"/>
          </a:solidFill>
          <a:ln/>
        </p:spPr>
      </p:sp>
      <p:sp>
        <p:nvSpPr>
          <p:cNvPr id="27" name="Text 25"/>
          <p:cNvSpPr/>
          <p:nvPr/>
        </p:nvSpPr>
        <p:spPr>
          <a:xfrm>
            <a:off x="9601200" y="5343525"/>
            <a:ext cx="7783830" cy="228600"/>
          </a:xfrm>
          <a:prstGeom prst="rect">
            <a:avLst/>
          </a:prstGeom>
          <a:noFill/>
          <a:ln/>
        </p:spPr>
        <p:txBody>
          <a:bodyPr wrap="square" lIns="25400" tIns="25400" rIns="25400" bIns="25400" rtlCol="0" anchor="t">
            <a:normAutofit/>
          </a:bodyPr>
          <a:lstStyle/>
          <a:p>
            <a:pPr algn="l" indent="0" marL="0">
              <a:buNone/>
            </a:pPr>
            <a:r>
              <a:rPr lang="en-US" sz="1350" dirty="0">
                <a:solidFill>
                  <a:srgbClr val="7E9BFF"/>
                </a:solidFill>
                <a:latin typeface="Courier New" pitchFamily="34" charset="0"/>
                <a:ea typeface="Courier New" pitchFamily="34" charset="-122"/>
                <a:cs typeface="Courier New" pitchFamily="34" charset="-120"/>
              </a:rPr>
              <a:t>ROI = (gains estimés − coût projet) / coût projet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82A"/>
        </a:solidFill>
      </p:bgPr>
    </p:bg>
    <p:spTree>
      <p:nvGrpSpPr>
        <p:cNvPr id="1" name=""/>
        <p:cNvGrpSpPr/>
        <p:nvPr/>
      </p:nvGrpSpPr>
      <p:grpSpPr>
        <a:xfrm>
          <a:off x="0" y="0"/>
          <a:ext cx="0" cy="0"/>
          <a:chOff x="0" y="0"/>
          <a:chExt cx="0" cy="0"/>
        </a:xfrm>
      </p:grpSpPr>
      <p:sp>
        <p:nvSpPr>
          <p:cNvPr id="2" name="Text 0"/>
          <p:cNvSpPr/>
          <p:nvPr/>
        </p:nvSpPr>
        <p:spPr>
          <a:xfrm>
            <a:off x="914400" y="800100"/>
            <a:ext cx="6839712"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9AA1B8"/>
                </a:solidFill>
                <a:latin typeface="Courier New" pitchFamily="34" charset="0"/>
                <a:ea typeface="Courier New" pitchFamily="34" charset="-122"/>
                <a:cs typeface="Courier New" pitchFamily="34" charset="-120"/>
              </a:rPr>
              <a:t>M. TRAITEUR · TRANSFORMATION DU SI</a:t>
            </a:r>
            <a:endParaRPr lang="en-US" sz="1800" dirty="0"/>
          </a:p>
        </p:txBody>
      </p:sp>
      <p:sp>
        <p:nvSpPr>
          <p:cNvPr id="3" name="Text 1"/>
          <p:cNvSpPr/>
          <p:nvPr/>
        </p:nvSpPr>
        <p:spPr>
          <a:xfrm>
            <a:off x="14081760" y="800100"/>
            <a:ext cx="3621024" cy="295275"/>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9AA1B8"/>
                </a:solidFill>
                <a:latin typeface="Courier New" pitchFamily="34" charset="0"/>
                <a:ea typeface="Courier New" pitchFamily="34" charset="-122"/>
                <a:cs typeface="Courier New" pitchFamily="34" charset="-120"/>
              </a:rPr>
              <a:t>PROMOTION 2025-D12</a:t>
            </a:r>
            <a:endParaRPr lang="en-US" sz="1800" dirty="0"/>
          </a:p>
        </p:txBody>
      </p:sp>
      <p:sp>
        <p:nvSpPr>
          <p:cNvPr id="4" name="Text 2"/>
          <p:cNvSpPr/>
          <p:nvPr/>
        </p:nvSpPr>
        <p:spPr>
          <a:xfrm>
            <a:off x="914400" y="3509963"/>
            <a:ext cx="767874"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B08E4F"/>
                </a:solidFill>
                <a:latin typeface="Georgia" pitchFamily="34" charset="0"/>
                <a:ea typeface="Georgia" pitchFamily="34" charset="-122"/>
                <a:cs typeface="Georgia" pitchFamily="34" charset="-120"/>
              </a:rPr>
              <a:t>M.T</a:t>
            </a:r>
            <a:endParaRPr lang="en-US" sz="3000" dirty="0"/>
          </a:p>
        </p:txBody>
      </p:sp>
      <p:sp>
        <p:nvSpPr>
          <p:cNvPr id="5" name="Shape 3"/>
          <p:cNvSpPr/>
          <p:nvPr/>
        </p:nvSpPr>
        <p:spPr>
          <a:xfrm>
            <a:off x="1815624" y="3724275"/>
            <a:ext cx="952500" cy="9525"/>
          </a:xfrm>
          <a:prstGeom prst="rect">
            <a:avLst/>
          </a:prstGeom>
          <a:solidFill>
            <a:srgbClr val="B08E4F"/>
          </a:solidFill>
          <a:ln/>
        </p:spPr>
      </p:sp>
      <p:sp>
        <p:nvSpPr>
          <p:cNvPr id="6" name="Text 4"/>
          <p:cNvSpPr/>
          <p:nvPr/>
        </p:nvSpPr>
        <p:spPr>
          <a:xfrm>
            <a:off x="914400" y="4252913"/>
            <a:ext cx="15825915" cy="990600"/>
          </a:xfrm>
          <a:prstGeom prst="rect">
            <a:avLst/>
          </a:prstGeom>
          <a:noFill/>
          <a:ln/>
        </p:spPr>
        <p:txBody>
          <a:bodyPr wrap="square" lIns="25400" tIns="25400" rIns="25400" bIns="25400" rtlCol="0" anchor="t">
            <a:normAutofit/>
          </a:bodyPr>
          <a:lstStyle/>
          <a:p>
            <a:pPr algn="l" indent="0" marL="0">
              <a:lnSpc>
                <a:spcPct val="100000"/>
              </a:lnSpc>
              <a:buNone/>
            </a:pPr>
            <a:r>
              <a:rPr lang="en-US" sz="7500" b="1" spc="-75" kern="0" dirty="0">
                <a:solidFill>
                  <a:srgbClr val="F5F2EA"/>
                </a:solidFill>
                <a:latin typeface="Georgia" pitchFamily="34" charset="0"/>
                <a:ea typeface="Georgia" pitchFamily="34" charset="-122"/>
                <a:cs typeface="Georgia" pitchFamily="34" charset="-120"/>
              </a:rPr>
              <a:t>Diagnostic posé, trajectoire cadrée.</a:t>
            </a:r>
            <a:endParaRPr lang="en-US" sz="7500" dirty="0"/>
          </a:p>
        </p:txBody>
      </p:sp>
      <p:sp>
        <p:nvSpPr>
          <p:cNvPr id="7" name="Text 5"/>
          <p:cNvSpPr/>
          <p:nvPr/>
        </p:nvSpPr>
        <p:spPr>
          <a:xfrm>
            <a:off x="914400" y="5472113"/>
            <a:ext cx="16952976" cy="952500"/>
          </a:xfrm>
          <a:prstGeom prst="rect">
            <a:avLst/>
          </a:prstGeom>
          <a:noFill/>
          <a:ln/>
        </p:spPr>
        <p:txBody>
          <a:bodyPr wrap="square" lIns="25400" tIns="25400" rIns="25400" bIns="25400" rtlCol="0" anchor="t">
            <a:normAutofit/>
          </a:bodyPr>
          <a:lstStyle/>
          <a:p>
            <a:pPr algn="l" indent="0" marL="0">
              <a:buNone/>
            </a:pPr>
            <a:r>
              <a:rPr lang="en-US" sz="3150" i="1" dirty="0">
                <a:solidFill>
                  <a:srgbClr val="C7CBDB"/>
                </a:solidFill>
                <a:latin typeface="Georgia" pitchFamily="34" charset="0"/>
                <a:ea typeface="Georgia" pitchFamily="34" charset="-122"/>
                <a:cs typeface="Georgia" pitchFamily="34" charset="-120"/>
              </a:rPr>
              <a:t>Les prochains jours transforment ces structures en livrables chiffrés. Merci — place aux questions.</a:t>
            </a:r>
            <a:endParaRPr lang="en-US" sz="3150" dirty="0"/>
          </a:p>
        </p:txBody>
      </p:sp>
      <p:sp>
        <p:nvSpPr>
          <p:cNvPr id="8" name="Shape 6"/>
          <p:cNvSpPr/>
          <p:nvPr/>
        </p:nvSpPr>
        <p:spPr>
          <a:xfrm>
            <a:off x="914400" y="8839200"/>
            <a:ext cx="16459200" cy="9525"/>
          </a:xfrm>
          <a:prstGeom prst="rect">
            <a:avLst/>
          </a:prstGeom>
          <a:solidFill>
            <a:srgbClr val="F5F2EA">
              <a:alpha val="16000"/>
            </a:srgbClr>
          </a:solidFill>
          <a:ln/>
        </p:spPr>
      </p:sp>
      <p:sp>
        <p:nvSpPr>
          <p:cNvPr id="9" name="Text 7"/>
          <p:cNvSpPr/>
          <p:nvPr/>
        </p:nvSpPr>
        <p:spPr>
          <a:xfrm>
            <a:off x="914400" y="9153525"/>
            <a:ext cx="5872115" cy="371475"/>
          </a:xfrm>
          <a:prstGeom prst="rect">
            <a:avLst/>
          </a:prstGeom>
          <a:noFill/>
          <a:ln/>
        </p:spPr>
        <p:txBody>
          <a:bodyPr wrap="square" lIns="25400" tIns="25400" rIns="25400" bIns="25400" rtlCol="0" anchor="t">
            <a:normAutofit/>
          </a:bodyPr>
          <a:lstStyle/>
          <a:p>
            <a:pPr algn="l" indent="0" marL="0">
              <a:buNone/>
            </a:pPr>
            <a:r>
              <a:rPr lang="en-US" sz="2250" dirty="0">
                <a:solidFill>
                  <a:srgbClr val="F5F2EA"/>
                </a:solidFill>
                <a:latin typeface="Georgia" pitchFamily="34" charset="0"/>
                <a:ea typeface="Georgia" pitchFamily="34" charset="-122"/>
                <a:cs typeface="Georgia" pitchFamily="34" charset="-120"/>
              </a:rPr>
              <a:t>Anaïs Saï · Anthony Pinot · Florian Marcot</a:t>
            </a:r>
            <a:endParaRPr lang="en-US" sz="2250" dirty="0"/>
          </a:p>
        </p:txBody>
      </p:sp>
      <p:sp>
        <p:nvSpPr>
          <p:cNvPr id="10" name="Text 8"/>
          <p:cNvSpPr/>
          <p:nvPr/>
        </p:nvSpPr>
        <p:spPr>
          <a:xfrm>
            <a:off x="13854589" y="9296400"/>
            <a:ext cx="3870913" cy="228600"/>
          </a:xfrm>
          <a:prstGeom prst="rect">
            <a:avLst/>
          </a:prstGeom>
          <a:noFill/>
          <a:ln/>
        </p:spPr>
        <p:txBody>
          <a:bodyPr wrap="square" lIns="25400" tIns="25400" rIns="25400" bIns="25400" rtlCol="0" anchor="t">
            <a:normAutofit/>
          </a:bodyPr>
          <a:lstStyle/>
          <a:p>
            <a:pPr algn="l" indent="0" marL="0">
              <a:buNone/>
            </a:pPr>
            <a:r>
              <a:rPr lang="en-US" sz="1350" spc="216" kern="0" dirty="0">
                <a:solidFill>
                  <a:srgbClr val="9AA1B8"/>
                </a:solidFill>
                <a:latin typeface="Courier New" pitchFamily="34" charset="0"/>
                <a:ea typeface="Courier New" pitchFamily="34" charset="-122"/>
                <a:cs typeface="Courier New" pitchFamily="34" charset="-120"/>
              </a:rPr>
              <a:t>SUPPORT VIVANT · JOUR 2 / 5</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2026-06-29T09:38:30Z</dcterms:created>
  <dcterms:modified xsi:type="dcterms:W3CDTF">2026-06-29T09:38:30Z</dcterms:modified>
</cp:coreProperties>
</file>